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5240000" cy="15341600"/>
  <p:notesSz cx="15240000" cy="15341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3000" y="4755896"/>
            <a:ext cx="12954000" cy="3221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86000" y="8591296"/>
            <a:ext cx="10668000" cy="383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62000" y="3528568"/>
            <a:ext cx="6629400" cy="101254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848600" y="3528568"/>
            <a:ext cx="6629400" cy="101254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5240000" cy="15335250"/>
          </a:xfrm>
          <a:custGeom>
            <a:avLst/>
            <a:gdLst/>
            <a:ahLst/>
            <a:cxnLst/>
            <a:rect l="l" t="t" r="r" b="b"/>
            <a:pathLst>
              <a:path w="15240000" h="15335250">
                <a:moveTo>
                  <a:pt x="15239998" y="15335248"/>
                </a:moveTo>
                <a:lnTo>
                  <a:pt x="0" y="15335248"/>
                </a:lnTo>
                <a:lnTo>
                  <a:pt x="0" y="0"/>
                </a:lnTo>
                <a:lnTo>
                  <a:pt x="15239998" y="0"/>
                </a:lnTo>
                <a:lnTo>
                  <a:pt x="15239998" y="15335248"/>
                </a:lnTo>
                <a:close/>
              </a:path>
            </a:pathLst>
          </a:custGeom>
          <a:solidFill>
            <a:srgbClr val="F4F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28599" y="228600"/>
            <a:ext cx="14782800" cy="809625"/>
          </a:xfrm>
          <a:custGeom>
            <a:avLst/>
            <a:gdLst/>
            <a:ahLst/>
            <a:cxnLst/>
            <a:rect l="l" t="t" r="r" b="b"/>
            <a:pathLst>
              <a:path w="14782800" h="809625">
                <a:moveTo>
                  <a:pt x="0" y="809624"/>
                </a:moveTo>
                <a:lnTo>
                  <a:pt x="14782798" y="809624"/>
                </a:lnTo>
                <a:lnTo>
                  <a:pt x="14782798" y="0"/>
                </a:lnTo>
                <a:lnTo>
                  <a:pt x="0" y="0"/>
                </a:lnTo>
                <a:lnTo>
                  <a:pt x="0" y="809624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28599" y="1038224"/>
            <a:ext cx="14782800" cy="57150"/>
          </a:xfrm>
          <a:custGeom>
            <a:avLst/>
            <a:gdLst/>
            <a:ahLst/>
            <a:cxnLst/>
            <a:rect l="l" t="t" r="r" b="b"/>
            <a:pathLst>
              <a:path w="14782800" h="57150">
                <a:moveTo>
                  <a:pt x="14782798" y="57149"/>
                </a:moveTo>
                <a:lnTo>
                  <a:pt x="0" y="57149"/>
                </a:lnTo>
                <a:lnTo>
                  <a:pt x="0" y="0"/>
                </a:lnTo>
                <a:lnTo>
                  <a:pt x="14782798" y="0"/>
                </a:lnTo>
                <a:lnTo>
                  <a:pt x="14782798" y="57149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0" y="613664"/>
            <a:ext cx="13716000" cy="2454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3528568"/>
            <a:ext cx="13716000" cy="101254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81600" y="14267688"/>
            <a:ext cx="4876800" cy="767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62000" y="14267688"/>
            <a:ext cx="3505200" cy="767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972800" y="14267688"/>
            <a:ext cx="3505200" cy="767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bipm.org/en/publications/si-brochure" TargetMode="External"/><Relationship Id="rId5" Type="http://schemas.openxmlformats.org/officeDocument/2006/relationships/hyperlink" Target="https://www.ciaaw.org/abridged-atomic-weights.htm" TargetMode="External"/><Relationship Id="rId6" Type="http://schemas.openxmlformats.org/officeDocument/2006/relationships/hyperlink" Target="https://pubchem.ncbi.nlm.nih.gov/compound/Calcium-carbonat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049" y="239032"/>
            <a:ext cx="10396855" cy="64833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Atom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Count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Card: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Mole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Conversions</a:t>
            </a:r>
            <a:r>
              <a:rPr dirty="0" sz="22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Bear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Sterilized</a:t>
            </a:r>
            <a:r>
              <a:rPr dirty="0" sz="22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Milk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FFFFFF"/>
                </a:solidFill>
                <a:latin typeface="Arial"/>
                <a:cs typeface="Arial"/>
              </a:rPr>
              <a:t>(200</a:t>
            </a:r>
            <a:r>
              <a:rPr dirty="0" sz="22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5" b="1">
                <a:solidFill>
                  <a:srgbClr val="FFFFFF"/>
                </a:solidFill>
                <a:latin typeface="Arial"/>
                <a:cs typeface="Arial"/>
              </a:rPr>
              <a:t>mL)</a:t>
            </a:r>
            <a:endParaRPr sz="22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printed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moles,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formula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units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atoms</a:t>
            </a:r>
            <a:r>
              <a:rPr dirty="0" sz="10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calcium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FFFFFF"/>
                </a:solidFill>
                <a:latin typeface="Arial"/>
                <a:cs typeface="Arial"/>
              </a:rPr>
              <a:t>carbonate,</a:t>
            </a:r>
            <a:r>
              <a:rPr dirty="0" sz="10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"/>
                <a:cs typeface="Arial"/>
              </a:rPr>
              <a:t>CaCO</a:t>
            </a:r>
            <a:r>
              <a:rPr dirty="0" baseline="-19607" sz="1275" spc="-15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baseline="-19607" sz="127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8860" y="463550"/>
            <a:ext cx="1856105" cy="31686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48260">
              <a:lnSpc>
                <a:spcPts val="1130"/>
              </a:lnSpc>
              <a:spcBef>
                <a:spcPts val="170"/>
              </a:spcBef>
            </a:pP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CHEMISTRY</a:t>
            </a:r>
            <a:r>
              <a:rPr dirty="0" sz="95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95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Arial"/>
                <a:cs typeface="Arial"/>
              </a:rPr>
              <a:t>ENGINEERS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ASYNCHRONOUS</a:t>
            </a:r>
            <a:r>
              <a:rPr dirty="0" sz="950" spc="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950" spc="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8599" y="1228724"/>
            <a:ext cx="3810000" cy="3400425"/>
            <a:chOff x="228599" y="1228724"/>
            <a:chExt cx="3810000" cy="3400425"/>
          </a:xfrm>
        </p:grpSpPr>
        <p:sp>
          <p:nvSpPr>
            <p:cNvPr id="5" name="object 5"/>
            <p:cNvSpPr/>
            <p:nvPr/>
          </p:nvSpPr>
          <p:spPr>
            <a:xfrm>
              <a:off x="228599" y="1228724"/>
              <a:ext cx="3810000" cy="3400425"/>
            </a:xfrm>
            <a:custGeom>
              <a:avLst/>
              <a:gdLst/>
              <a:ahLst/>
              <a:cxnLst/>
              <a:rect l="l" t="t" r="r" b="b"/>
              <a:pathLst>
                <a:path w="3810000" h="3400425">
                  <a:moveTo>
                    <a:pt x="3809999" y="3400424"/>
                  </a:moveTo>
                  <a:lnTo>
                    <a:pt x="0" y="3400424"/>
                  </a:lnTo>
                  <a:lnTo>
                    <a:pt x="0" y="0"/>
                  </a:lnTo>
                  <a:lnTo>
                    <a:pt x="3809999" y="0"/>
                  </a:lnTo>
                  <a:lnTo>
                    <a:pt x="3809999" y="340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0524" y="3895724"/>
              <a:ext cx="3486150" cy="19050"/>
            </a:xfrm>
            <a:custGeom>
              <a:avLst/>
              <a:gdLst/>
              <a:ahLst/>
              <a:cxnLst/>
              <a:rect l="l" t="t" r="r" b="b"/>
              <a:pathLst>
                <a:path w="3486150" h="19050">
                  <a:moveTo>
                    <a:pt x="348614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3486149" y="0"/>
                  </a:lnTo>
                  <a:lnTo>
                    <a:pt x="3486149" y="19049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524" y="1600199"/>
              <a:ext cx="1619249" cy="16192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42887" y="1243012"/>
            <a:ext cx="3781425" cy="3371850"/>
          </a:xfrm>
          <a:prstGeom prst="rect">
            <a:avLst/>
          </a:prstGeom>
          <a:ln w="28574">
            <a:solidFill>
              <a:srgbClr val="003399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935"/>
              </a:spcBef>
            </a:pPr>
            <a:r>
              <a:rPr dirty="0" sz="1050" spc="45" b="1">
                <a:solidFill>
                  <a:srgbClr val="4A0D4E"/>
                </a:solidFill>
                <a:latin typeface="Arial"/>
                <a:cs typeface="Arial"/>
              </a:rPr>
              <a:t>SECTION</a:t>
            </a:r>
            <a:r>
              <a:rPr dirty="0" sz="1050" spc="7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A</a:t>
            </a:r>
            <a:r>
              <a:rPr dirty="0" sz="1050" spc="7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·</a:t>
            </a:r>
            <a:r>
              <a:rPr dirty="0" sz="1050" spc="-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PRODUCT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IDENTITY</a:t>
            </a:r>
            <a:endParaRPr sz="1050">
              <a:latin typeface="Arial"/>
              <a:cs typeface="Arial"/>
            </a:endParaRPr>
          </a:p>
          <a:p>
            <a:pPr marL="1880870" marR="191770">
              <a:lnSpc>
                <a:spcPct val="125000"/>
              </a:lnSpc>
              <a:spcBef>
                <a:spcPts val="420"/>
              </a:spcBef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Compound:</a:t>
            </a:r>
            <a:r>
              <a:rPr dirty="0" sz="900" spc="17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calcium</a:t>
            </a:r>
            <a:r>
              <a:rPr dirty="0" sz="900" spc="17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carbonate, CaCO</a:t>
            </a:r>
            <a:r>
              <a:rPr dirty="0" baseline="-18518" sz="1125" spc="-15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8518" sz="1125">
              <a:latin typeface="Arial"/>
              <a:cs typeface="Arial"/>
            </a:endParaRPr>
          </a:p>
          <a:p>
            <a:pPr marL="188087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PubChem</a:t>
            </a:r>
            <a:r>
              <a:rPr dirty="0" sz="900" spc="1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CID</a:t>
            </a:r>
            <a:r>
              <a:rPr dirty="0" sz="900" spc="1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B2433"/>
                </a:solidFill>
                <a:latin typeface="Arial"/>
                <a:cs typeface="Arial"/>
              </a:rPr>
              <a:t>10112</a:t>
            </a:r>
            <a:endParaRPr sz="900">
              <a:latin typeface="Arial"/>
              <a:cs typeface="Arial"/>
            </a:endParaRPr>
          </a:p>
          <a:p>
            <a:pPr marL="1880870" marR="244475">
              <a:lnSpc>
                <a:spcPct val="125000"/>
              </a:lnSpc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Product:</a:t>
            </a:r>
            <a:r>
              <a:rPr dirty="0" sz="900" spc="114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Bear</a:t>
            </a:r>
            <a:r>
              <a:rPr dirty="0" sz="900" spc="11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Brand</a:t>
            </a:r>
            <a:r>
              <a:rPr dirty="0" sz="900" spc="1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Sterilized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Milk,</a:t>
            </a:r>
            <a:r>
              <a:rPr dirty="0" sz="900" spc="7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200</a:t>
            </a:r>
            <a:r>
              <a:rPr dirty="0" sz="900" spc="7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mL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00">
              <a:latin typeface="Arial"/>
              <a:cs typeface="Arial"/>
            </a:endParaRPr>
          </a:p>
          <a:p>
            <a:pPr marL="147320" marR="218440">
              <a:lnSpc>
                <a:spcPct val="125000"/>
              </a:lnSpc>
            </a:pP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Calcium Carbonate (CaCO</a:t>
            </a:r>
            <a:r>
              <a:rPr dirty="0" baseline="-18518" sz="1125">
                <a:solidFill>
                  <a:srgbClr val="3A4558"/>
                </a:solidFill>
                <a:latin typeface="Arial"/>
                <a:cs typeface="Arial"/>
              </a:rPr>
              <a:t>3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) is added as an inorganic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stabilizing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agent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and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mineral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fortifier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to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supply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“Tibay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Support” Calcium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ions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3A4558"/>
                </a:solidFill>
                <a:latin typeface="Arial"/>
                <a:cs typeface="Arial"/>
              </a:rPr>
              <a:t>in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UHT</a:t>
            </a:r>
            <a:r>
              <a:rPr dirty="0" sz="900" spc="-30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sterilized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liquid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milk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frameworks.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Arial"/>
              <a:cs typeface="Arial"/>
            </a:endParaRPr>
          </a:p>
          <a:p>
            <a:pPr marL="147320" marR="1664970">
              <a:lnSpc>
                <a:spcPct val="125000"/>
              </a:lnSpc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Investigator: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Derrek Baldwin </a:t>
            </a:r>
            <a:r>
              <a:rPr dirty="0" sz="900" spc="-60">
                <a:solidFill>
                  <a:srgbClr val="1B2433"/>
                </a:solidFill>
                <a:latin typeface="Arial"/>
                <a:cs typeface="Arial"/>
              </a:rPr>
              <a:t>P.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Gacer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Course: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Chemistry for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Engineers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Program: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BS Computer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Engineering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1949" y="1228724"/>
            <a:ext cx="5991225" cy="3400425"/>
            <a:chOff x="4171949" y="1228724"/>
            <a:chExt cx="5991225" cy="3400425"/>
          </a:xfrm>
        </p:grpSpPr>
        <p:sp>
          <p:nvSpPr>
            <p:cNvPr id="10" name="object 10"/>
            <p:cNvSpPr/>
            <p:nvPr/>
          </p:nvSpPr>
          <p:spPr>
            <a:xfrm>
              <a:off x="4171949" y="1228724"/>
              <a:ext cx="5991225" cy="3400425"/>
            </a:xfrm>
            <a:custGeom>
              <a:avLst/>
              <a:gdLst/>
              <a:ahLst/>
              <a:cxnLst/>
              <a:rect l="l" t="t" r="r" b="b"/>
              <a:pathLst>
                <a:path w="5991225" h="3400425">
                  <a:moveTo>
                    <a:pt x="5991224" y="3400424"/>
                  </a:moveTo>
                  <a:lnTo>
                    <a:pt x="0" y="3400424"/>
                  </a:lnTo>
                  <a:lnTo>
                    <a:pt x="0" y="0"/>
                  </a:lnTo>
                  <a:lnTo>
                    <a:pt x="5991224" y="0"/>
                  </a:lnTo>
                  <a:lnTo>
                    <a:pt x="5991224" y="340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186237" y="1243012"/>
              <a:ext cx="5962650" cy="3371850"/>
            </a:xfrm>
            <a:custGeom>
              <a:avLst/>
              <a:gdLst/>
              <a:ahLst/>
              <a:cxnLst/>
              <a:rect l="l" t="t" r="r" b="b"/>
              <a:pathLst>
                <a:path w="5962650" h="3371850">
                  <a:moveTo>
                    <a:pt x="0" y="0"/>
                  </a:moveTo>
                  <a:lnTo>
                    <a:pt x="5962649" y="0"/>
                  </a:lnTo>
                  <a:lnTo>
                    <a:pt x="5962649" y="3371849"/>
                  </a:lnTo>
                  <a:lnTo>
                    <a:pt x="0" y="337184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33862" y="2200286"/>
              <a:ext cx="5667375" cy="1866900"/>
            </a:xfrm>
            <a:custGeom>
              <a:avLst/>
              <a:gdLst/>
              <a:ahLst/>
              <a:cxnLst/>
              <a:rect l="l" t="t" r="r" b="b"/>
              <a:pathLst>
                <a:path w="5667375" h="1866900">
                  <a:moveTo>
                    <a:pt x="5667375" y="1857375"/>
                  </a:moveTo>
                  <a:lnTo>
                    <a:pt x="5667375" y="1857375"/>
                  </a:lnTo>
                  <a:lnTo>
                    <a:pt x="0" y="1857375"/>
                  </a:lnTo>
                  <a:lnTo>
                    <a:pt x="0" y="1866900"/>
                  </a:lnTo>
                  <a:lnTo>
                    <a:pt x="5667375" y="1866900"/>
                  </a:lnTo>
                  <a:lnTo>
                    <a:pt x="5667375" y="1857375"/>
                  </a:lnTo>
                  <a:close/>
                </a:path>
                <a:path w="5667375" h="1866900">
                  <a:moveTo>
                    <a:pt x="5667375" y="1485900"/>
                  </a:moveTo>
                  <a:lnTo>
                    <a:pt x="5667375" y="1485900"/>
                  </a:lnTo>
                  <a:lnTo>
                    <a:pt x="0" y="1485900"/>
                  </a:lnTo>
                  <a:lnTo>
                    <a:pt x="0" y="1495425"/>
                  </a:lnTo>
                  <a:lnTo>
                    <a:pt x="5667375" y="1495425"/>
                  </a:lnTo>
                  <a:lnTo>
                    <a:pt x="5667375" y="1485900"/>
                  </a:lnTo>
                  <a:close/>
                </a:path>
                <a:path w="5667375" h="1866900">
                  <a:moveTo>
                    <a:pt x="5667375" y="1114425"/>
                  </a:moveTo>
                  <a:lnTo>
                    <a:pt x="5667375" y="1114425"/>
                  </a:lnTo>
                  <a:lnTo>
                    <a:pt x="0" y="1114425"/>
                  </a:lnTo>
                  <a:lnTo>
                    <a:pt x="0" y="1123950"/>
                  </a:lnTo>
                  <a:lnTo>
                    <a:pt x="5667375" y="1123950"/>
                  </a:lnTo>
                  <a:lnTo>
                    <a:pt x="5667375" y="1114425"/>
                  </a:lnTo>
                  <a:close/>
                </a:path>
                <a:path w="5667375" h="1866900">
                  <a:moveTo>
                    <a:pt x="5667375" y="742950"/>
                  </a:moveTo>
                  <a:lnTo>
                    <a:pt x="5667375" y="742950"/>
                  </a:lnTo>
                  <a:lnTo>
                    <a:pt x="0" y="742950"/>
                  </a:lnTo>
                  <a:lnTo>
                    <a:pt x="0" y="752475"/>
                  </a:lnTo>
                  <a:lnTo>
                    <a:pt x="5667375" y="752475"/>
                  </a:lnTo>
                  <a:lnTo>
                    <a:pt x="5667375" y="742950"/>
                  </a:lnTo>
                  <a:close/>
                </a:path>
                <a:path w="5667375" h="1866900">
                  <a:moveTo>
                    <a:pt x="5667375" y="371475"/>
                  </a:moveTo>
                  <a:lnTo>
                    <a:pt x="5667375" y="371475"/>
                  </a:lnTo>
                  <a:lnTo>
                    <a:pt x="0" y="371475"/>
                  </a:lnTo>
                  <a:lnTo>
                    <a:pt x="0" y="381000"/>
                  </a:lnTo>
                  <a:lnTo>
                    <a:pt x="5667375" y="381000"/>
                  </a:lnTo>
                  <a:lnTo>
                    <a:pt x="5667375" y="371475"/>
                  </a:lnTo>
                  <a:close/>
                </a:path>
                <a:path w="5667375" h="1866900">
                  <a:moveTo>
                    <a:pt x="5667375" y="0"/>
                  </a:moveTo>
                  <a:lnTo>
                    <a:pt x="56673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5667375" y="9525"/>
                  </a:lnTo>
                  <a:lnTo>
                    <a:pt x="5667375" y="0"/>
                  </a:lnTo>
                  <a:close/>
                </a:path>
              </a:pathLst>
            </a:custGeom>
            <a:solidFill>
              <a:srgbClr val="C8D0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378771" y="1963737"/>
            <a:ext cx="40957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serving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06259" y="1992312"/>
            <a:ext cx="44894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 b="1">
                <a:solidFill>
                  <a:srgbClr val="D32E2E"/>
                </a:solidFill>
                <a:latin typeface="Arial"/>
                <a:cs typeface="Arial"/>
              </a:rPr>
              <a:t>limiting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78771" y="2230437"/>
            <a:ext cx="88582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Reference</a:t>
            </a:r>
            <a:r>
              <a:rPr dirty="0" sz="900" spc="17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basis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67300" y="2230437"/>
            <a:ext cx="1053465" cy="3016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9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Per</a:t>
            </a:r>
            <a:r>
              <a:rPr dirty="0" sz="900" spc="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200</a:t>
            </a:r>
            <a:r>
              <a:rPr dirty="0" sz="900" spc="7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mL</a:t>
            </a:r>
            <a:r>
              <a:rPr dirty="0" sz="900" spc="2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serving </a:t>
            </a:r>
            <a:r>
              <a:rPr dirty="0" sz="900" spc="-20">
                <a:solidFill>
                  <a:srgbClr val="1B2433"/>
                </a:solidFill>
                <a:latin typeface="Arial"/>
                <a:cs typeface="Arial"/>
              </a:rPr>
              <a:t>size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86364" y="2230437"/>
            <a:ext cx="19113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mL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5761" y="2230437"/>
            <a:ext cx="72072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Product</a:t>
            </a:r>
            <a:r>
              <a:rPr dirty="0" sz="900" spc="1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label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06259" y="2230437"/>
            <a:ext cx="63436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Exact</a:t>
            </a:r>
            <a:r>
              <a:rPr dirty="0" sz="900" spc="10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basis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78771" y="2601912"/>
            <a:ext cx="786765" cy="3016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9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Net</a:t>
            </a:r>
            <a:r>
              <a:rPr dirty="0" sz="900" spc="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packaging contents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67300" y="2601912"/>
            <a:ext cx="151003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331595" algn="l"/>
              </a:tabLst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200</a:t>
            </a:r>
            <a:r>
              <a:rPr dirty="0" sz="90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mL</a:t>
            </a:r>
            <a:r>
              <a:rPr dirty="0" sz="90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volume</a:t>
            </a:r>
            <a:r>
              <a:rPr dirty="0" sz="90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basis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	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mL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05761" y="2601912"/>
            <a:ext cx="72072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Product</a:t>
            </a:r>
            <a:r>
              <a:rPr dirty="0" sz="900" spc="1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label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06259" y="2601912"/>
            <a:ext cx="109791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Nominal,</a:t>
            </a:r>
            <a:r>
              <a:rPr dirty="0" sz="900" spc="10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not</a:t>
            </a:r>
            <a:r>
              <a:rPr dirty="0" sz="900" spc="10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limiting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78771" y="2973387"/>
            <a:ext cx="95186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Chemical</a:t>
            </a:r>
            <a:r>
              <a:rPr dirty="0" sz="900" spc="1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formula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41900" y="2973387"/>
            <a:ext cx="46228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8518" sz="1125" spc="-15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8518" sz="1125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86364" y="2973387"/>
            <a:ext cx="156781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1800" algn="l"/>
              </a:tabLst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—	PubChem</a:t>
            </a:r>
            <a:r>
              <a:rPr dirty="0" sz="900" spc="1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CID</a:t>
            </a:r>
            <a:r>
              <a:rPr dirty="0" sz="900" spc="1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10112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06259" y="2973387"/>
            <a:ext cx="1064260" cy="3016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065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Exact</a:t>
            </a:r>
            <a:r>
              <a:rPr dirty="0" sz="900" spc="1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subscripts</a:t>
            </a:r>
            <a:r>
              <a:rPr dirty="0" sz="900" spc="1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(1,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1,</a:t>
            </a:r>
            <a:r>
              <a:rPr dirty="0" sz="90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3)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78771" y="3344862"/>
            <a:ext cx="82613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Atomic</a:t>
            </a:r>
            <a:r>
              <a:rPr dirty="0" sz="900" spc="1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weights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67300" y="3344862"/>
            <a:ext cx="1168400" cy="3016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065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</a:t>
            </a:r>
            <a:r>
              <a:rPr dirty="0" sz="90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12.011</a:t>
            </a:r>
            <a:r>
              <a:rPr dirty="0" sz="90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·</a:t>
            </a:r>
            <a:r>
              <a:rPr dirty="0" sz="90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O</a:t>
            </a:r>
            <a:r>
              <a:rPr dirty="0" sz="90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15.999</a:t>
            </a:r>
            <a:r>
              <a:rPr dirty="0" sz="90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50">
                <a:solidFill>
                  <a:srgbClr val="1B2433"/>
                </a:solidFill>
                <a:latin typeface="Arial"/>
                <a:cs typeface="Arial"/>
              </a:rPr>
              <a:t>·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Ca</a:t>
            </a:r>
            <a:r>
              <a:rPr dirty="0" sz="90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40.078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6364" y="3344862"/>
            <a:ext cx="31686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g/mol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05761" y="3344862"/>
            <a:ext cx="1296035" cy="3016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9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IUPAC/CIAAW</a:t>
            </a:r>
            <a:r>
              <a:rPr dirty="0" sz="900" spc="1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abridged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table</a:t>
            </a:r>
            <a:r>
              <a:rPr dirty="0" sz="90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(2024)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06259" y="3344862"/>
            <a:ext cx="61468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Not</a:t>
            </a:r>
            <a:r>
              <a:rPr dirty="0" sz="900" spc="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limiting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83521" y="3716337"/>
            <a:ext cx="5497195" cy="7486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07314" marR="655955">
              <a:lnSpc>
                <a:spcPts val="1050"/>
              </a:lnSpc>
              <a:spcBef>
                <a:spcPts val="195"/>
              </a:spcBef>
              <a:tabLst>
                <a:tab pos="1196340" algn="l"/>
                <a:tab pos="2515235" algn="l"/>
                <a:tab pos="4535170" algn="l"/>
              </a:tabLst>
            </a:pP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Avogadro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	</a:t>
            </a:r>
            <a:r>
              <a:rPr dirty="0" baseline="-15432" sz="1350">
                <a:solidFill>
                  <a:srgbClr val="1B2433"/>
                </a:solidFill>
                <a:latin typeface="Arial"/>
                <a:cs typeface="Arial"/>
              </a:rPr>
              <a:t>6.022</a:t>
            </a:r>
            <a:r>
              <a:rPr dirty="0" baseline="-15432" sz="1350" spc="89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-15432" sz="1350">
                <a:solidFill>
                  <a:srgbClr val="1B2433"/>
                </a:solidFill>
                <a:latin typeface="Arial"/>
                <a:cs typeface="Arial"/>
              </a:rPr>
              <a:t>140</a:t>
            </a:r>
            <a:r>
              <a:rPr dirty="0" baseline="-15432" sz="1350" spc="97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-15432" sz="1350">
                <a:solidFill>
                  <a:srgbClr val="1B2433"/>
                </a:solidFill>
                <a:latin typeface="Arial"/>
                <a:cs typeface="Arial"/>
              </a:rPr>
              <a:t>76</a:t>
            </a:r>
            <a:r>
              <a:rPr dirty="0" baseline="-15432" sz="1350" spc="89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-15432" sz="13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baseline="-15432" sz="1350" spc="97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-15432" sz="1350" spc="-30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11111" sz="1125" spc="-30">
                <a:solidFill>
                  <a:srgbClr val="1B2433"/>
                </a:solidFill>
                <a:latin typeface="Arial"/>
                <a:cs typeface="Arial"/>
              </a:rPr>
              <a:t>23</a:t>
            </a:r>
            <a:r>
              <a:rPr dirty="0" baseline="11111" sz="1125">
                <a:solidFill>
                  <a:srgbClr val="1B2433"/>
                </a:solidFill>
                <a:latin typeface="Arial"/>
                <a:cs typeface="Arial"/>
              </a:rPr>
              <a:t>	</a:t>
            </a:r>
            <a:r>
              <a:rPr dirty="0" baseline="-15432" sz="1350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baseline="11111" sz="1125">
                <a:solidFill>
                  <a:srgbClr val="1B2433"/>
                </a:solidFill>
                <a:latin typeface="Arial"/>
                <a:cs typeface="Arial"/>
              </a:rPr>
              <a:t>−1</a:t>
            </a:r>
            <a:r>
              <a:rPr dirty="0" baseline="11111" sz="1125" spc="494">
                <a:solidFill>
                  <a:srgbClr val="1B2433"/>
                </a:solidFill>
                <a:latin typeface="Arial"/>
                <a:cs typeface="Arial"/>
              </a:rPr>
              <a:t> 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BIPM</a:t>
            </a:r>
            <a:r>
              <a:rPr dirty="0" sz="900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(2019),</a:t>
            </a:r>
            <a:r>
              <a:rPr dirty="0" sz="900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SI</a:t>
            </a:r>
            <a:r>
              <a:rPr dirty="0" sz="900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definition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	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Exact constant</a:t>
            </a:r>
            <a:endParaRPr sz="900">
              <a:latin typeface="Arial"/>
              <a:cs typeface="Arial"/>
            </a:endParaRPr>
          </a:p>
          <a:p>
            <a:pPr marL="50800" marR="43180">
              <a:lnSpc>
                <a:spcPct val="131900"/>
              </a:lnSpc>
              <a:spcBef>
                <a:spcPts val="645"/>
              </a:spcBef>
            </a:pPr>
            <a:r>
              <a:rPr dirty="0" sz="900" b="1">
                <a:solidFill>
                  <a:srgbClr val="3A4558"/>
                </a:solidFill>
                <a:latin typeface="Arial"/>
                <a:cs typeface="Arial"/>
              </a:rPr>
              <a:t>Assumptions:</a:t>
            </a:r>
            <a:r>
              <a:rPr dirty="0" sz="900" spc="-5" b="1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all calcium originates from CaCO</a:t>
            </a:r>
            <a:r>
              <a:rPr dirty="0" baseline="-18518" sz="1125">
                <a:solidFill>
                  <a:srgbClr val="3A4558"/>
                </a:solidFill>
                <a:latin typeface="Arial"/>
                <a:cs typeface="Arial"/>
              </a:rPr>
              <a:t>3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;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calcium is taken as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112.5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mg per 200 mL</a:t>
            </a:r>
            <a:r>
              <a:rPr dirty="0" sz="900" spc="-3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serving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(value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supplied by the student);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“112.5”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 has 4 significant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figures.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0296524" y="1228724"/>
            <a:ext cx="4714875" cy="3400425"/>
            <a:chOff x="10296524" y="1228724"/>
            <a:chExt cx="4714875" cy="3400425"/>
          </a:xfrm>
        </p:grpSpPr>
        <p:sp>
          <p:nvSpPr>
            <p:cNvPr id="35" name="object 35"/>
            <p:cNvSpPr/>
            <p:nvPr/>
          </p:nvSpPr>
          <p:spPr>
            <a:xfrm>
              <a:off x="10296524" y="1228724"/>
              <a:ext cx="4714875" cy="3400425"/>
            </a:xfrm>
            <a:custGeom>
              <a:avLst/>
              <a:gdLst/>
              <a:ahLst/>
              <a:cxnLst/>
              <a:rect l="l" t="t" r="r" b="b"/>
              <a:pathLst>
                <a:path w="4714875" h="3400425">
                  <a:moveTo>
                    <a:pt x="4714874" y="3400424"/>
                  </a:moveTo>
                  <a:lnTo>
                    <a:pt x="0" y="3400424"/>
                  </a:lnTo>
                  <a:lnTo>
                    <a:pt x="0" y="0"/>
                  </a:lnTo>
                  <a:lnTo>
                    <a:pt x="4714874" y="0"/>
                  </a:lnTo>
                  <a:lnTo>
                    <a:pt x="4714874" y="340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0310811" y="1243012"/>
              <a:ext cx="4686300" cy="3371850"/>
            </a:xfrm>
            <a:custGeom>
              <a:avLst/>
              <a:gdLst/>
              <a:ahLst/>
              <a:cxnLst/>
              <a:rect l="l" t="t" r="r" b="b"/>
              <a:pathLst>
                <a:path w="4686300" h="3371850">
                  <a:moveTo>
                    <a:pt x="0" y="0"/>
                  </a:moveTo>
                  <a:lnTo>
                    <a:pt x="4686299" y="0"/>
                  </a:lnTo>
                  <a:lnTo>
                    <a:pt x="4686299" y="3371849"/>
                  </a:lnTo>
                  <a:lnTo>
                    <a:pt x="0" y="337184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4333874" y="1243012"/>
          <a:ext cx="10739755" cy="798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480"/>
                <a:gridCol w="1031875"/>
                <a:gridCol w="829944"/>
                <a:gridCol w="1505585"/>
                <a:gridCol w="1380489"/>
                <a:gridCol w="147954"/>
                <a:gridCol w="161925"/>
                <a:gridCol w="147954"/>
                <a:gridCol w="567690"/>
                <a:gridCol w="684529"/>
                <a:gridCol w="1125220"/>
                <a:gridCol w="1341120"/>
                <a:gridCol w="673100"/>
                <a:gridCol w="147320"/>
              </a:tblGrid>
              <a:tr h="35687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050" spc="45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SECTION</a:t>
                      </a:r>
                      <a:r>
                        <a:rPr dirty="0" sz="1050" spc="110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050" spc="110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·</a:t>
                      </a:r>
                      <a:r>
                        <a:rPr dirty="0" sz="1050" spc="-1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BASE</a:t>
                      </a:r>
                      <a:r>
                        <a:rPr dirty="0" sz="1050" spc="-1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 QUANTITATIVE </a:t>
                      </a:r>
                      <a:r>
                        <a:rPr dirty="0" sz="1050" spc="-2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1874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050" spc="45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SECTION</a:t>
                      </a:r>
                      <a:r>
                        <a:rPr dirty="0" sz="1050" spc="130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050" spc="135" b="1">
                          <a:solidFill>
                            <a:srgbClr val="4A0D4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·</a:t>
                      </a:r>
                      <a:r>
                        <a:rPr dirty="0" sz="1050" spc="1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MOLAR-</a:t>
                      </a:r>
                      <a:r>
                        <a:rPr dirty="0" sz="105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MASS</a:t>
                      </a:r>
                      <a:r>
                        <a:rPr dirty="0" sz="1050" spc="5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BUILD-</a:t>
                      </a:r>
                      <a:r>
                        <a:rPr dirty="0" sz="1050" spc="-25" b="1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UP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Parameter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Unit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Traceable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r>
                        <a:rPr dirty="0" sz="850" spc="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(s.f.)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Element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Subscript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Atomic</a:t>
                      </a:r>
                      <a:r>
                        <a:rPr dirty="0" sz="850" spc="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wt</a:t>
                      </a:r>
                      <a:r>
                        <a:rPr dirty="0" sz="850" spc="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(g/mol)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Mass contrib.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(g/mol)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Calcium</a:t>
                      </a:r>
                      <a:r>
                        <a:rPr dirty="0" sz="900" spc="14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per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112.5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algn="r" marR="1428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25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mg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900" spc="1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label</a:t>
                      </a:r>
                      <a:r>
                        <a:rPr dirty="0" sz="900" spc="1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(primary)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/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90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900" spc="55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s.f.</a:t>
                      </a:r>
                      <a:r>
                        <a:rPr dirty="0" sz="900" spc="6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(1.125</a:t>
                      </a:r>
                      <a:r>
                        <a:rPr dirty="0" sz="900" spc="6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×</a:t>
                      </a:r>
                      <a:r>
                        <a:rPr dirty="0" sz="900" spc="6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dirty="0" baseline="29629" sz="1125" spc="-15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900" spc="-10" b="1">
                          <a:solidFill>
                            <a:srgbClr val="D32E2E"/>
                          </a:solidFill>
                          <a:latin typeface="Arial"/>
                          <a:cs typeface="Arial"/>
                        </a:rPr>
                        <a:t>),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25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Ca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B w="9525">
                      <a:solidFill>
                        <a:srgbClr val="C8D0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5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B w="9525">
                      <a:solidFill>
                        <a:srgbClr val="C8D0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40.078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B w="9525">
                      <a:solidFill>
                        <a:srgbClr val="C8D0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40.078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B w="9525">
                      <a:solidFill>
                        <a:srgbClr val="C8D0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40.044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B w="9525">
                      <a:solidFill>
                        <a:srgbClr val="C8D0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10458449" y="2092490"/>
          <a:ext cx="4467225" cy="692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370"/>
                <a:gridCol w="676274"/>
                <a:gridCol w="875030"/>
                <a:gridCol w="1282700"/>
                <a:gridCol w="1009014"/>
              </a:tblGrid>
              <a:tr h="188595">
                <a:tc>
                  <a:txBody>
                    <a:bodyPr/>
                    <a:lstStyle/>
                    <a:p>
                      <a:pPr marL="53975">
                        <a:lnSpc>
                          <a:spcPts val="1030"/>
                        </a:lnSpc>
                      </a:pPr>
                      <a:r>
                        <a:rPr dirty="0" sz="900" spc="-5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030"/>
                        </a:lnSpc>
                      </a:pPr>
                      <a:r>
                        <a:rPr dirty="0" sz="900" spc="-5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1030"/>
                        </a:lnSpc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12.011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ts val="1030"/>
                        </a:lnSpc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12.011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6530">
                        <a:lnSpc>
                          <a:spcPts val="1030"/>
                        </a:lnSpc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12.001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 spc="-5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C8D0DF"/>
                      </a:solidFill>
                      <a:prstDash val="solid"/>
                    </a:lnT>
                    <a:lnB w="19050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 spc="-5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C8D0DF"/>
                      </a:solidFill>
                      <a:prstDash val="solid"/>
                    </a:lnT>
                    <a:lnB w="19050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15.999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C8D0DF"/>
                      </a:solidFill>
                      <a:prstDash val="solid"/>
                    </a:lnT>
                    <a:lnB w="19050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47.997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C8D0DF"/>
                      </a:solidFill>
                      <a:prstDash val="solid"/>
                    </a:lnT>
                    <a:lnB w="19050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65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900" spc="-10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47.956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T w="9525">
                      <a:solidFill>
                        <a:srgbClr val="C8D0DF"/>
                      </a:solidFill>
                      <a:prstDash val="solid"/>
                    </a:lnT>
                    <a:lnB w="19050">
                      <a:solidFill>
                        <a:srgbClr val="003399"/>
                      </a:solidFill>
                      <a:prstDash val="solid"/>
                    </a:lnB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900" spc="-1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CaCO</a:t>
                      </a:r>
                      <a:r>
                        <a:rPr dirty="0" baseline="-18518" sz="1125" spc="-15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baseline="-18518" sz="1125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T w="19050">
                      <a:solidFill>
                        <a:srgbClr val="003399"/>
                      </a:solidFill>
                      <a:prstDash val="solid"/>
                    </a:lnT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90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900" spc="3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atoms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T w="19050">
                      <a:solidFill>
                        <a:srgbClr val="003399"/>
                      </a:solidFill>
                      <a:prstDash val="solid"/>
                    </a:lnT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03399"/>
                      </a:solidFill>
                      <a:prstDash val="solid"/>
                    </a:lnT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900" spc="-1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100.086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T w="19050">
                      <a:solidFill>
                        <a:srgbClr val="003399"/>
                      </a:solidFill>
                      <a:prstDash val="solid"/>
                    </a:lnT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900" spc="-10" b="1">
                          <a:solidFill>
                            <a:srgbClr val="1B2433"/>
                          </a:solidFill>
                          <a:latin typeface="Arial"/>
                          <a:cs typeface="Arial"/>
                        </a:rPr>
                        <a:t>100.000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T w="19050">
                      <a:solidFill>
                        <a:srgbClr val="003399"/>
                      </a:solidFill>
                      <a:prstDash val="solid"/>
                    </a:lnT>
                    <a:lnB w="9525">
                      <a:solidFill>
                        <a:srgbClr val="C8D0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10442772" y="2829560"/>
            <a:ext cx="439166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2555">
              <a:lnSpc>
                <a:spcPct val="118100"/>
              </a:lnSpc>
              <a:spcBef>
                <a:spcPts val="100"/>
              </a:spcBef>
            </a:pP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Addition</a:t>
            </a:r>
            <a:r>
              <a:rPr dirty="0" sz="900" spc="-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rule:</a:t>
            </a:r>
            <a:r>
              <a:rPr dirty="0" sz="900" spc="-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M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= 40.078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+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12.011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+ 3(15.999)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=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3A4558"/>
                </a:solidFill>
                <a:latin typeface="Arial"/>
                <a:cs typeface="Arial"/>
              </a:rPr>
              <a:t>100.086 g/mol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.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Every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term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has </a:t>
            </a:r>
            <a:r>
              <a:rPr dirty="0" sz="900" spc="-50">
                <a:solidFill>
                  <a:srgbClr val="3A4558"/>
                </a:solidFill>
                <a:latin typeface="Arial"/>
                <a:cs typeface="Arial"/>
              </a:rPr>
              <a:t>3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 decimals,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so M keeps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3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decimals.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Σ%E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is exactly 100.000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% before rounding;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the rounded entries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shown add to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100.001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900" spc="-25">
                <a:solidFill>
                  <a:srgbClr val="3A4558"/>
                </a:solidFill>
                <a:latin typeface="Arial"/>
                <a:cs typeface="Arial"/>
              </a:rPr>
              <a:t>%.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28599" y="4762499"/>
            <a:ext cx="14782800" cy="1514475"/>
          </a:xfrm>
          <a:custGeom>
            <a:avLst/>
            <a:gdLst/>
            <a:ahLst/>
            <a:cxnLst/>
            <a:rect l="l" t="t" r="r" b="b"/>
            <a:pathLst>
              <a:path w="14782800" h="1514475">
                <a:moveTo>
                  <a:pt x="14782798" y="1514474"/>
                </a:moveTo>
                <a:lnTo>
                  <a:pt x="0" y="1514474"/>
                </a:lnTo>
                <a:lnTo>
                  <a:pt x="0" y="0"/>
                </a:lnTo>
                <a:lnTo>
                  <a:pt x="14782798" y="0"/>
                </a:lnTo>
                <a:lnTo>
                  <a:pt x="14782798" y="15144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04812" y="5148262"/>
            <a:ext cx="2333625" cy="714375"/>
          </a:xfrm>
          <a:prstGeom prst="rect">
            <a:avLst/>
          </a:prstGeom>
          <a:solidFill>
            <a:srgbClr val="F4F5F9"/>
          </a:solidFill>
          <a:ln w="28574">
            <a:solidFill>
              <a:srgbClr val="003399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650" b="1">
                <a:solidFill>
                  <a:srgbClr val="003399"/>
                </a:solidFill>
                <a:latin typeface="Arial"/>
                <a:cs typeface="Arial"/>
              </a:rPr>
              <a:t>2.809 ×</a:t>
            </a:r>
            <a:r>
              <a:rPr dirty="0" sz="1650" spc="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3399"/>
                </a:solidFill>
                <a:latin typeface="Arial"/>
                <a:cs typeface="Arial"/>
              </a:rPr>
              <a:t>10</a:t>
            </a:r>
            <a:r>
              <a:rPr dirty="0" baseline="24691" sz="2025" b="1">
                <a:solidFill>
                  <a:srgbClr val="003399"/>
                </a:solidFill>
                <a:latin typeface="Arial"/>
                <a:cs typeface="Arial"/>
              </a:rPr>
              <a:t>−1</a:t>
            </a:r>
            <a:r>
              <a:rPr dirty="0" baseline="24691" sz="2025" spc="127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650" spc="-50" b="1">
                <a:solidFill>
                  <a:srgbClr val="003399"/>
                </a:solidFill>
                <a:latin typeface="Arial"/>
                <a:cs typeface="Arial"/>
              </a:rPr>
              <a:t>g</a:t>
            </a:r>
            <a:endParaRPr sz="1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mass</a:t>
            </a:r>
            <a:r>
              <a:rPr dirty="0" sz="9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of</a:t>
            </a:r>
            <a:r>
              <a:rPr dirty="0" sz="9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8518" sz="1125" spc="-15" b="1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8518" sz="1125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38587" y="5357812"/>
            <a:ext cx="1314450" cy="219075"/>
          </a:xfrm>
          <a:prstGeom prst="rect">
            <a:avLst/>
          </a:prstGeom>
          <a:solidFill>
            <a:srgbClr val="FFCC00"/>
          </a:solidFill>
          <a:ln w="9524">
            <a:solidFill>
              <a:srgbClr val="1B2433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60"/>
              </a:spcBef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00" spc="6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(1</a:t>
            </a:r>
            <a:r>
              <a:rPr dirty="0" sz="900" spc="6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sz="900" spc="6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/</a:t>
            </a:r>
            <a:r>
              <a:rPr dirty="0" sz="900" spc="6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100.086</a:t>
            </a:r>
            <a:r>
              <a:rPr dirty="0" sz="900" spc="6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1B2433"/>
                </a:solidFill>
                <a:latin typeface="Arial"/>
                <a:cs typeface="Arial"/>
              </a:rPr>
              <a:t>g)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53187" y="5148262"/>
            <a:ext cx="2333625" cy="714375"/>
          </a:xfrm>
          <a:prstGeom prst="rect">
            <a:avLst/>
          </a:prstGeom>
          <a:solidFill>
            <a:srgbClr val="F4F5F9"/>
          </a:solidFill>
          <a:ln w="28574">
            <a:solidFill>
              <a:srgbClr val="003399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650" b="1">
                <a:solidFill>
                  <a:srgbClr val="003399"/>
                </a:solidFill>
                <a:latin typeface="Arial"/>
                <a:cs typeface="Arial"/>
              </a:rPr>
              <a:t>2.807 ×</a:t>
            </a:r>
            <a:r>
              <a:rPr dirty="0" sz="1650" spc="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3399"/>
                </a:solidFill>
                <a:latin typeface="Arial"/>
                <a:cs typeface="Arial"/>
              </a:rPr>
              <a:t>10</a:t>
            </a:r>
            <a:r>
              <a:rPr dirty="0" baseline="24691" sz="2025" b="1">
                <a:solidFill>
                  <a:srgbClr val="003399"/>
                </a:solidFill>
                <a:latin typeface="Arial"/>
                <a:cs typeface="Arial"/>
              </a:rPr>
              <a:t>−3</a:t>
            </a:r>
            <a:r>
              <a:rPr dirty="0" baseline="24691" sz="2025" spc="127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003399"/>
                </a:solidFill>
                <a:latin typeface="Arial"/>
                <a:cs typeface="Arial"/>
              </a:rPr>
              <a:t>mol</a:t>
            </a:r>
            <a:endParaRPr sz="1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moles</a:t>
            </a:r>
            <a:r>
              <a:rPr dirty="0" sz="9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of</a:t>
            </a:r>
            <a:r>
              <a:rPr dirty="0" sz="9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8518" sz="1125" spc="-15" b="1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8518" sz="1125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44086" y="5348287"/>
            <a:ext cx="1600200" cy="247650"/>
          </a:xfrm>
          <a:prstGeom prst="rect">
            <a:avLst/>
          </a:prstGeom>
          <a:solidFill>
            <a:srgbClr val="FFCC00"/>
          </a:solidFill>
          <a:ln w="9524">
            <a:solidFill>
              <a:srgbClr val="1B2433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500"/>
              </a:spcBef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00" spc="6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(6.022</a:t>
            </a:r>
            <a:r>
              <a:rPr dirty="0" sz="900" spc="7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00" spc="6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9629" sz="1125" b="1">
                <a:solidFill>
                  <a:srgbClr val="1B2433"/>
                </a:solidFill>
                <a:latin typeface="Arial"/>
                <a:cs typeface="Arial"/>
              </a:rPr>
              <a:t>23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)</a:t>
            </a:r>
            <a:r>
              <a:rPr dirty="0" sz="900" spc="7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B2433"/>
                </a:solidFill>
                <a:latin typeface="Arial"/>
                <a:cs typeface="Arial"/>
              </a:rPr>
              <a:t>units/mol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501561" y="5148262"/>
            <a:ext cx="2333625" cy="714375"/>
          </a:xfrm>
          <a:prstGeom prst="rect">
            <a:avLst/>
          </a:prstGeom>
          <a:solidFill>
            <a:srgbClr val="F4F5F9"/>
          </a:solidFill>
          <a:ln w="28574">
            <a:solidFill>
              <a:srgbClr val="003399"/>
            </a:solidFill>
          </a:ln>
        </p:spPr>
        <p:txBody>
          <a:bodyPr wrap="square" lIns="0" tIns="160020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1260"/>
              </a:spcBef>
            </a:pPr>
            <a:r>
              <a:rPr dirty="0" sz="1650" b="1">
                <a:solidFill>
                  <a:srgbClr val="003399"/>
                </a:solidFill>
                <a:latin typeface="Arial"/>
                <a:cs typeface="Arial"/>
              </a:rPr>
              <a:t>1.690</a:t>
            </a:r>
            <a:r>
              <a:rPr dirty="0" sz="16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003399"/>
                </a:solidFill>
                <a:latin typeface="Arial"/>
                <a:cs typeface="Arial"/>
              </a:rPr>
              <a:t>× </a:t>
            </a:r>
            <a:r>
              <a:rPr dirty="0" sz="1650" spc="-20" b="1">
                <a:solidFill>
                  <a:srgbClr val="003399"/>
                </a:solidFill>
                <a:latin typeface="Arial"/>
                <a:cs typeface="Arial"/>
              </a:rPr>
              <a:t>10</a:t>
            </a:r>
            <a:r>
              <a:rPr dirty="0" baseline="24691" sz="2025" spc="-30" b="1">
                <a:solidFill>
                  <a:srgbClr val="003399"/>
                </a:solidFill>
                <a:latin typeface="Arial"/>
                <a:cs typeface="Arial"/>
              </a:rPr>
              <a:t>21</a:t>
            </a:r>
            <a:endParaRPr baseline="24691" sz="2025">
              <a:latin typeface="Arial"/>
              <a:cs typeface="Arial"/>
            </a:endParaRPr>
          </a:p>
          <a:p>
            <a:pPr marL="533400">
              <a:lnSpc>
                <a:spcPct val="100000"/>
              </a:lnSpc>
              <a:spcBef>
                <a:spcPts val="20"/>
              </a:spcBef>
            </a:pP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formula</a:t>
            </a:r>
            <a:r>
              <a:rPr dirty="0" sz="9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units</a:t>
            </a:r>
            <a:r>
              <a:rPr dirty="0" sz="900" spc="-1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B2433"/>
                </a:solidFill>
                <a:latin typeface="Arial"/>
                <a:cs typeface="Arial"/>
              </a:rPr>
              <a:t>of</a:t>
            </a:r>
            <a:r>
              <a:rPr dirty="0" sz="900" spc="-10" b="1">
                <a:solidFill>
                  <a:srgbClr val="1B2433"/>
                </a:solidFill>
                <a:latin typeface="Arial"/>
                <a:cs typeface="Arial"/>
              </a:rPr>
              <a:t> CaCO</a:t>
            </a:r>
            <a:r>
              <a:rPr dirty="0" baseline="-18518" sz="1125" spc="-15" b="1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8518" sz="1125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2887" y="4776787"/>
            <a:ext cx="14754225" cy="1485900"/>
          </a:xfrm>
          <a:prstGeom prst="rect">
            <a:avLst/>
          </a:prstGeom>
          <a:ln w="28574">
            <a:solidFill>
              <a:srgbClr val="003399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935"/>
              </a:spcBef>
            </a:pPr>
            <a:r>
              <a:rPr dirty="0" sz="1050" spc="45" b="1">
                <a:solidFill>
                  <a:srgbClr val="4A0D4E"/>
                </a:solidFill>
                <a:latin typeface="Arial"/>
                <a:cs typeface="Arial"/>
              </a:rPr>
              <a:t>SECTION</a:t>
            </a:r>
            <a:r>
              <a:rPr dirty="0" sz="1050" spc="12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D</a:t>
            </a:r>
            <a:r>
              <a:rPr dirty="0" sz="1050" spc="12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·</a:t>
            </a:r>
            <a:r>
              <a:rPr dirty="0" sz="1050" spc="-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THE MOLE</a:t>
            </a:r>
            <a:r>
              <a:rPr dirty="0" sz="1050" spc="-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MAP</a:t>
            </a:r>
            <a:r>
              <a:rPr dirty="0" sz="1050" spc="-2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(200</a:t>
            </a:r>
            <a:r>
              <a:rPr dirty="0" sz="1050" spc="-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mL</a:t>
            </a:r>
            <a:r>
              <a:rPr dirty="0" sz="1050" spc="-2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basis)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5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</a:pP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Always pass through moles: grams never convert straight to particles. Name the entity at every step: CaCO</a:t>
            </a:r>
            <a:r>
              <a:rPr dirty="0" baseline="-18518" sz="1125">
                <a:solidFill>
                  <a:srgbClr val="3A4558"/>
                </a:solidFill>
                <a:latin typeface="Arial"/>
                <a:cs typeface="Arial"/>
              </a:rPr>
              <a:t>3</a:t>
            </a:r>
            <a:r>
              <a:rPr dirty="0" baseline="-18518" sz="1125" spc="60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is ionic, so it is counted in formula units, not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molecules.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2809862" y="5619761"/>
            <a:ext cx="9620250" cy="47625"/>
          </a:xfrm>
          <a:custGeom>
            <a:avLst/>
            <a:gdLst/>
            <a:ahLst/>
            <a:cxnLst/>
            <a:rect l="l" t="t" r="r" b="b"/>
            <a:pathLst>
              <a:path w="9620250" h="47625">
                <a:moveTo>
                  <a:pt x="3571875" y="0"/>
                </a:moveTo>
                <a:lnTo>
                  <a:pt x="0" y="0"/>
                </a:lnTo>
                <a:lnTo>
                  <a:pt x="0" y="28575"/>
                </a:lnTo>
                <a:lnTo>
                  <a:pt x="3571875" y="28575"/>
                </a:lnTo>
                <a:lnTo>
                  <a:pt x="3571875" y="0"/>
                </a:lnTo>
                <a:close/>
              </a:path>
              <a:path w="9620250" h="47625">
                <a:moveTo>
                  <a:pt x="9620250" y="19050"/>
                </a:moveTo>
                <a:lnTo>
                  <a:pt x="6048375" y="19050"/>
                </a:lnTo>
                <a:lnTo>
                  <a:pt x="6048375" y="47625"/>
                </a:lnTo>
                <a:lnTo>
                  <a:pt x="9620250" y="47625"/>
                </a:lnTo>
                <a:lnTo>
                  <a:pt x="9620250" y="1905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" name="object 47"/>
          <p:cNvGrpSpPr/>
          <p:nvPr/>
        </p:nvGrpSpPr>
        <p:grpSpPr>
          <a:xfrm>
            <a:off x="228599" y="6410324"/>
            <a:ext cx="14782800" cy="4000500"/>
            <a:chOff x="228599" y="6410324"/>
            <a:chExt cx="14782800" cy="4000500"/>
          </a:xfrm>
        </p:grpSpPr>
        <p:sp>
          <p:nvSpPr>
            <p:cNvPr id="48" name="object 48"/>
            <p:cNvSpPr/>
            <p:nvPr/>
          </p:nvSpPr>
          <p:spPr>
            <a:xfrm>
              <a:off x="228599" y="6410324"/>
              <a:ext cx="14782800" cy="4000500"/>
            </a:xfrm>
            <a:custGeom>
              <a:avLst/>
              <a:gdLst/>
              <a:ahLst/>
              <a:cxnLst/>
              <a:rect l="l" t="t" r="r" b="b"/>
              <a:pathLst>
                <a:path w="14782800" h="4000500">
                  <a:moveTo>
                    <a:pt x="14782798" y="4000499"/>
                  </a:moveTo>
                  <a:lnTo>
                    <a:pt x="0" y="4000499"/>
                  </a:lnTo>
                  <a:lnTo>
                    <a:pt x="0" y="0"/>
                  </a:lnTo>
                  <a:lnTo>
                    <a:pt x="14782798" y="0"/>
                  </a:lnTo>
                  <a:lnTo>
                    <a:pt x="14782798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42887" y="6424612"/>
              <a:ext cx="14754225" cy="3971925"/>
            </a:xfrm>
            <a:custGeom>
              <a:avLst/>
              <a:gdLst/>
              <a:ahLst/>
              <a:cxnLst/>
              <a:rect l="l" t="t" r="r" b="b"/>
              <a:pathLst>
                <a:path w="14754225" h="3971925">
                  <a:moveTo>
                    <a:pt x="0" y="0"/>
                  </a:moveTo>
                  <a:lnTo>
                    <a:pt x="14754223" y="0"/>
                  </a:lnTo>
                  <a:lnTo>
                    <a:pt x="14754223" y="3971924"/>
                  </a:lnTo>
                  <a:lnTo>
                    <a:pt x="0" y="3971924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524" y="6791324"/>
              <a:ext cx="190500" cy="19049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90524" y="6530975"/>
            <a:ext cx="6349365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45" b="1">
                <a:solidFill>
                  <a:srgbClr val="4A0D4E"/>
                </a:solidFill>
                <a:latin typeface="Arial"/>
                <a:cs typeface="Arial"/>
              </a:rPr>
              <a:t>SECTION</a:t>
            </a:r>
            <a:r>
              <a:rPr dirty="0" sz="1050" spc="10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E</a:t>
            </a:r>
            <a:r>
              <a:rPr dirty="0" sz="1050" spc="11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·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DIMENSIONAL</a:t>
            </a:r>
            <a:r>
              <a:rPr dirty="0" sz="1050" spc="-7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ANALYSIS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PROOFS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(unrounded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value</a:t>
            </a:r>
            <a:r>
              <a:rPr dirty="0" sz="1050" spc="-1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in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gray;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reported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answer</a:t>
            </a:r>
            <a:r>
              <a:rPr dirty="0" sz="1050" spc="-1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in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003399"/>
                </a:solidFill>
                <a:latin typeface="Arial"/>
                <a:cs typeface="Arial"/>
              </a:rPr>
              <a:t>red)</a:t>
            </a:r>
            <a:endParaRPr sz="105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790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900" spc="24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Molar</a:t>
            </a:r>
            <a:r>
              <a:rPr dirty="0" sz="950" spc="2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4A0D4E"/>
                </a:solidFill>
                <a:latin typeface="Arial"/>
                <a:cs typeface="Arial"/>
              </a:rPr>
              <a:t>mass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M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40.078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+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12.011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+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3(15.999)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40.078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+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12.011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+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47.997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100.086</a:t>
            </a:r>
            <a:r>
              <a:rPr dirty="0" sz="950" spc="5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D32E2E"/>
                </a:solidFill>
                <a:latin typeface="Arial"/>
                <a:cs typeface="Arial"/>
              </a:rPr>
              <a:t>g/mol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7791448" y="6791324"/>
            <a:ext cx="1068705" cy="438150"/>
            <a:chOff x="7791448" y="6791324"/>
            <a:chExt cx="1068705" cy="438150"/>
          </a:xfrm>
        </p:grpSpPr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1448" y="6791324"/>
              <a:ext cx="190500" cy="19049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8598395" y="7210424"/>
              <a:ext cx="262255" cy="19050"/>
            </a:xfrm>
            <a:custGeom>
              <a:avLst/>
              <a:gdLst/>
              <a:ahLst/>
              <a:cxnLst/>
              <a:rect l="l" t="t" r="r" b="b"/>
              <a:pathLst>
                <a:path w="262254" h="19050">
                  <a:moveTo>
                    <a:pt x="26163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61639" y="0"/>
                  </a:lnTo>
                  <a:lnTo>
                    <a:pt x="261639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7766050" y="6788150"/>
            <a:ext cx="2059305" cy="504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900" spc="295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Oxygen</a:t>
            </a:r>
            <a:r>
              <a:rPr dirty="0" sz="950" spc="4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atoms</a:t>
            </a:r>
            <a:r>
              <a:rPr dirty="0" sz="950" spc="4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(3:1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exact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ratio)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1.6904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7777" sz="1200">
                <a:solidFill>
                  <a:srgbClr val="1B2433"/>
                </a:solidFill>
                <a:latin typeface="Arial"/>
                <a:cs typeface="Arial"/>
              </a:rPr>
              <a:t>21</a:t>
            </a:r>
            <a:r>
              <a:rPr dirty="0" baseline="27777" sz="1200" spc="1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units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9020174" y="7210424"/>
            <a:ext cx="628650" cy="123825"/>
            <a:chOff x="9020174" y="7210424"/>
            <a:chExt cx="628650" cy="123825"/>
          </a:xfrm>
        </p:grpSpPr>
        <p:sp>
          <p:nvSpPr>
            <p:cNvPr id="86" name="object 86"/>
            <p:cNvSpPr/>
            <p:nvPr/>
          </p:nvSpPr>
          <p:spPr>
            <a:xfrm>
              <a:off x="9020174" y="7210424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6286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28649" y="0"/>
                  </a:lnTo>
                  <a:lnTo>
                    <a:pt x="628649" y="9524"/>
                  </a:lnTo>
                  <a:close/>
                </a:path>
              </a:pathLst>
            </a:custGeom>
            <a:solidFill>
              <a:srgbClr val="1B24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9286278" y="7315199"/>
              <a:ext cx="200025" cy="19050"/>
            </a:xfrm>
            <a:custGeom>
              <a:avLst/>
              <a:gdLst/>
              <a:ahLst/>
              <a:cxnLst/>
              <a:rect l="l" t="t" r="r" b="b"/>
              <a:pathLst>
                <a:path w="200025" h="19050">
                  <a:moveTo>
                    <a:pt x="199727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99727" y="0"/>
                  </a:lnTo>
                  <a:lnTo>
                    <a:pt x="199727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9023498" y="7007225"/>
            <a:ext cx="3022600" cy="393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392045">
              <a:lnSpc>
                <a:spcPts val="101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3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O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atoms</a:t>
            </a:r>
            <a:endParaRPr sz="950">
              <a:latin typeface="Arial"/>
              <a:cs typeface="Arial"/>
            </a:endParaRPr>
          </a:p>
          <a:p>
            <a:pPr marL="678180">
              <a:lnSpc>
                <a:spcPts val="865"/>
              </a:lnSpc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596474"/>
                </a:solidFill>
                <a:latin typeface="Arial"/>
                <a:cs typeface="Arial"/>
              </a:rPr>
              <a:t>5.0713</a:t>
            </a:r>
            <a:r>
              <a:rPr dirty="0" baseline="2923" sz="1425" spc="6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596474"/>
                </a:solidFill>
                <a:latin typeface="Arial"/>
                <a:cs typeface="Arial"/>
              </a:rPr>
              <a:t>×</a:t>
            </a:r>
            <a:r>
              <a:rPr dirty="0" baseline="2923" sz="1425" spc="52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596474"/>
                </a:solidFill>
                <a:latin typeface="Arial"/>
                <a:cs typeface="Arial"/>
              </a:rPr>
              <a:t>10</a:t>
            </a:r>
            <a:r>
              <a:rPr dirty="0" baseline="31250" sz="1200">
                <a:solidFill>
                  <a:srgbClr val="596474"/>
                </a:solidFill>
                <a:latin typeface="Arial"/>
                <a:cs typeface="Arial"/>
              </a:rPr>
              <a:t>21</a:t>
            </a:r>
            <a:r>
              <a:rPr dirty="0" baseline="31250" sz="1200" spc="12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sz="950" spc="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5.071</a:t>
            </a:r>
            <a:r>
              <a:rPr dirty="0" baseline="2923" sz="1425" spc="6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baseline="2923" sz="1425" spc="5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10</a:t>
            </a:r>
            <a:r>
              <a:rPr dirty="0" baseline="31250" sz="1200" b="1">
                <a:solidFill>
                  <a:srgbClr val="D32E2E"/>
                </a:solidFill>
                <a:latin typeface="Arial"/>
                <a:cs typeface="Arial"/>
              </a:rPr>
              <a:t>21</a:t>
            </a:r>
            <a:r>
              <a:rPr dirty="0" baseline="31250" sz="1200" spc="12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O</a:t>
            </a:r>
            <a:r>
              <a:rPr dirty="0" baseline="2923" sz="1425" spc="5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spc="-15" b="1">
                <a:solidFill>
                  <a:srgbClr val="D32E2E"/>
                </a:solidFill>
                <a:latin typeface="Arial"/>
                <a:cs typeface="Arial"/>
              </a:rPr>
              <a:t>atoms</a:t>
            </a:r>
            <a:endParaRPr baseline="2923" sz="1425">
              <a:latin typeface="Arial"/>
              <a:cs typeface="Arial"/>
            </a:endParaRPr>
          </a:p>
          <a:p>
            <a:pPr algn="ctr" marR="2392045">
              <a:lnSpc>
                <a:spcPts val="994"/>
              </a:lnSpc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1B2433"/>
                </a:solidFill>
                <a:latin typeface="Arial"/>
                <a:cs typeface="Arial"/>
              </a:rPr>
              <a:t>unit</a:t>
            </a:r>
            <a:endParaRPr sz="95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4" y="7305674"/>
            <a:ext cx="190500" cy="19049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428525" y="7302500"/>
            <a:ext cx="213550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900" spc="28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Label</a:t>
            </a:r>
            <a:r>
              <a:rPr dirty="0" sz="950" spc="3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bridge</a:t>
            </a:r>
            <a:r>
              <a:rPr dirty="0" sz="950" spc="3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(all</a:t>
            </a:r>
            <a:r>
              <a:rPr dirty="0" sz="950" spc="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Ca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from</a:t>
            </a:r>
            <a:r>
              <a:rPr dirty="0" sz="950" spc="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7361" sz="1200" spc="-15">
                <a:solidFill>
                  <a:srgbClr val="1B2433"/>
                </a:solidFill>
                <a:latin typeface="Arial"/>
                <a:cs typeface="Arial"/>
              </a:rPr>
              <a:t>3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)</a:t>
            </a:r>
            <a:endParaRPr sz="9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25685" y="7753349"/>
            <a:ext cx="172085" cy="19050"/>
          </a:xfrm>
          <a:custGeom>
            <a:avLst/>
            <a:gdLst/>
            <a:ahLst/>
            <a:cxnLst/>
            <a:rect l="l" t="t" r="r" b="b"/>
            <a:pathLst>
              <a:path w="172084" h="19050">
                <a:moveTo>
                  <a:pt x="172045" y="19049"/>
                </a:moveTo>
                <a:lnTo>
                  <a:pt x="0" y="19049"/>
                </a:lnTo>
                <a:lnTo>
                  <a:pt x="0" y="0"/>
                </a:lnTo>
                <a:lnTo>
                  <a:pt x="172045" y="0"/>
                </a:lnTo>
                <a:lnTo>
                  <a:pt x="172045" y="19049"/>
                </a:lnTo>
                <a:close/>
              </a:path>
            </a:pathLst>
          </a:custGeom>
          <a:solidFill>
            <a:srgbClr val="D3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90524" y="7660431"/>
            <a:ext cx="81978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112.5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mg</a:t>
            </a:r>
            <a:r>
              <a:rPr dirty="0" sz="950" spc="2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Ca</a:t>
            </a:r>
            <a:r>
              <a:rPr dirty="0" sz="950" spc="2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247774" y="7639049"/>
            <a:ext cx="542925" cy="133350"/>
            <a:chOff x="1247774" y="7639049"/>
            <a:chExt cx="542925" cy="133350"/>
          </a:xfrm>
        </p:grpSpPr>
        <p:sp>
          <p:nvSpPr>
            <p:cNvPr id="57" name="object 57"/>
            <p:cNvSpPr/>
            <p:nvPr/>
          </p:nvSpPr>
          <p:spPr>
            <a:xfrm>
              <a:off x="1247774" y="7762874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5429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9524"/>
                  </a:lnTo>
                  <a:close/>
                </a:path>
              </a:pathLst>
            </a:custGeom>
            <a:solidFill>
              <a:srgbClr val="1B24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37394" y="7639049"/>
              <a:ext cx="69215" cy="19050"/>
            </a:xfrm>
            <a:custGeom>
              <a:avLst/>
              <a:gdLst/>
              <a:ahLst/>
              <a:cxnLst/>
              <a:rect l="l" t="t" r="r" b="b"/>
              <a:pathLst>
                <a:path w="69215" h="19050">
                  <a:moveTo>
                    <a:pt x="68907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8907" y="0"/>
                  </a:lnTo>
                  <a:lnTo>
                    <a:pt x="68907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279177" y="7470140"/>
            <a:ext cx="495300" cy="48260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75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g</a:t>
            </a:r>
            <a:endParaRPr sz="95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660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1000</a:t>
            </a:r>
            <a:r>
              <a:rPr dirty="0" sz="950" spc="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mg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589186" y="7762874"/>
            <a:ext cx="1421130" cy="123825"/>
            <a:chOff x="1589186" y="7762874"/>
            <a:chExt cx="1421130" cy="123825"/>
          </a:xfrm>
        </p:grpSpPr>
        <p:sp>
          <p:nvSpPr>
            <p:cNvPr id="61" name="object 61"/>
            <p:cNvSpPr/>
            <p:nvPr/>
          </p:nvSpPr>
          <p:spPr>
            <a:xfrm>
              <a:off x="1589186" y="7867649"/>
              <a:ext cx="172085" cy="19050"/>
            </a:xfrm>
            <a:custGeom>
              <a:avLst/>
              <a:gdLst/>
              <a:ahLst/>
              <a:cxnLst/>
              <a:rect l="l" t="t" r="r" b="b"/>
              <a:pathLst>
                <a:path w="172085" h="19050">
                  <a:moveTo>
                    <a:pt x="172045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72045" y="0"/>
                  </a:lnTo>
                  <a:lnTo>
                    <a:pt x="172045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971674" y="7762874"/>
              <a:ext cx="1038225" cy="9525"/>
            </a:xfrm>
            <a:custGeom>
              <a:avLst/>
              <a:gdLst/>
              <a:ahLst/>
              <a:cxnLst/>
              <a:rect l="l" t="t" r="r" b="b"/>
              <a:pathLst>
                <a:path w="1038225" h="9525">
                  <a:moveTo>
                    <a:pt x="10382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38224" y="0"/>
                  </a:lnTo>
                  <a:lnTo>
                    <a:pt x="1038224" y="9524"/>
                  </a:lnTo>
                  <a:close/>
                </a:path>
              </a:pathLst>
            </a:custGeom>
            <a:solidFill>
              <a:srgbClr val="1B24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566838" y="7867649"/>
              <a:ext cx="69215" cy="19050"/>
            </a:xfrm>
            <a:custGeom>
              <a:avLst/>
              <a:gdLst/>
              <a:ahLst/>
              <a:cxnLst/>
              <a:rect l="l" t="t" r="r" b="b"/>
              <a:pathLst>
                <a:path w="69214" h="19050">
                  <a:moveTo>
                    <a:pt x="68907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8907" y="0"/>
                  </a:lnTo>
                  <a:lnTo>
                    <a:pt x="68907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1843259" y="7660431"/>
            <a:ext cx="8509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endParaRPr sz="9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972319" y="7540625"/>
            <a:ext cx="1050925" cy="4121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100.086</a:t>
            </a:r>
            <a:r>
              <a:rPr dirty="0" sz="950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g</a:t>
            </a:r>
            <a:r>
              <a:rPr dirty="0" sz="950" spc="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7361" sz="1200" spc="-15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7361" sz="1200">
              <a:latin typeface="Arial"/>
              <a:cs typeface="Arial"/>
            </a:endParaRPr>
          </a:p>
          <a:p>
            <a:pPr marL="180975">
              <a:lnSpc>
                <a:spcPct val="100000"/>
              </a:lnSpc>
              <a:spcBef>
                <a:spcPts val="73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40.078</a:t>
            </a:r>
            <a:r>
              <a:rPr dirty="0" sz="9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g</a:t>
            </a:r>
            <a:r>
              <a:rPr dirty="0" sz="9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Ca</a:t>
            </a:r>
            <a:endParaRPr sz="9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041226" y="7664450"/>
            <a:ext cx="220091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baseline="2923" sz="1425" spc="5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596474"/>
                </a:solidFill>
                <a:latin typeface="Arial"/>
                <a:cs typeface="Arial"/>
              </a:rPr>
              <a:t>0.280</a:t>
            </a:r>
            <a:r>
              <a:rPr dirty="0" baseline="2923" sz="1425" spc="6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596474"/>
                </a:solidFill>
                <a:latin typeface="Arial"/>
                <a:cs typeface="Arial"/>
              </a:rPr>
              <a:t>94</a:t>
            </a:r>
            <a:r>
              <a:rPr dirty="0" baseline="2923" sz="1425" spc="52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596474"/>
                </a:solidFill>
                <a:latin typeface="Arial"/>
                <a:cs typeface="Arial"/>
              </a:rPr>
              <a:t>g</a:t>
            </a:r>
            <a:r>
              <a:rPr dirty="0" baseline="2923" sz="1425" spc="6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baseline="2923" sz="1425" spc="5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2.809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sz="950" spc="3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10</a:t>
            </a:r>
            <a:r>
              <a:rPr dirty="0" baseline="27777" sz="1200" b="1">
                <a:solidFill>
                  <a:srgbClr val="D32E2E"/>
                </a:solidFill>
                <a:latin typeface="Arial"/>
                <a:cs typeface="Arial"/>
              </a:rPr>
              <a:t>−1</a:t>
            </a:r>
            <a:r>
              <a:rPr dirty="0" baseline="27777" sz="1200" spc="12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g</a:t>
            </a:r>
            <a:r>
              <a:rPr dirty="0" sz="950" spc="3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D32E2E"/>
                </a:solidFill>
                <a:latin typeface="Arial"/>
                <a:cs typeface="Arial"/>
              </a:rPr>
              <a:t>CaCO</a:t>
            </a:r>
            <a:r>
              <a:rPr dirty="0" baseline="-17361" sz="1200" spc="-15" b="1">
                <a:solidFill>
                  <a:srgbClr val="D32E2E"/>
                </a:solidFill>
                <a:latin typeface="Arial"/>
                <a:cs typeface="Arial"/>
              </a:rPr>
              <a:t>3</a:t>
            </a:r>
            <a:endParaRPr baseline="-17361" sz="1200">
              <a:latin typeface="Arial"/>
              <a:cs typeface="Arial"/>
            </a:endParaRPr>
          </a:p>
        </p:txBody>
      </p:sp>
      <p:pic>
        <p:nvPicPr>
          <p:cNvPr id="67" name="object 6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4" y="8086724"/>
            <a:ext cx="190500" cy="190499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453925" y="8083550"/>
            <a:ext cx="10572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900" spc="25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Mass</a:t>
            </a:r>
            <a:r>
              <a:rPr dirty="0" sz="950" spc="2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→</a:t>
            </a:r>
            <a:r>
              <a:rPr dirty="0" sz="950" spc="2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4A0D4E"/>
                </a:solidFill>
                <a:latin typeface="Arial"/>
                <a:cs typeface="Arial"/>
              </a:rPr>
              <a:t>moles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791448" y="7534275"/>
            <a:ext cx="3676650" cy="762000"/>
            <a:chOff x="7791448" y="7534275"/>
            <a:chExt cx="3676650" cy="762000"/>
          </a:xfrm>
        </p:grpSpPr>
        <p:pic>
          <p:nvPicPr>
            <p:cNvPr id="90" name="object 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1448" y="7534275"/>
              <a:ext cx="190500" cy="19049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9117507" y="8172449"/>
              <a:ext cx="200025" cy="19050"/>
            </a:xfrm>
            <a:custGeom>
              <a:avLst/>
              <a:gdLst/>
              <a:ahLst/>
              <a:cxnLst/>
              <a:rect l="l" t="t" r="r" b="b"/>
              <a:pathLst>
                <a:path w="200025" h="19050">
                  <a:moveTo>
                    <a:pt x="199578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99578" y="0"/>
                  </a:lnTo>
                  <a:lnTo>
                    <a:pt x="199578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477373" y="8172449"/>
              <a:ext cx="552450" cy="9525"/>
            </a:xfrm>
            <a:custGeom>
              <a:avLst/>
              <a:gdLst/>
              <a:ahLst/>
              <a:cxnLst/>
              <a:rect l="l" t="t" r="r" b="b"/>
              <a:pathLst>
                <a:path w="552450" h="9525">
                  <a:moveTo>
                    <a:pt x="5524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52449" y="0"/>
                  </a:lnTo>
                  <a:lnTo>
                    <a:pt x="552449" y="9524"/>
                  </a:lnTo>
                  <a:close/>
                </a:path>
              </a:pathLst>
            </a:custGeom>
            <a:solidFill>
              <a:srgbClr val="1B24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9609226" y="8058161"/>
              <a:ext cx="295910" cy="238125"/>
            </a:xfrm>
            <a:custGeom>
              <a:avLst/>
              <a:gdLst/>
              <a:ahLst/>
              <a:cxnLst/>
              <a:rect l="l" t="t" r="r" b="b"/>
              <a:pathLst>
                <a:path w="295909" h="238125">
                  <a:moveTo>
                    <a:pt x="19958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9580" y="19050"/>
                  </a:lnTo>
                  <a:lnTo>
                    <a:pt x="199580" y="0"/>
                  </a:lnTo>
                  <a:close/>
                </a:path>
                <a:path w="295909" h="238125">
                  <a:moveTo>
                    <a:pt x="295871" y="219075"/>
                  </a:moveTo>
                  <a:lnTo>
                    <a:pt x="96291" y="219075"/>
                  </a:lnTo>
                  <a:lnTo>
                    <a:pt x="96291" y="238125"/>
                  </a:lnTo>
                  <a:lnTo>
                    <a:pt x="295871" y="238125"/>
                  </a:lnTo>
                  <a:lnTo>
                    <a:pt x="295871" y="219075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0210798" y="8172449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533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33399" y="0"/>
                  </a:lnTo>
                  <a:lnTo>
                    <a:pt x="533399" y="9524"/>
                  </a:lnTo>
                  <a:close/>
                </a:path>
              </a:pathLst>
            </a:custGeom>
            <a:solidFill>
              <a:srgbClr val="1B24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0430903" y="8058161"/>
              <a:ext cx="289560" cy="238125"/>
            </a:xfrm>
            <a:custGeom>
              <a:avLst/>
              <a:gdLst/>
              <a:ahLst/>
              <a:cxnLst/>
              <a:rect l="l" t="t" r="r" b="b"/>
              <a:pathLst>
                <a:path w="289559" h="238125">
                  <a:moveTo>
                    <a:pt x="199580" y="219075"/>
                  </a:moveTo>
                  <a:lnTo>
                    <a:pt x="0" y="219075"/>
                  </a:lnTo>
                  <a:lnTo>
                    <a:pt x="0" y="238125"/>
                  </a:lnTo>
                  <a:lnTo>
                    <a:pt x="199580" y="238125"/>
                  </a:lnTo>
                  <a:lnTo>
                    <a:pt x="199580" y="219075"/>
                  </a:lnTo>
                  <a:close/>
                </a:path>
                <a:path w="289559" h="238125">
                  <a:moveTo>
                    <a:pt x="289179" y="0"/>
                  </a:moveTo>
                  <a:lnTo>
                    <a:pt x="220268" y="0"/>
                  </a:lnTo>
                  <a:lnTo>
                    <a:pt x="220268" y="19050"/>
                  </a:lnTo>
                  <a:lnTo>
                    <a:pt x="289179" y="19050"/>
                  </a:lnTo>
                  <a:lnTo>
                    <a:pt x="289179" y="0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0925173" y="8172449"/>
              <a:ext cx="542925" cy="9525"/>
            </a:xfrm>
            <a:custGeom>
              <a:avLst/>
              <a:gdLst/>
              <a:ahLst/>
              <a:cxnLst/>
              <a:rect l="l" t="t" r="r" b="b"/>
              <a:pathLst>
                <a:path w="542925" h="9525">
                  <a:moveTo>
                    <a:pt x="5429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42924" y="0"/>
                  </a:lnTo>
                  <a:lnTo>
                    <a:pt x="542924" y="9524"/>
                  </a:lnTo>
                  <a:close/>
                </a:path>
              </a:pathLst>
            </a:custGeom>
            <a:solidFill>
              <a:srgbClr val="1B24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1214644" y="8277224"/>
              <a:ext cx="69215" cy="19050"/>
            </a:xfrm>
            <a:custGeom>
              <a:avLst/>
              <a:gdLst/>
              <a:ahLst/>
              <a:cxnLst/>
              <a:rect l="l" t="t" r="r" b="b"/>
              <a:pathLst>
                <a:path w="69215" h="19050">
                  <a:moveTo>
                    <a:pt x="68907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8907" y="0"/>
                  </a:lnTo>
                  <a:lnTo>
                    <a:pt x="68907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/>
          <p:nvPr/>
        </p:nvSpPr>
        <p:spPr>
          <a:xfrm>
            <a:off x="906958" y="8505824"/>
            <a:ext cx="69215" cy="19050"/>
          </a:xfrm>
          <a:custGeom>
            <a:avLst/>
            <a:gdLst/>
            <a:ahLst/>
            <a:cxnLst/>
            <a:rect l="l" t="t" r="r" b="b"/>
            <a:pathLst>
              <a:path w="69215" h="19050">
                <a:moveTo>
                  <a:pt x="68907" y="19049"/>
                </a:moveTo>
                <a:lnTo>
                  <a:pt x="0" y="19049"/>
                </a:lnTo>
                <a:lnTo>
                  <a:pt x="0" y="0"/>
                </a:lnTo>
                <a:lnTo>
                  <a:pt x="68907" y="0"/>
                </a:lnTo>
                <a:lnTo>
                  <a:pt x="68907" y="19049"/>
                </a:lnTo>
                <a:close/>
              </a:path>
            </a:pathLst>
          </a:custGeom>
          <a:solidFill>
            <a:srgbClr val="D3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390524" y="8413948"/>
            <a:ext cx="7048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0.280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94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g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endParaRPr sz="95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133474" y="8515349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609599" y="9524"/>
                </a:moveTo>
                <a:lnTo>
                  <a:pt x="0" y="9524"/>
                </a:lnTo>
                <a:lnTo>
                  <a:pt x="0" y="0"/>
                </a:lnTo>
                <a:lnTo>
                  <a:pt x="609599" y="0"/>
                </a:lnTo>
                <a:lnTo>
                  <a:pt x="609599" y="9524"/>
                </a:lnTo>
                <a:close/>
              </a:path>
            </a:pathLst>
          </a:custGeom>
          <a:solidFill>
            <a:srgbClr val="1B24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164728" y="8222615"/>
            <a:ext cx="563880" cy="48260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75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100.086</a:t>
            </a:r>
            <a:r>
              <a:rPr dirty="0" sz="950" spc="10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g</a:t>
            </a:r>
            <a:endParaRPr sz="9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72318" y="8416925"/>
            <a:ext cx="253555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2.8070</a:t>
            </a:r>
            <a:r>
              <a:rPr dirty="0" sz="950" spc="4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×</a:t>
            </a:r>
            <a:r>
              <a:rPr dirty="0" sz="950" spc="45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10</a:t>
            </a:r>
            <a:r>
              <a:rPr dirty="0" baseline="27777" sz="1200">
                <a:solidFill>
                  <a:srgbClr val="596474"/>
                </a:solidFill>
                <a:latin typeface="Arial"/>
                <a:cs typeface="Arial"/>
              </a:rPr>
              <a:t>−3</a:t>
            </a:r>
            <a:r>
              <a:rPr dirty="0" baseline="27777" sz="1200" spc="12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2.807</a:t>
            </a:r>
            <a:r>
              <a:rPr dirty="0" sz="950" spc="4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10</a:t>
            </a:r>
            <a:r>
              <a:rPr dirty="0" baseline="27777" sz="1200" b="1">
                <a:solidFill>
                  <a:srgbClr val="D32E2E"/>
                </a:solidFill>
                <a:latin typeface="Arial"/>
                <a:cs typeface="Arial"/>
              </a:rPr>
              <a:t>−3</a:t>
            </a:r>
            <a:r>
              <a:rPr dirty="0" baseline="27777" sz="1200" spc="12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mol</a:t>
            </a:r>
            <a:r>
              <a:rPr dirty="0" sz="950" spc="4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D32E2E"/>
                </a:solidFill>
                <a:latin typeface="Arial"/>
                <a:cs typeface="Arial"/>
              </a:rPr>
              <a:t>CaCO</a:t>
            </a:r>
            <a:r>
              <a:rPr dirty="0" baseline="-17361" sz="1200" spc="-15" b="1">
                <a:solidFill>
                  <a:srgbClr val="D32E2E"/>
                </a:solidFill>
                <a:latin typeface="Arial"/>
                <a:cs typeface="Arial"/>
              </a:rPr>
              <a:t>3</a:t>
            </a:r>
            <a:endParaRPr baseline="-17361" sz="12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727950" y="7460615"/>
            <a:ext cx="4526280" cy="115252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6364">
              <a:lnSpc>
                <a:spcPct val="100000"/>
              </a:lnSpc>
              <a:spcBef>
                <a:spcPts val="680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900" spc="305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950" spc="-10" b="1">
                <a:solidFill>
                  <a:srgbClr val="4A0D4E"/>
                </a:solidFill>
                <a:latin typeface="Arial"/>
                <a:cs typeface="Arial"/>
              </a:rPr>
              <a:t>Two-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route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check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(calcium)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%Ca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[40.078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/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100.086]</a:t>
            </a:r>
            <a:r>
              <a:rPr dirty="0" sz="9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100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%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40.044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%</a:t>
            </a:r>
            <a:endParaRPr sz="9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8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Route</a:t>
            </a:r>
            <a:r>
              <a:rPr dirty="0" sz="950" spc="-1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A: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280.94</a:t>
            </a:r>
            <a:r>
              <a:rPr dirty="0" sz="9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mg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0.40044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112.50</a:t>
            </a:r>
            <a:r>
              <a:rPr dirty="0" sz="950" spc="55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596474"/>
                </a:solidFill>
                <a:latin typeface="Arial"/>
                <a:cs typeface="Arial"/>
              </a:rPr>
              <a:t>mg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Arial"/>
              <a:cs typeface="Arial"/>
            </a:endParaRPr>
          </a:p>
          <a:p>
            <a:pPr marL="63500">
              <a:lnSpc>
                <a:spcPts val="994"/>
              </a:lnSpc>
              <a:spcBef>
                <a:spcPts val="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Route</a:t>
            </a:r>
            <a:r>
              <a:rPr dirty="0" sz="950" spc="2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B:</a:t>
            </a:r>
            <a:r>
              <a:rPr dirty="0" sz="950" spc="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2.8070</a:t>
            </a:r>
            <a:r>
              <a:rPr dirty="0" sz="950" spc="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7777" sz="1200">
                <a:solidFill>
                  <a:srgbClr val="1B2433"/>
                </a:solidFill>
                <a:latin typeface="Arial"/>
                <a:cs typeface="Arial"/>
              </a:rPr>
              <a:t>−3</a:t>
            </a:r>
            <a:r>
              <a:rPr dirty="0" baseline="27777" sz="1200" spc="11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sz="950" spc="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43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baseline="52631" sz="1425" spc="4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baseline="52631" sz="1425" spc="4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Ca</a:t>
            </a:r>
            <a:r>
              <a:rPr dirty="0" baseline="52631" sz="1425" spc="64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43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40.078</a:t>
            </a:r>
            <a:r>
              <a:rPr dirty="0" baseline="52631" sz="1425" spc="4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g</a:t>
            </a:r>
            <a:r>
              <a:rPr dirty="0" baseline="52631" sz="1425" spc="65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4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1000</a:t>
            </a:r>
            <a:r>
              <a:rPr dirty="0" baseline="52631" sz="1425" spc="44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52631" sz="1425">
                <a:solidFill>
                  <a:srgbClr val="1B2433"/>
                </a:solidFill>
                <a:latin typeface="Arial"/>
                <a:cs typeface="Arial"/>
              </a:rPr>
              <a:t>mg</a:t>
            </a:r>
            <a:r>
              <a:rPr dirty="0" baseline="52631" sz="1425" spc="65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112.50</a:t>
            </a:r>
            <a:r>
              <a:rPr dirty="0" sz="950" spc="3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596474"/>
                </a:solidFill>
                <a:latin typeface="Arial"/>
                <a:cs typeface="Arial"/>
              </a:rPr>
              <a:t>mg</a:t>
            </a:r>
            <a:endParaRPr sz="950">
              <a:latin typeface="Arial"/>
              <a:cs typeface="Arial"/>
            </a:endParaRPr>
          </a:p>
          <a:p>
            <a:pPr marL="1873885">
              <a:lnSpc>
                <a:spcPts val="994"/>
              </a:lnSpc>
              <a:tabLst>
                <a:tab pos="2599055" algn="l"/>
                <a:tab pos="3383279" algn="l"/>
              </a:tabLst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	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	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B2433"/>
                </a:solidFill>
                <a:latin typeface="Arial"/>
                <a:cs typeface="Arial"/>
              </a:rPr>
              <a:t>g</a:t>
            </a:r>
            <a:endParaRPr sz="9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830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Both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routes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1.125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10</a:t>
            </a:r>
            <a:r>
              <a:rPr dirty="0" baseline="27777" sz="1200" b="1">
                <a:solidFill>
                  <a:srgbClr val="D32E2E"/>
                </a:solidFill>
                <a:latin typeface="Arial"/>
                <a:cs typeface="Arial"/>
              </a:rPr>
              <a:t>2</a:t>
            </a:r>
            <a:r>
              <a:rPr dirty="0" baseline="27777" sz="1200" spc="12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mg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Ca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32E2E"/>
                </a:solidFill>
                <a:latin typeface="Segoe UI Symbol"/>
                <a:cs typeface="Segoe UI Symbol"/>
              </a:rPr>
              <a:t>✔</a:t>
            </a:r>
            <a:r>
              <a:rPr dirty="0" sz="950" spc="95">
                <a:solidFill>
                  <a:srgbClr val="D32E2E"/>
                </a:solidFill>
                <a:latin typeface="Segoe UI Symbol"/>
                <a:cs typeface="Segoe UI Symbol"/>
              </a:rPr>
              <a:t> </a:t>
            </a:r>
            <a:r>
              <a:rPr dirty="0" sz="950" spc="-10" b="1">
                <a:solidFill>
                  <a:srgbClr val="D32E2E"/>
                </a:solidFill>
                <a:latin typeface="Arial"/>
                <a:cs typeface="Arial"/>
              </a:rPr>
              <a:t>agree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90524" y="8620124"/>
            <a:ext cx="1325245" cy="400050"/>
            <a:chOff x="390524" y="8620124"/>
            <a:chExt cx="1325245" cy="400050"/>
          </a:xfrm>
        </p:grpSpPr>
        <p:sp>
          <p:nvSpPr>
            <p:cNvPr id="74" name="object 74"/>
            <p:cNvSpPr/>
            <p:nvPr/>
          </p:nvSpPr>
          <p:spPr>
            <a:xfrm>
              <a:off x="1646783" y="8620124"/>
              <a:ext cx="69215" cy="19050"/>
            </a:xfrm>
            <a:custGeom>
              <a:avLst/>
              <a:gdLst/>
              <a:ahLst/>
              <a:cxnLst/>
              <a:rect l="l" t="t" r="r" b="b"/>
              <a:pathLst>
                <a:path w="69214" h="19050">
                  <a:moveTo>
                    <a:pt x="68907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8907" y="0"/>
                  </a:lnTo>
                  <a:lnTo>
                    <a:pt x="68907" y="19049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524" y="8829674"/>
              <a:ext cx="190500" cy="190499"/>
            </a:xfrm>
            <a:prstGeom prst="rect">
              <a:avLst/>
            </a:prstGeom>
          </p:spPr>
        </p:pic>
      </p:grpSp>
      <p:sp>
        <p:nvSpPr>
          <p:cNvPr id="77" name="object 77"/>
          <p:cNvSpPr txBox="1"/>
          <p:nvPr/>
        </p:nvSpPr>
        <p:spPr>
          <a:xfrm>
            <a:off x="453925" y="8826500"/>
            <a:ext cx="152527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900" spc="27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Moles</a:t>
            </a:r>
            <a:r>
              <a:rPr dirty="0" sz="950" spc="3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→</a:t>
            </a:r>
            <a:r>
              <a:rPr dirty="0" sz="950" spc="3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formula</a:t>
            </a:r>
            <a:r>
              <a:rPr dirty="0" sz="950" spc="3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4A0D4E"/>
                </a:solidFill>
                <a:latin typeface="Arial"/>
                <a:cs typeface="Arial"/>
              </a:rPr>
              <a:t>units</a:t>
            </a:r>
            <a:endParaRPr sz="9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63488" y="9077275"/>
            <a:ext cx="147637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6.022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140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76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7777" sz="1200">
                <a:solidFill>
                  <a:srgbClr val="1B2433"/>
                </a:solidFill>
                <a:latin typeface="Arial"/>
                <a:cs typeface="Arial"/>
              </a:rPr>
              <a:t>23</a:t>
            </a:r>
            <a:r>
              <a:rPr dirty="0" baseline="27777" sz="1200" spc="127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units</a:t>
            </a:r>
            <a:endParaRPr sz="95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200442" y="9258311"/>
            <a:ext cx="1246505" cy="152400"/>
          </a:xfrm>
          <a:custGeom>
            <a:avLst/>
            <a:gdLst/>
            <a:ahLst/>
            <a:cxnLst/>
            <a:rect l="l" t="t" r="r" b="b"/>
            <a:pathLst>
              <a:path w="1246505" h="152400">
                <a:moveTo>
                  <a:pt x="199580" y="0"/>
                </a:moveTo>
                <a:lnTo>
                  <a:pt x="0" y="0"/>
                </a:lnTo>
                <a:lnTo>
                  <a:pt x="0" y="19050"/>
                </a:lnTo>
                <a:lnTo>
                  <a:pt x="199580" y="19050"/>
                </a:lnTo>
                <a:lnTo>
                  <a:pt x="199580" y="0"/>
                </a:lnTo>
                <a:close/>
              </a:path>
              <a:path w="1246505" h="152400">
                <a:moveTo>
                  <a:pt x="1246136" y="133350"/>
                </a:moveTo>
                <a:lnTo>
                  <a:pt x="1046556" y="133350"/>
                </a:lnTo>
                <a:lnTo>
                  <a:pt x="1046556" y="152400"/>
                </a:lnTo>
                <a:lnTo>
                  <a:pt x="1246136" y="152400"/>
                </a:lnTo>
                <a:lnTo>
                  <a:pt x="1246136" y="133350"/>
                </a:lnTo>
                <a:close/>
              </a:path>
            </a:pathLst>
          </a:custGeom>
          <a:solidFill>
            <a:srgbClr val="D3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365124" y="9178925"/>
            <a:ext cx="5351145" cy="2978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ts val="1055"/>
              </a:lnSpc>
              <a:spcBef>
                <a:spcPts val="125"/>
              </a:spcBef>
              <a:tabLst>
                <a:tab pos="2691765" algn="l"/>
              </a:tabLst>
            </a:pP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2.8070</a:t>
            </a:r>
            <a:r>
              <a:rPr dirty="0" baseline="2923" sz="1425" spc="11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baseline="2923" sz="1425" spc="11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31250" sz="1200">
                <a:solidFill>
                  <a:srgbClr val="1B2433"/>
                </a:solidFill>
                <a:latin typeface="Arial"/>
                <a:cs typeface="Arial"/>
              </a:rPr>
              <a:t>−3</a:t>
            </a:r>
            <a:r>
              <a:rPr dirty="0" baseline="31250" sz="1200" spc="187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r>
              <a:rPr dirty="0" baseline="2923" sz="1425" spc="112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baseline="2923" sz="1425" spc="419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u="sng" baseline="2923" sz="1425">
                <a:solidFill>
                  <a:srgbClr val="1B2433"/>
                </a:solidFill>
                <a:uFill>
                  <a:solidFill>
                    <a:srgbClr val="1B243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baseline="2923" sz="1425" spc="-15">
                <a:solidFill>
                  <a:srgbClr val="1B2433"/>
                </a:solidFill>
                <a:latin typeface="Times New Roman"/>
                <a:cs typeface="Times New Roman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baseline="2923" sz="14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1.6904</a:t>
            </a:r>
            <a:r>
              <a:rPr dirty="0" sz="950" spc="4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×</a:t>
            </a:r>
            <a:r>
              <a:rPr dirty="0" sz="950" spc="4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10</a:t>
            </a:r>
            <a:r>
              <a:rPr dirty="0" baseline="27777" sz="1200">
                <a:solidFill>
                  <a:srgbClr val="596474"/>
                </a:solidFill>
                <a:latin typeface="Arial"/>
                <a:cs typeface="Arial"/>
              </a:rPr>
              <a:t>21</a:t>
            </a:r>
            <a:r>
              <a:rPr dirty="0" baseline="27777" sz="1200" spc="120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923" sz="1425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baseline="2923" sz="14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1.690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10</a:t>
            </a:r>
            <a:r>
              <a:rPr dirty="0" baseline="27777" sz="1200" b="1">
                <a:solidFill>
                  <a:srgbClr val="D32E2E"/>
                </a:solidFill>
                <a:latin typeface="Arial"/>
                <a:cs typeface="Arial"/>
              </a:rPr>
              <a:t>21</a:t>
            </a:r>
            <a:r>
              <a:rPr dirty="0" baseline="27777" sz="1200" spc="12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formula</a:t>
            </a:r>
            <a:r>
              <a:rPr dirty="0" sz="950" spc="40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units</a:t>
            </a:r>
            <a:endParaRPr sz="950">
              <a:latin typeface="Arial"/>
              <a:cs typeface="Arial"/>
            </a:endParaRPr>
          </a:p>
          <a:p>
            <a:pPr marL="1778000">
              <a:lnSpc>
                <a:spcPts val="1055"/>
              </a:lnSpc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791448" y="8743949"/>
            <a:ext cx="190500" cy="942975"/>
            <a:chOff x="7791448" y="8743949"/>
            <a:chExt cx="190500" cy="942975"/>
          </a:xfrm>
        </p:grpSpPr>
        <p:pic>
          <p:nvPicPr>
            <p:cNvPr id="100" name="object 10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1448" y="8743949"/>
              <a:ext cx="190500" cy="19049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1448" y="9496424"/>
              <a:ext cx="190500" cy="190499"/>
            </a:xfrm>
            <a:prstGeom prst="rect">
              <a:avLst/>
            </a:prstGeom>
          </p:spPr>
        </p:pic>
      </p:grpSp>
      <p:sp>
        <p:nvSpPr>
          <p:cNvPr id="102" name="object 102"/>
          <p:cNvSpPr txBox="1"/>
          <p:nvPr/>
        </p:nvSpPr>
        <p:spPr>
          <a:xfrm>
            <a:off x="7766050" y="8670289"/>
            <a:ext cx="5101590" cy="99695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72415" indent="-184150">
              <a:lnSpc>
                <a:spcPct val="100000"/>
              </a:lnSpc>
              <a:spcBef>
                <a:spcPts val="680"/>
              </a:spcBef>
              <a:buClr>
                <a:srgbClr val="FFFFFF"/>
              </a:buClr>
              <a:buSzPct val="94736"/>
              <a:buAutoNum type="arabicPlain" startAt="7"/>
              <a:tabLst>
                <a:tab pos="272415" algn="l"/>
              </a:tabLst>
            </a:pP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Reverse: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%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→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formula</a:t>
            </a:r>
            <a:r>
              <a:rPr dirty="0" sz="950" spc="5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(per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100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g)</a:t>
            </a:r>
            <a:endParaRPr sz="9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8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Ca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40.044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÷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40.078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0.99915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·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C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12.001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÷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12.011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0.99917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·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O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47.956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÷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15.999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B2433"/>
                </a:solidFill>
                <a:latin typeface="Arial"/>
                <a:cs typeface="Arial"/>
              </a:rPr>
              <a:t>2.9975</a:t>
            </a:r>
            <a:endParaRPr sz="9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8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÷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0.99915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Ca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1.000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: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C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1.000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: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O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3.000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D32E2E"/>
                </a:solidFill>
                <a:latin typeface="Arial"/>
                <a:cs typeface="Arial"/>
              </a:rPr>
              <a:t>CaCO</a:t>
            </a:r>
            <a:r>
              <a:rPr dirty="0" baseline="-17361" sz="1200" b="1">
                <a:solidFill>
                  <a:srgbClr val="D32E2E"/>
                </a:solidFill>
                <a:latin typeface="Arial"/>
                <a:cs typeface="Arial"/>
              </a:rPr>
              <a:t>3</a:t>
            </a:r>
            <a:r>
              <a:rPr dirty="0" baseline="-17361" sz="1200" spc="13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(empirical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molecular,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n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1)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950">
              <a:latin typeface="Arial"/>
              <a:cs typeface="Arial"/>
            </a:endParaRPr>
          </a:p>
          <a:p>
            <a:pPr marL="272415" indent="-184150">
              <a:lnSpc>
                <a:spcPct val="100000"/>
              </a:lnSpc>
              <a:buClr>
                <a:srgbClr val="FFFFFF"/>
              </a:buClr>
              <a:buSzPct val="94736"/>
              <a:buAutoNum type="arabicPlain" startAt="8"/>
              <a:tabLst>
                <a:tab pos="272415" algn="l"/>
              </a:tabLst>
            </a:pP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Scale-up,</a:t>
            </a:r>
            <a:r>
              <a:rPr dirty="0" sz="950" spc="9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4A0D4E"/>
                </a:solidFill>
                <a:latin typeface="Arial"/>
                <a:cs typeface="Arial"/>
              </a:rPr>
              <a:t>200</a:t>
            </a:r>
            <a:r>
              <a:rPr dirty="0" sz="950" spc="9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4A0D4E"/>
                </a:solidFill>
                <a:latin typeface="Arial"/>
                <a:cs typeface="Arial"/>
              </a:rPr>
              <a:t>cans</a:t>
            </a:r>
            <a:endParaRPr sz="95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457654" y="9744025"/>
            <a:ext cx="107315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2.8070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7777" sz="1200">
                <a:solidFill>
                  <a:srgbClr val="1B2433"/>
                </a:solidFill>
                <a:latin typeface="Arial"/>
                <a:cs typeface="Arial"/>
              </a:rPr>
              <a:t>−3</a:t>
            </a:r>
            <a:r>
              <a:rPr dirty="0" baseline="27777" sz="1200" spc="1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endParaRPr sz="9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1144398" y="9809491"/>
            <a:ext cx="1543050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1472565" algn="l"/>
              </a:tabLst>
            </a:pPr>
            <a:r>
              <a:rPr dirty="0" baseline="3472" sz="1200" spc="-37" b="1">
                <a:solidFill>
                  <a:srgbClr val="D32E2E"/>
                </a:solidFill>
                <a:latin typeface="Arial"/>
                <a:cs typeface="Arial"/>
              </a:rPr>
              <a:t>−1</a:t>
            </a:r>
            <a:r>
              <a:rPr dirty="0" baseline="3472" sz="1200" b="1">
                <a:solidFill>
                  <a:srgbClr val="D32E2E"/>
                </a:solidFill>
                <a:latin typeface="Arial"/>
                <a:cs typeface="Arial"/>
              </a:rPr>
              <a:t>	</a:t>
            </a:r>
            <a:r>
              <a:rPr dirty="0" sz="800" spc="-50">
                <a:solidFill>
                  <a:srgbClr val="1B2433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8032546" y="9925061"/>
            <a:ext cx="1106805" cy="152400"/>
          </a:xfrm>
          <a:custGeom>
            <a:avLst/>
            <a:gdLst/>
            <a:ahLst/>
            <a:cxnLst/>
            <a:rect l="l" t="t" r="r" b="b"/>
            <a:pathLst>
              <a:path w="1106804" h="152400">
                <a:moveTo>
                  <a:pt x="261632" y="0"/>
                </a:moveTo>
                <a:lnTo>
                  <a:pt x="0" y="0"/>
                </a:lnTo>
                <a:lnTo>
                  <a:pt x="0" y="19050"/>
                </a:lnTo>
                <a:lnTo>
                  <a:pt x="261632" y="19050"/>
                </a:lnTo>
                <a:lnTo>
                  <a:pt x="261632" y="0"/>
                </a:lnTo>
                <a:close/>
              </a:path>
              <a:path w="1106804" h="152400">
                <a:moveTo>
                  <a:pt x="1106678" y="133350"/>
                </a:moveTo>
                <a:lnTo>
                  <a:pt x="906957" y="133350"/>
                </a:lnTo>
                <a:lnTo>
                  <a:pt x="906957" y="152400"/>
                </a:lnTo>
                <a:lnTo>
                  <a:pt x="1106678" y="152400"/>
                </a:lnTo>
                <a:lnTo>
                  <a:pt x="1106678" y="133350"/>
                </a:lnTo>
                <a:close/>
              </a:path>
            </a:pathLst>
          </a:custGeom>
          <a:solidFill>
            <a:srgbClr val="D3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 txBox="1"/>
          <p:nvPr/>
        </p:nvSpPr>
        <p:spPr>
          <a:xfrm>
            <a:off x="7766050" y="9839573"/>
            <a:ext cx="5091430" cy="304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ts val="1080"/>
              </a:lnSpc>
              <a:spcBef>
                <a:spcPts val="125"/>
              </a:spcBef>
              <a:tabLst>
                <a:tab pos="1786889" algn="l"/>
                <a:tab pos="3529965" algn="l"/>
              </a:tabLst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200 cans ×</a:t>
            </a:r>
            <a:r>
              <a:rPr dirty="0" sz="950" spc="18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u="sng" sz="950">
                <a:solidFill>
                  <a:srgbClr val="1B2433"/>
                </a:solidFill>
                <a:uFill>
                  <a:solidFill>
                    <a:srgbClr val="1B2433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950" spc="-55">
                <a:solidFill>
                  <a:srgbClr val="1B2433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=</a:t>
            </a:r>
            <a:r>
              <a:rPr dirty="0" sz="9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0.56141</a:t>
            </a:r>
            <a:r>
              <a:rPr dirty="0" sz="950" spc="45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96474"/>
                </a:solidFill>
                <a:latin typeface="Arial"/>
                <a:cs typeface="Arial"/>
              </a:rPr>
              <a:t>mol</a:t>
            </a:r>
            <a:r>
              <a:rPr dirty="0" sz="950" spc="45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→</a:t>
            </a:r>
            <a:r>
              <a:rPr dirty="0" sz="950" spc="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5.614</a:t>
            </a:r>
            <a:r>
              <a:rPr dirty="0" baseline="2923" sz="1425" spc="7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baseline="2923" sz="1425" spc="67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10	mol</a:t>
            </a:r>
            <a:r>
              <a:rPr dirty="0" baseline="2923" sz="1425" spc="5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2923" sz="1425" b="1">
                <a:solidFill>
                  <a:srgbClr val="D32E2E"/>
                </a:solidFill>
                <a:latin typeface="Arial"/>
                <a:cs typeface="Arial"/>
              </a:rPr>
              <a:t>CaCO</a:t>
            </a:r>
            <a:r>
              <a:rPr dirty="0" baseline="-17361" sz="1200" b="1">
                <a:solidFill>
                  <a:srgbClr val="D32E2E"/>
                </a:solidFill>
                <a:latin typeface="Arial"/>
                <a:cs typeface="Arial"/>
              </a:rPr>
              <a:t>3</a:t>
            </a:r>
            <a:r>
              <a:rPr dirty="0" baseline="-17361" sz="1200" spc="11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(5.619</a:t>
            </a:r>
            <a:r>
              <a:rPr dirty="0" sz="950" spc="4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950" spc="3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sz="950" spc="140">
                <a:solidFill>
                  <a:srgbClr val="1B2433"/>
                </a:solidFill>
                <a:latin typeface="Arial"/>
                <a:cs typeface="Arial"/>
              </a:rPr>
              <a:t> 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g)</a:t>
            </a:r>
            <a:endParaRPr sz="950">
              <a:latin typeface="Arial"/>
              <a:cs typeface="Arial"/>
            </a:endParaRPr>
          </a:p>
          <a:p>
            <a:pPr marL="1069975">
              <a:lnSpc>
                <a:spcPts val="1080"/>
              </a:lnSpc>
            </a:pPr>
            <a:r>
              <a:rPr dirty="0" sz="950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sz="950" spc="2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B2433"/>
                </a:solidFill>
                <a:latin typeface="Arial"/>
                <a:cs typeface="Arial"/>
              </a:rPr>
              <a:t>can</a:t>
            </a:r>
            <a:endParaRPr sz="950">
              <a:latin typeface="Arial"/>
              <a:cs typeface="Arial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228599" y="10544174"/>
            <a:ext cx="14782800" cy="1800225"/>
          </a:xfrm>
          <a:custGeom>
            <a:avLst/>
            <a:gdLst/>
            <a:ahLst/>
            <a:cxnLst/>
            <a:rect l="l" t="t" r="r" b="b"/>
            <a:pathLst>
              <a:path w="14782800" h="1800225">
                <a:moveTo>
                  <a:pt x="14782798" y="1800224"/>
                </a:moveTo>
                <a:lnTo>
                  <a:pt x="0" y="1800224"/>
                </a:lnTo>
                <a:lnTo>
                  <a:pt x="0" y="0"/>
                </a:lnTo>
                <a:lnTo>
                  <a:pt x="14782798" y="0"/>
                </a:lnTo>
                <a:lnTo>
                  <a:pt x="14782798" y="1800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242887" y="10558461"/>
            <a:ext cx="14754225" cy="1771650"/>
          </a:xfrm>
          <a:prstGeom prst="rect">
            <a:avLst/>
          </a:prstGeom>
          <a:ln w="28574">
            <a:solidFill>
              <a:srgbClr val="003399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935"/>
              </a:spcBef>
            </a:pPr>
            <a:r>
              <a:rPr dirty="0" sz="1050" spc="45" b="1">
                <a:solidFill>
                  <a:srgbClr val="4A0D4E"/>
                </a:solidFill>
                <a:latin typeface="Arial"/>
                <a:cs typeface="Arial"/>
              </a:rPr>
              <a:t>SECTION</a:t>
            </a:r>
            <a:r>
              <a:rPr dirty="0" sz="1050" spc="11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F</a:t>
            </a:r>
            <a:r>
              <a:rPr dirty="0" sz="1050" spc="114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·</a:t>
            </a:r>
            <a:r>
              <a:rPr dirty="0" sz="1050" spc="-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MACRO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03399"/>
                </a:solidFill>
                <a:latin typeface="Arial"/>
                <a:cs typeface="Arial"/>
              </a:rPr>
              <a:t>SCENARIO</a:t>
            </a:r>
            <a:r>
              <a:rPr dirty="0" sz="1050" spc="-10" b="1">
                <a:solidFill>
                  <a:srgbClr val="003399"/>
                </a:solidFill>
                <a:latin typeface="Arial"/>
                <a:cs typeface="Arial"/>
              </a:rPr>
              <a:t> SCALE-</a:t>
            </a:r>
            <a:r>
              <a:rPr dirty="0" sz="1050" spc="-25" b="1">
                <a:solidFill>
                  <a:srgbClr val="003399"/>
                </a:solidFill>
                <a:latin typeface="Arial"/>
                <a:cs typeface="Arial"/>
              </a:rPr>
              <a:t>UP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04812" y="10929936"/>
            <a:ext cx="3505200" cy="1257300"/>
          </a:xfrm>
          <a:prstGeom prst="rect">
            <a:avLst/>
          </a:prstGeom>
          <a:solidFill>
            <a:srgbClr val="F4F5F9"/>
          </a:solidFill>
          <a:ln w="28574">
            <a:solidFill>
              <a:srgbClr val="003399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785"/>
              </a:spcBef>
            </a:pP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1</a:t>
            </a:r>
            <a:r>
              <a:rPr dirty="0" sz="900" spc="-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· ONE 200 mL</a:t>
            </a:r>
            <a:r>
              <a:rPr dirty="0" sz="900" spc="-20" b="1">
                <a:solidFill>
                  <a:srgbClr val="4A0D4E"/>
                </a:solidFill>
                <a:latin typeface="Arial"/>
                <a:cs typeface="Arial"/>
              </a:rPr>
              <a:t> PACK</a:t>
            </a:r>
            <a:endParaRPr sz="900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620"/>
              </a:spcBef>
            </a:pPr>
            <a:r>
              <a:rPr dirty="0" sz="1850" b="1">
                <a:solidFill>
                  <a:srgbClr val="003399"/>
                </a:solidFill>
                <a:latin typeface="Arial"/>
                <a:cs typeface="Arial"/>
              </a:rPr>
              <a:t>1.690</a:t>
            </a:r>
            <a:r>
              <a:rPr dirty="0" sz="1850" spc="3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3399"/>
                </a:solidFill>
                <a:latin typeface="Arial"/>
                <a:cs typeface="Arial"/>
              </a:rPr>
              <a:t>×</a:t>
            </a:r>
            <a:r>
              <a:rPr dirty="0" sz="1850" spc="3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003399"/>
                </a:solidFill>
                <a:latin typeface="Arial"/>
                <a:cs typeface="Arial"/>
              </a:rPr>
              <a:t>10</a:t>
            </a:r>
            <a:r>
              <a:rPr dirty="0" baseline="25089" sz="2325" spc="-30" b="1">
                <a:solidFill>
                  <a:srgbClr val="003399"/>
                </a:solidFill>
                <a:latin typeface="Arial"/>
                <a:cs typeface="Arial"/>
              </a:rPr>
              <a:t>21</a:t>
            </a:r>
            <a:endParaRPr baseline="25089" sz="2325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580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formula units of CaCO</a:t>
            </a:r>
            <a:r>
              <a:rPr dirty="0" baseline="-18518" sz="1125">
                <a:solidFill>
                  <a:srgbClr val="1B2433"/>
                </a:solidFill>
                <a:latin typeface="Arial"/>
                <a:cs typeface="Arial"/>
              </a:rPr>
              <a:t>3</a:t>
            </a:r>
            <a:r>
              <a:rPr dirty="0" baseline="-18518" sz="11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in one can (2.807 × 10</a:t>
            </a:r>
            <a:r>
              <a:rPr dirty="0" baseline="25925" sz="1125">
                <a:solidFill>
                  <a:srgbClr val="1B2433"/>
                </a:solidFill>
                <a:latin typeface="Arial"/>
                <a:cs typeface="Arial"/>
              </a:rPr>
              <a:t>−3</a:t>
            </a:r>
            <a:r>
              <a:rPr dirty="0" baseline="25925" sz="11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B2433"/>
                </a:solidFill>
                <a:latin typeface="Arial"/>
                <a:cs typeface="Arial"/>
              </a:rPr>
              <a:t>mol)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052887" y="10929936"/>
            <a:ext cx="3495675" cy="1257300"/>
          </a:xfrm>
          <a:prstGeom prst="rect">
            <a:avLst/>
          </a:prstGeom>
          <a:solidFill>
            <a:srgbClr val="F4F5F9"/>
          </a:solidFill>
          <a:ln w="28574">
            <a:solidFill>
              <a:srgbClr val="003399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785"/>
              </a:spcBef>
            </a:pP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2</a:t>
            </a:r>
            <a:r>
              <a:rPr dirty="0" sz="900" spc="-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· EXAM WEEK, 200 </a:t>
            </a:r>
            <a:r>
              <a:rPr dirty="0" sz="900" spc="-20" b="1">
                <a:solidFill>
                  <a:srgbClr val="4A0D4E"/>
                </a:solidFill>
                <a:latin typeface="Arial"/>
                <a:cs typeface="Arial"/>
              </a:rPr>
              <a:t>CANS</a:t>
            </a:r>
            <a:endParaRPr sz="900">
              <a:latin typeface="Arial"/>
              <a:cs typeface="Arial"/>
            </a:endParaRPr>
          </a:p>
          <a:p>
            <a:pPr marL="123825">
              <a:lnSpc>
                <a:spcPct val="100000"/>
              </a:lnSpc>
              <a:spcBef>
                <a:spcPts val="620"/>
              </a:spcBef>
            </a:pPr>
            <a:r>
              <a:rPr dirty="0" sz="1850" b="1">
                <a:solidFill>
                  <a:srgbClr val="003399"/>
                </a:solidFill>
                <a:latin typeface="Arial"/>
                <a:cs typeface="Arial"/>
              </a:rPr>
              <a:t>3.381</a:t>
            </a:r>
            <a:r>
              <a:rPr dirty="0" sz="1850" spc="3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3399"/>
                </a:solidFill>
                <a:latin typeface="Arial"/>
                <a:cs typeface="Arial"/>
              </a:rPr>
              <a:t>×</a:t>
            </a:r>
            <a:r>
              <a:rPr dirty="0" sz="1850" spc="3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003399"/>
                </a:solidFill>
                <a:latin typeface="Arial"/>
                <a:cs typeface="Arial"/>
              </a:rPr>
              <a:t>10</a:t>
            </a:r>
            <a:r>
              <a:rPr dirty="0" baseline="25089" sz="2325" spc="-30" b="1">
                <a:solidFill>
                  <a:srgbClr val="003399"/>
                </a:solidFill>
                <a:latin typeface="Arial"/>
                <a:cs typeface="Arial"/>
              </a:rPr>
              <a:t>23</a:t>
            </a:r>
            <a:endParaRPr baseline="25089" sz="2325">
              <a:latin typeface="Arial"/>
              <a:cs typeface="Arial"/>
            </a:endParaRPr>
          </a:p>
          <a:p>
            <a:pPr marL="123825">
              <a:lnSpc>
                <a:spcPct val="100000"/>
              </a:lnSpc>
              <a:spcBef>
                <a:spcPts val="580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formula units; 5.614 × 10</a:t>
            </a:r>
            <a:r>
              <a:rPr dirty="0" baseline="25925" sz="1125">
                <a:solidFill>
                  <a:srgbClr val="1B2433"/>
                </a:solidFill>
                <a:latin typeface="Arial"/>
                <a:cs typeface="Arial"/>
              </a:rPr>
              <a:t>−1</a:t>
            </a:r>
            <a:r>
              <a:rPr dirty="0" baseline="25925" sz="11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mol, about 5.619 × 10</a:t>
            </a:r>
            <a:r>
              <a:rPr dirty="0" baseline="25925" sz="1125">
                <a:solidFill>
                  <a:srgbClr val="1B2433"/>
                </a:solidFill>
                <a:latin typeface="Arial"/>
                <a:cs typeface="Arial"/>
              </a:rPr>
              <a:t>1</a:t>
            </a:r>
            <a:r>
              <a:rPr dirty="0" baseline="25925" sz="11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g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8518" sz="1125" spc="-15">
                <a:solidFill>
                  <a:srgbClr val="1B2433"/>
                </a:solidFill>
                <a:latin typeface="Arial"/>
                <a:cs typeface="Arial"/>
              </a:rPr>
              <a:t>3</a:t>
            </a:r>
            <a:endParaRPr baseline="-18518" sz="1125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691436" y="10929936"/>
            <a:ext cx="3505200" cy="1257300"/>
          </a:xfrm>
          <a:prstGeom prst="rect">
            <a:avLst/>
          </a:prstGeom>
          <a:solidFill>
            <a:srgbClr val="F4F5F9"/>
          </a:solidFill>
          <a:ln w="28574">
            <a:solidFill>
              <a:srgbClr val="003399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128270">
              <a:lnSpc>
                <a:spcPct val="100000"/>
              </a:lnSpc>
              <a:spcBef>
                <a:spcPts val="785"/>
              </a:spcBef>
            </a:pP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3 · </a:t>
            </a:r>
            <a:r>
              <a:rPr dirty="0" sz="900" spc="-20" b="1">
                <a:solidFill>
                  <a:srgbClr val="4A0D4E"/>
                </a:solidFill>
                <a:latin typeface="Arial"/>
                <a:cs typeface="Arial"/>
              </a:rPr>
              <a:t>DEPARTMENT,</a:t>
            </a: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 ONE</a:t>
            </a:r>
            <a:r>
              <a:rPr dirty="0" sz="900" spc="-20" b="1">
                <a:solidFill>
                  <a:srgbClr val="4A0D4E"/>
                </a:solidFill>
                <a:latin typeface="Arial"/>
                <a:cs typeface="Arial"/>
              </a:rPr>
              <a:t> YEAR</a:t>
            </a:r>
            <a:endParaRPr sz="900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620"/>
              </a:spcBef>
            </a:pPr>
            <a:r>
              <a:rPr dirty="0" sz="1850" b="1">
                <a:solidFill>
                  <a:srgbClr val="003399"/>
                </a:solidFill>
                <a:latin typeface="Arial"/>
                <a:cs typeface="Arial"/>
              </a:rPr>
              <a:t>6.170</a:t>
            </a:r>
            <a:r>
              <a:rPr dirty="0" sz="1850" spc="3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003399"/>
                </a:solidFill>
                <a:latin typeface="Arial"/>
                <a:cs typeface="Arial"/>
              </a:rPr>
              <a:t>×</a:t>
            </a:r>
            <a:r>
              <a:rPr dirty="0" sz="1850" spc="3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003399"/>
                </a:solidFill>
                <a:latin typeface="Arial"/>
                <a:cs typeface="Arial"/>
              </a:rPr>
              <a:t>10</a:t>
            </a:r>
            <a:r>
              <a:rPr dirty="0" baseline="25089" sz="2325" spc="-30" b="1">
                <a:solidFill>
                  <a:srgbClr val="003399"/>
                </a:solidFill>
                <a:latin typeface="Arial"/>
                <a:cs typeface="Arial"/>
              </a:rPr>
              <a:t>25</a:t>
            </a:r>
            <a:endParaRPr baseline="25089" sz="2325">
              <a:latin typeface="Arial"/>
              <a:cs typeface="Arial"/>
            </a:endParaRPr>
          </a:p>
          <a:p>
            <a:pPr marL="128270" marR="238125">
              <a:lnSpc>
                <a:spcPct val="125000"/>
              </a:lnSpc>
              <a:spcBef>
                <a:spcPts val="310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formula units; 1.025 × 10</a:t>
            </a:r>
            <a:r>
              <a:rPr dirty="0" baseline="25925" sz="1125">
                <a:solidFill>
                  <a:srgbClr val="1B2433"/>
                </a:solidFill>
                <a:latin typeface="Arial"/>
                <a:cs typeface="Arial"/>
              </a:rPr>
              <a:t>2</a:t>
            </a:r>
            <a:r>
              <a:rPr dirty="0" baseline="25925" sz="11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mol, about</a:t>
            </a:r>
            <a:r>
              <a:rPr dirty="0" sz="900" spc="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1.025 × 10</a:t>
            </a:r>
            <a:r>
              <a:rPr dirty="0" baseline="25925" sz="1125">
                <a:solidFill>
                  <a:srgbClr val="1B2433"/>
                </a:solidFill>
                <a:latin typeface="Arial"/>
                <a:cs typeface="Arial"/>
              </a:rPr>
              <a:t>4</a:t>
            </a:r>
            <a:r>
              <a:rPr dirty="0" baseline="25925" sz="1125" spc="6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g.</a:t>
            </a:r>
            <a:r>
              <a:rPr dirty="0" sz="900" spc="-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Assumes </a:t>
            </a: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100 cans/day × 365 days (counts </a:t>
            </a:r>
            <a:r>
              <a:rPr dirty="0" sz="900" spc="-10">
                <a:solidFill>
                  <a:srgbClr val="1B2433"/>
                </a:solidFill>
                <a:latin typeface="Arial"/>
                <a:cs typeface="Arial"/>
              </a:rPr>
              <a:t>exact).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11325224" y="10915649"/>
            <a:ext cx="3524250" cy="1285875"/>
            <a:chOff x="11325224" y="10915649"/>
            <a:chExt cx="3524250" cy="1285875"/>
          </a:xfrm>
        </p:grpSpPr>
        <p:sp>
          <p:nvSpPr>
            <p:cNvPr id="113" name="object 113"/>
            <p:cNvSpPr/>
            <p:nvPr/>
          </p:nvSpPr>
          <p:spPr>
            <a:xfrm>
              <a:off x="11325224" y="10915649"/>
              <a:ext cx="3524250" cy="1285875"/>
            </a:xfrm>
            <a:custGeom>
              <a:avLst/>
              <a:gdLst/>
              <a:ahLst/>
              <a:cxnLst/>
              <a:rect l="l" t="t" r="r" b="b"/>
              <a:pathLst>
                <a:path w="3524250" h="1285875">
                  <a:moveTo>
                    <a:pt x="3524249" y="1285874"/>
                  </a:moveTo>
                  <a:lnTo>
                    <a:pt x="0" y="1285874"/>
                  </a:lnTo>
                  <a:lnTo>
                    <a:pt x="0" y="0"/>
                  </a:lnTo>
                  <a:lnTo>
                    <a:pt x="3524249" y="0"/>
                  </a:lnTo>
                  <a:lnTo>
                    <a:pt x="3524249" y="1285874"/>
                  </a:lnTo>
                  <a:close/>
                </a:path>
              </a:pathLst>
            </a:custGeom>
            <a:solidFill>
              <a:srgbClr val="FFF9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1339511" y="10929936"/>
              <a:ext cx="3495675" cy="1257300"/>
            </a:xfrm>
            <a:custGeom>
              <a:avLst/>
              <a:gdLst/>
              <a:ahLst/>
              <a:cxnLst/>
              <a:rect l="l" t="t" r="r" b="b"/>
              <a:pathLst>
                <a:path w="3495675" h="1257300">
                  <a:moveTo>
                    <a:pt x="0" y="0"/>
                  </a:moveTo>
                  <a:lnTo>
                    <a:pt x="3495674" y="0"/>
                  </a:lnTo>
                  <a:lnTo>
                    <a:pt x="3495674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CC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 txBox="1"/>
          <p:nvPr/>
        </p:nvSpPr>
        <p:spPr>
          <a:xfrm>
            <a:off x="11437936" y="10981002"/>
            <a:ext cx="1793239" cy="56007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4</a:t>
            </a:r>
            <a:r>
              <a:rPr dirty="0" sz="900" spc="-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· THE ONE-MOLE </a:t>
            </a:r>
            <a:r>
              <a:rPr dirty="0" sz="900" spc="-10" b="1">
                <a:solidFill>
                  <a:srgbClr val="4A0D4E"/>
                </a:solidFill>
                <a:latin typeface="Arial"/>
                <a:cs typeface="Arial"/>
              </a:rPr>
              <a:t>BOUNDARY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20"/>
              </a:spcBef>
            </a:pPr>
            <a:r>
              <a:rPr dirty="0" sz="1850" b="1">
                <a:solidFill>
                  <a:srgbClr val="1B2433"/>
                </a:solidFill>
                <a:latin typeface="Arial"/>
                <a:cs typeface="Arial"/>
              </a:rPr>
              <a:t>3.56</a:t>
            </a:r>
            <a:r>
              <a:rPr dirty="0" sz="1850" spc="2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1850" spc="2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850" b="1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5089" sz="2325" b="1">
                <a:solidFill>
                  <a:srgbClr val="1B2433"/>
                </a:solidFill>
                <a:latin typeface="Arial"/>
                <a:cs typeface="Arial"/>
              </a:rPr>
              <a:t>2</a:t>
            </a:r>
            <a:r>
              <a:rPr dirty="0" baseline="25089" sz="2325" spc="172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850" spc="-20" b="1">
                <a:solidFill>
                  <a:srgbClr val="1B2433"/>
                </a:solidFill>
                <a:latin typeface="Arial"/>
                <a:cs typeface="Arial"/>
              </a:rPr>
              <a:t>cans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1463336" y="11646495"/>
            <a:ext cx="5499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1.00 mol </a:t>
            </a:r>
            <a:r>
              <a:rPr dirty="0" sz="900" spc="-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endParaRPr sz="900">
              <a:latin typeface="Arial"/>
              <a:cs typeface="Arial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2049124" y="11744324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499" y="9524"/>
                </a:moveTo>
                <a:lnTo>
                  <a:pt x="0" y="9524"/>
                </a:lnTo>
                <a:lnTo>
                  <a:pt x="0" y="0"/>
                </a:lnTo>
                <a:lnTo>
                  <a:pt x="571499" y="0"/>
                </a:lnTo>
                <a:lnTo>
                  <a:pt x="571499" y="9524"/>
                </a:lnTo>
                <a:close/>
              </a:path>
            </a:pathLst>
          </a:custGeom>
          <a:solidFill>
            <a:srgbClr val="1B24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12079633" y="11516359"/>
            <a:ext cx="521334" cy="3873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100.086 </a:t>
            </a:r>
            <a:r>
              <a:rPr dirty="0" sz="900" spc="-50">
                <a:solidFill>
                  <a:srgbClr val="1B2433"/>
                </a:solidFill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  <a:p>
            <a:pPr marL="114300">
              <a:lnSpc>
                <a:spcPct val="100000"/>
              </a:lnSpc>
              <a:spcBef>
                <a:spcPts val="34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 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mol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2667560" y="11646495"/>
            <a:ext cx="800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1B2433"/>
                </a:solidFill>
                <a:latin typeface="Arial"/>
                <a:cs typeface="Arial"/>
              </a:rPr>
              <a:t>×</a:t>
            </a:r>
            <a:endParaRPr sz="900">
              <a:latin typeface="Arial"/>
              <a:cs typeface="Arial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12782549" y="11744324"/>
            <a:ext cx="600075" cy="9525"/>
          </a:xfrm>
          <a:custGeom>
            <a:avLst/>
            <a:gdLst/>
            <a:ahLst/>
            <a:cxnLst/>
            <a:rect l="l" t="t" r="r" b="b"/>
            <a:pathLst>
              <a:path w="600075" h="9525">
                <a:moveTo>
                  <a:pt x="600074" y="9524"/>
                </a:moveTo>
                <a:lnTo>
                  <a:pt x="0" y="9524"/>
                </a:lnTo>
                <a:lnTo>
                  <a:pt x="0" y="0"/>
                </a:lnTo>
                <a:lnTo>
                  <a:pt x="600074" y="0"/>
                </a:lnTo>
                <a:lnTo>
                  <a:pt x="600074" y="9524"/>
                </a:lnTo>
                <a:close/>
              </a:path>
            </a:pathLst>
          </a:custGeom>
          <a:solidFill>
            <a:srgbClr val="1B24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 txBox="1"/>
          <p:nvPr/>
        </p:nvSpPr>
        <p:spPr>
          <a:xfrm>
            <a:off x="12813803" y="11516359"/>
            <a:ext cx="553085" cy="3873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1 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can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0.280 94 </a:t>
            </a:r>
            <a:r>
              <a:rPr dirty="0" sz="900" spc="-50">
                <a:solidFill>
                  <a:srgbClr val="1B2433"/>
                </a:solidFill>
                <a:latin typeface="Arial"/>
                <a:cs typeface="Arial"/>
              </a:rPr>
              <a:t>g</a:t>
            </a:r>
            <a:endParaRPr sz="9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3433431" y="11646495"/>
            <a:ext cx="12680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= 356.25 cans (3 s.f., </a:t>
            </a:r>
            <a:r>
              <a:rPr dirty="0" sz="900" spc="-25">
                <a:solidFill>
                  <a:srgbClr val="1B2433"/>
                </a:solidFill>
                <a:latin typeface="Arial"/>
                <a:cs typeface="Arial"/>
              </a:rPr>
              <a:t>set</a:t>
            </a:r>
            <a:endParaRPr sz="9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1463336" y="11903075"/>
            <a:ext cx="641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B2433"/>
                </a:solidFill>
                <a:latin typeface="Arial"/>
                <a:cs typeface="Arial"/>
              </a:rPr>
              <a:t>by 1.00 </a:t>
            </a:r>
            <a:r>
              <a:rPr dirty="0" sz="900" spc="-20">
                <a:solidFill>
                  <a:srgbClr val="1B2433"/>
                </a:solidFill>
                <a:latin typeface="Arial"/>
                <a:cs typeface="Arial"/>
              </a:rPr>
              <a:t>mol)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228599" y="12477749"/>
            <a:ext cx="7324725" cy="1362075"/>
            <a:chOff x="228599" y="12477749"/>
            <a:chExt cx="7324725" cy="1362075"/>
          </a:xfrm>
        </p:grpSpPr>
        <p:sp>
          <p:nvSpPr>
            <p:cNvPr id="125" name="object 125"/>
            <p:cNvSpPr/>
            <p:nvPr/>
          </p:nvSpPr>
          <p:spPr>
            <a:xfrm>
              <a:off x="228599" y="12477749"/>
              <a:ext cx="7324725" cy="1362075"/>
            </a:xfrm>
            <a:custGeom>
              <a:avLst/>
              <a:gdLst/>
              <a:ahLst/>
              <a:cxnLst/>
              <a:rect l="l" t="t" r="r" b="b"/>
              <a:pathLst>
                <a:path w="7324725" h="1362075">
                  <a:moveTo>
                    <a:pt x="7324724" y="1362074"/>
                  </a:moveTo>
                  <a:lnTo>
                    <a:pt x="0" y="1362074"/>
                  </a:lnTo>
                  <a:lnTo>
                    <a:pt x="0" y="0"/>
                  </a:lnTo>
                  <a:lnTo>
                    <a:pt x="7324724" y="0"/>
                  </a:lnTo>
                  <a:lnTo>
                    <a:pt x="7324724" y="1362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390524" y="13192124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4" y="504824"/>
                  </a:moveTo>
                  <a:lnTo>
                    <a:pt x="0" y="504824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04824"/>
                  </a:lnTo>
                  <a:close/>
                </a:path>
              </a:pathLst>
            </a:custGeom>
            <a:solidFill>
              <a:srgbClr val="D32E2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>
            <a:off x="242887" y="12492036"/>
            <a:ext cx="7296150" cy="1333500"/>
          </a:xfrm>
          <a:prstGeom prst="rect">
            <a:avLst/>
          </a:prstGeom>
          <a:ln w="28574">
            <a:solidFill>
              <a:srgbClr val="FFCC00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935"/>
              </a:spcBef>
            </a:pPr>
            <a:r>
              <a:rPr dirty="0" sz="1050" spc="45" b="1">
                <a:solidFill>
                  <a:srgbClr val="4A0D4E"/>
                </a:solidFill>
                <a:latin typeface="Arial"/>
                <a:cs typeface="Arial"/>
              </a:rPr>
              <a:t>SECTION</a:t>
            </a:r>
            <a:r>
              <a:rPr dirty="0" sz="1050" spc="13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G</a:t>
            </a:r>
            <a:r>
              <a:rPr dirty="0" sz="1050" spc="13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·</a:t>
            </a:r>
            <a:r>
              <a:rPr dirty="0" sz="1050" spc="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SIGNIFICANT</a:t>
            </a:r>
            <a:r>
              <a:rPr dirty="0" sz="1050" spc="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FIGURES</a:t>
            </a:r>
            <a:r>
              <a:rPr dirty="0" sz="1050" spc="-3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4A0D4E"/>
                </a:solidFill>
                <a:latin typeface="Arial"/>
                <a:cs typeface="Arial"/>
              </a:rPr>
              <a:t>AUDIT</a:t>
            </a:r>
            <a:endParaRPr sz="105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690"/>
              </a:spcBef>
              <a:tabLst>
                <a:tab pos="2254885" algn="l"/>
              </a:tabLst>
            </a:pPr>
            <a:r>
              <a:rPr dirty="0" baseline="2645" sz="1575">
                <a:solidFill>
                  <a:srgbClr val="1B2433"/>
                </a:solidFill>
                <a:latin typeface="Arial"/>
                <a:cs typeface="Arial"/>
              </a:rPr>
              <a:t>Calculator:</a:t>
            </a:r>
            <a:r>
              <a:rPr dirty="0" baseline="2645" sz="1575" spc="-3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596474"/>
                </a:solidFill>
                <a:latin typeface="Arial"/>
                <a:cs typeface="Arial"/>
              </a:rPr>
              <a:t>1.690</a:t>
            </a:r>
            <a:r>
              <a:rPr dirty="0" sz="1050" spc="-15" b="1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596474"/>
                </a:solidFill>
                <a:latin typeface="Arial"/>
                <a:cs typeface="Arial"/>
              </a:rPr>
              <a:t>43</a:t>
            </a:r>
            <a:r>
              <a:rPr dirty="0" sz="1050" spc="-20" b="1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596474"/>
                </a:solidFill>
                <a:latin typeface="Arial"/>
                <a:cs typeface="Arial"/>
              </a:rPr>
              <a:t>×</a:t>
            </a:r>
            <a:r>
              <a:rPr dirty="0" sz="1050" spc="-15" b="1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596474"/>
                </a:solidFill>
                <a:latin typeface="Arial"/>
                <a:cs typeface="Arial"/>
              </a:rPr>
              <a:t>10</a:t>
            </a:r>
            <a:r>
              <a:rPr dirty="0" baseline="26143" sz="1275" b="1">
                <a:solidFill>
                  <a:srgbClr val="596474"/>
                </a:solidFill>
                <a:latin typeface="Arial"/>
                <a:cs typeface="Arial"/>
              </a:rPr>
              <a:t>21</a:t>
            </a:r>
            <a:r>
              <a:rPr dirty="0" baseline="26143" sz="1275" spc="52" b="1">
                <a:solidFill>
                  <a:srgbClr val="596474"/>
                </a:solidFill>
                <a:latin typeface="Arial"/>
                <a:cs typeface="Arial"/>
              </a:rPr>
              <a:t> </a:t>
            </a:r>
            <a:r>
              <a:rPr dirty="0" baseline="2645" sz="1575" spc="-15">
                <a:solidFill>
                  <a:srgbClr val="1B2433"/>
                </a:solidFill>
                <a:latin typeface="Arial"/>
                <a:cs typeface="Arial"/>
              </a:rPr>
              <a:t>units</a:t>
            </a:r>
            <a:r>
              <a:rPr dirty="0" baseline="2645" sz="1575">
                <a:solidFill>
                  <a:srgbClr val="1B2433"/>
                </a:solidFill>
                <a:latin typeface="Arial"/>
                <a:cs typeface="Arial"/>
              </a:rPr>
              <a:t>	</a:t>
            </a:r>
            <a:r>
              <a:rPr dirty="0" baseline="-3703" sz="2250" b="1">
                <a:solidFill>
                  <a:srgbClr val="D32E2E"/>
                </a:solidFill>
                <a:latin typeface="Arial"/>
                <a:cs typeface="Arial"/>
              </a:rPr>
              <a:t>→</a:t>
            </a:r>
            <a:r>
              <a:rPr dirty="0" baseline="-3703" sz="2250" spc="-2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-3703" sz="2250" b="1">
                <a:solidFill>
                  <a:srgbClr val="D32E2E"/>
                </a:solidFill>
                <a:latin typeface="Arial"/>
                <a:cs typeface="Arial"/>
              </a:rPr>
              <a:t>1.690</a:t>
            </a:r>
            <a:r>
              <a:rPr dirty="0" baseline="-3703" sz="2250" spc="-2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-3703" sz="2250" b="1">
                <a:solidFill>
                  <a:srgbClr val="D32E2E"/>
                </a:solidFill>
                <a:latin typeface="Arial"/>
                <a:cs typeface="Arial"/>
              </a:rPr>
              <a:t>×</a:t>
            </a:r>
            <a:r>
              <a:rPr dirty="0" baseline="-3703" sz="2250" spc="-2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-3703" sz="2250" b="1">
                <a:solidFill>
                  <a:srgbClr val="D32E2E"/>
                </a:solidFill>
                <a:latin typeface="Arial"/>
                <a:cs typeface="Arial"/>
              </a:rPr>
              <a:t>10</a:t>
            </a:r>
            <a:r>
              <a:rPr dirty="0" baseline="20000" sz="1875" b="1">
                <a:solidFill>
                  <a:srgbClr val="D32E2E"/>
                </a:solidFill>
                <a:latin typeface="Arial"/>
                <a:cs typeface="Arial"/>
              </a:rPr>
              <a:t>21</a:t>
            </a:r>
            <a:r>
              <a:rPr dirty="0" baseline="20000" sz="1875" spc="75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-3703" sz="2250" b="1">
                <a:solidFill>
                  <a:srgbClr val="D32E2E"/>
                </a:solidFill>
                <a:latin typeface="Arial"/>
                <a:cs typeface="Arial"/>
              </a:rPr>
              <a:t>formula</a:t>
            </a:r>
            <a:r>
              <a:rPr dirty="0" baseline="-3703" sz="2250" spc="-22" b="1">
                <a:solidFill>
                  <a:srgbClr val="D32E2E"/>
                </a:solidFill>
                <a:latin typeface="Arial"/>
                <a:cs typeface="Arial"/>
              </a:rPr>
              <a:t> </a:t>
            </a:r>
            <a:r>
              <a:rPr dirty="0" baseline="-3703" sz="2250" spc="-15" b="1">
                <a:solidFill>
                  <a:srgbClr val="D32E2E"/>
                </a:solidFill>
                <a:latin typeface="Arial"/>
                <a:cs typeface="Arial"/>
              </a:rPr>
              <a:t>units</a:t>
            </a:r>
            <a:endParaRPr baseline="-3703" sz="2250">
              <a:latin typeface="Arial"/>
              <a:cs typeface="Arial"/>
            </a:endParaRPr>
          </a:p>
          <a:p>
            <a:pPr marL="271145" marR="337820">
              <a:lnSpc>
                <a:spcPct val="125000"/>
              </a:lnSpc>
              <a:spcBef>
                <a:spcPts val="555"/>
              </a:spcBef>
            </a:pP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Final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precision is constrained to 4 significant figures due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to the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112.5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 mg calcium limitation printed on</a:t>
            </a:r>
            <a:r>
              <a:rPr dirty="0" sz="900" spc="-5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the manufacturer’s 200 </a:t>
            </a:r>
            <a:r>
              <a:rPr dirty="0" sz="900" spc="-25">
                <a:solidFill>
                  <a:srgbClr val="3A4558"/>
                </a:solidFill>
                <a:latin typeface="Arial"/>
                <a:cs typeface="Arial"/>
              </a:rPr>
              <a:t>mL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nutritional panel. Exact: N</a:t>
            </a:r>
            <a:r>
              <a:rPr dirty="0" baseline="-18518" sz="1125">
                <a:solidFill>
                  <a:srgbClr val="3A4558"/>
                </a:solidFill>
                <a:latin typeface="Arial"/>
                <a:cs typeface="Arial"/>
              </a:rPr>
              <a:t>A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, subscripts, can counts, 1 g = 1000 mg.</a:t>
            </a:r>
            <a:r>
              <a:rPr dirty="0" sz="900" spc="-20">
                <a:solidFill>
                  <a:srgbClr val="3A455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The one-mole result keeps 3 s.f. because 1.00 mol has 3.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Guard </a:t>
            </a:r>
            <a:r>
              <a:rPr dirty="0" sz="900">
                <a:solidFill>
                  <a:srgbClr val="3A4558"/>
                </a:solidFill>
                <a:latin typeface="Arial"/>
                <a:cs typeface="Arial"/>
              </a:rPr>
              <a:t>digits were kept until the last </a:t>
            </a:r>
            <a:r>
              <a:rPr dirty="0" sz="900" spc="-10">
                <a:solidFill>
                  <a:srgbClr val="3A4558"/>
                </a:solidFill>
                <a:latin typeface="Arial"/>
                <a:cs typeface="Arial"/>
              </a:rPr>
              <a:t>step.</a:t>
            </a:r>
            <a:endParaRPr sz="90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700961" y="12492036"/>
            <a:ext cx="7296150" cy="1333500"/>
          </a:xfrm>
          <a:prstGeom prst="rect">
            <a:avLst/>
          </a:prstGeom>
          <a:solidFill>
            <a:srgbClr val="FFF9DA"/>
          </a:solidFill>
          <a:ln w="28574">
            <a:solidFill>
              <a:srgbClr val="FFCC00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935"/>
              </a:spcBef>
            </a:pPr>
            <a:r>
              <a:rPr dirty="0" sz="1050" spc="55" b="1">
                <a:solidFill>
                  <a:srgbClr val="4A0D4E"/>
                </a:solidFill>
                <a:latin typeface="Arial"/>
                <a:cs typeface="Arial"/>
              </a:rPr>
              <a:t>ONE-</a:t>
            </a:r>
            <a:r>
              <a:rPr dirty="0" sz="1050" b="1">
                <a:solidFill>
                  <a:srgbClr val="4A0D4E"/>
                </a:solidFill>
                <a:latin typeface="Arial"/>
                <a:cs typeface="Arial"/>
              </a:rPr>
              <a:t>NUMBER</a:t>
            </a:r>
            <a:r>
              <a:rPr dirty="0" sz="1050" spc="39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4A0D4E"/>
                </a:solidFill>
                <a:latin typeface="Arial"/>
                <a:cs typeface="Arial"/>
              </a:rPr>
              <a:t>TAKEAWAY</a:t>
            </a:r>
            <a:endParaRPr sz="1050">
              <a:latin typeface="Arial"/>
              <a:cs typeface="Arial"/>
            </a:endParaRPr>
          </a:p>
          <a:p>
            <a:pPr marL="147320" marR="440690">
              <a:lnSpc>
                <a:spcPct val="138900"/>
              </a:lnSpc>
              <a:spcBef>
                <a:spcPts val="305"/>
              </a:spcBef>
            </a:pP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One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200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mL</a:t>
            </a:r>
            <a:r>
              <a:rPr dirty="0" sz="1200" spc="-3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can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holds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about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1.690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5000" sz="1500" b="1">
                <a:solidFill>
                  <a:srgbClr val="1B2433"/>
                </a:solidFill>
                <a:latin typeface="Arial"/>
                <a:cs typeface="Arial"/>
              </a:rPr>
              <a:t>21</a:t>
            </a:r>
            <a:r>
              <a:rPr dirty="0" baseline="25000" sz="1500" spc="7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CaCO</a:t>
            </a:r>
            <a:r>
              <a:rPr dirty="0" baseline="-16666" sz="1500" b="1">
                <a:solidFill>
                  <a:srgbClr val="1B2433"/>
                </a:solidFill>
                <a:latin typeface="Arial"/>
                <a:cs typeface="Arial"/>
              </a:rPr>
              <a:t>3</a:t>
            </a:r>
            <a:r>
              <a:rPr dirty="0" baseline="-16666" sz="1500" spc="67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formula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units,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yet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about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3.56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×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10</a:t>
            </a:r>
            <a:r>
              <a:rPr dirty="0" baseline="25000" sz="1500" b="1">
                <a:solidFill>
                  <a:srgbClr val="1B2433"/>
                </a:solidFill>
                <a:latin typeface="Arial"/>
                <a:cs typeface="Arial"/>
              </a:rPr>
              <a:t>2</a:t>
            </a:r>
            <a:r>
              <a:rPr dirty="0" baseline="25000" sz="1500" spc="7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cans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1B2433"/>
                </a:solidFill>
                <a:latin typeface="Arial"/>
                <a:cs typeface="Arial"/>
              </a:rPr>
              <a:t>are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needed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to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collect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single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mole: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a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mole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is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an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enormous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count,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but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only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100.086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g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B2433"/>
                </a:solidFill>
                <a:latin typeface="Arial"/>
                <a:cs typeface="Arial"/>
              </a:rPr>
              <a:t>of</a:t>
            </a:r>
            <a:r>
              <a:rPr dirty="0" sz="1200" spc="-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B2433"/>
                </a:solidFill>
                <a:latin typeface="Arial"/>
                <a:cs typeface="Arial"/>
              </a:rPr>
              <a:t>matter.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42887" y="13987460"/>
            <a:ext cx="14754225" cy="1047750"/>
          </a:xfrm>
          <a:prstGeom prst="rect">
            <a:avLst/>
          </a:prstGeom>
          <a:solidFill>
            <a:srgbClr val="FFFFFF"/>
          </a:solidFill>
          <a:ln w="28574">
            <a:solidFill>
              <a:srgbClr val="003399"/>
            </a:solidFill>
          </a:ln>
        </p:spPr>
        <p:txBody>
          <a:bodyPr wrap="square" lIns="0" tIns="806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635"/>
              </a:spcBef>
            </a:pP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SECTION</a:t>
            </a:r>
            <a:r>
              <a:rPr dirty="0" sz="900" spc="135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4A0D4E"/>
                </a:solidFill>
                <a:latin typeface="Arial"/>
                <a:cs typeface="Arial"/>
              </a:rPr>
              <a:t>H</a:t>
            </a:r>
            <a:r>
              <a:rPr dirty="0" sz="900" spc="140" b="1">
                <a:solidFill>
                  <a:srgbClr val="4A0D4E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·</a:t>
            </a:r>
            <a:r>
              <a:rPr dirty="0" sz="900" spc="2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REFERENCES</a:t>
            </a:r>
            <a:r>
              <a:rPr dirty="0" sz="900" spc="3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003399"/>
                </a:solidFill>
                <a:latin typeface="Arial"/>
                <a:cs typeface="Arial"/>
              </a:rPr>
              <a:t>(APA</a:t>
            </a:r>
            <a:r>
              <a:rPr dirty="0" sz="900" spc="-1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7TH</a:t>
            </a:r>
            <a:r>
              <a:rPr dirty="0" sz="900" spc="3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EDITION)</a:t>
            </a:r>
            <a:r>
              <a:rPr dirty="0" sz="900" spc="2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&amp;</a:t>
            </a:r>
            <a:r>
              <a:rPr dirty="0" sz="900" spc="-1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AI</a:t>
            </a:r>
            <a:r>
              <a:rPr dirty="0" sz="900" spc="25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399"/>
                </a:solidFill>
                <a:latin typeface="Arial"/>
                <a:cs typeface="Arial"/>
              </a:rPr>
              <a:t>USE</a:t>
            </a:r>
            <a:r>
              <a:rPr dirty="0" sz="900" spc="30" b="1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399"/>
                </a:solidFill>
                <a:latin typeface="Arial"/>
                <a:cs typeface="Arial"/>
              </a:rPr>
              <a:t>DISCLOSURE</a:t>
            </a:r>
            <a:endParaRPr sz="9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420"/>
              </a:spcBef>
            </a:pP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Bureau</a:t>
            </a:r>
            <a:r>
              <a:rPr dirty="0" sz="750" spc="14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International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des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Poids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et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Mesures.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(2019).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The</a:t>
            </a:r>
            <a:r>
              <a:rPr dirty="0" sz="750" spc="15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International</a:t>
            </a:r>
            <a:r>
              <a:rPr dirty="0" sz="750" spc="15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System</a:t>
            </a:r>
            <a:r>
              <a:rPr dirty="0" sz="750" spc="15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of</a:t>
            </a:r>
            <a:r>
              <a:rPr dirty="0" sz="750" spc="14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Units</a:t>
            </a:r>
            <a:r>
              <a:rPr dirty="0" sz="750" spc="15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(SI)</a:t>
            </a:r>
            <a:r>
              <a:rPr dirty="0" sz="750" spc="15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(9th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ed.).</a:t>
            </a:r>
            <a:r>
              <a:rPr dirty="0" sz="750" spc="1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  <a:hlinkClick r:id="rId4"/>
              </a:rPr>
              <a:t>https://www.bipm.org/en/publications/si-</a:t>
            </a:r>
            <a:r>
              <a:rPr dirty="0" sz="750" spc="-10">
                <a:solidFill>
                  <a:srgbClr val="1B2433"/>
                </a:solidFill>
                <a:latin typeface="Arial"/>
                <a:cs typeface="Arial"/>
                <a:hlinkClick r:id="rId4"/>
              </a:rPr>
              <a:t>brochure</a:t>
            </a:r>
            <a:endParaRPr sz="75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Commission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on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Isotopic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Abundances</a:t>
            </a:r>
            <a:r>
              <a:rPr dirty="0" sz="750" spc="17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and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Atomic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Weights.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(2024).</a:t>
            </a:r>
            <a:r>
              <a:rPr dirty="0" sz="750" spc="17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Abridged</a:t>
            </a:r>
            <a:r>
              <a:rPr dirty="0" sz="750" spc="16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standard</a:t>
            </a:r>
            <a:r>
              <a:rPr dirty="0" sz="750" spc="16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atomic</a:t>
            </a:r>
            <a:r>
              <a:rPr dirty="0" sz="750" spc="17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weights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.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International</a:t>
            </a:r>
            <a:r>
              <a:rPr dirty="0" sz="750" spc="17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Union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of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Pure</a:t>
            </a:r>
            <a:r>
              <a:rPr dirty="0" sz="750" spc="17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and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Applied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Chemistry.</a:t>
            </a:r>
            <a:r>
              <a:rPr dirty="0" sz="750" spc="16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  <a:hlinkClick r:id="rId5"/>
              </a:rPr>
              <a:t>https://www.ciaaw.org/abridged-atomic-</a:t>
            </a:r>
            <a:r>
              <a:rPr dirty="0" sz="750" spc="-10">
                <a:solidFill>
                  <a:srgbClr val="1B2433"/>
                </a:solidFill>
                <a:latin typeface="Arial"/>
                <a:cs typeface="Arial"/>
                <a:hlinkClick r:id="rId5"/>
              </a:rPr>
              <a:t>weights.htm</a:t>
            </a:r>
            <a:endParaRPr sz="75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150"/>
              </a:spcBef>
            </a:pP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National</a:t>
            </a:r>
            <a:r>
              <a:rPr dirty="0" sz="75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Center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for</a:t>
            </a:r>
            <a:r>
              <a:rPr dirty="0" sz="75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Biotechnology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Information.</a:t>
            </a:r>
            <a:r>
              <a:rPr dirty="0" sz="75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(n.d.).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PubChem</a:t>
            </a:r>
            <a:r>
              <a:rPr dirty="0" sz="750" spc="8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compound</a:t>
            </a:r>
            <a:r>
              <a:rPr dirty="0" sz="750" spc="9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summary</a:t>
            </a:r>
            <a:r>
              <a:rPr dirty="0" sz="750" spc="8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for</a:t>
            </a:r>
            <a:r>
              <a:rPr dirty="0" sz="750" spc="9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CID</a:t>
            </a:r>
            <a:r>
              <a:rPr dirty="0" sz="750" spc="8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10112,</a:t>
            </a:r>
            <a:r>
              <a:rPr dirty="0" sz="750" spc="9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calcium</a:t>
            </a:r>
            <a:r>
              <a:rPr dirty="0" sz="750" spc="8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i="1">
                <a:solidFill>
                  <a:srgbClr val="1B2433"/>
                </a:solidFill>
                <a:latin typeface="Arial"/>
                <a:cs typeface="Arial"/>
              </a:rPr>
              <a:t>carbonate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.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Retrieved</a:t>
            </a:r>
            <a:r>
              <a:rPr dirty="0" sz="75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[date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accessed],</a:t>
            </a:r>
            <a:r>
              <a:rPr dirty="0" sz="750" spc="8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from</a:t>
            </a:r>
            <a:r>
              <a:rPr dirty="0" sz="750" spc="9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  <a:hlinkClick r:id="rId6"/>
              </a:rPr>
              <a:t>https://pubchem.ncbi.nlm.nih.gov/compound/Calcium-</a:t>
            </a:r>
            <a:r>
              <a:rPr dirty="0" sz="750" spc="-10">
                <a:solidFill>
                  <a:srgbClr val="1B2433"/>
                </a:solidFill>
                <a:latin typeface="Arial"/>
                <a:cs typeface="Arial"/>
                <a:hlinkClick r:id="rId6"/>
              </a:rPr>
              <a:t>carbonate</a:t>
            </a:r>
            <a:endParaRPr sz="75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225"/>
              </a:spcBef>
            </a:pP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[Manufacturer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name].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(n.d.).</a:t>
            </a:r>
            <a:r>
              <a:rPr dirty="0" sz="750" spc="10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Bear</a:t>
            </a:r>
            <a:r>
              <a:rPr dirty="0" sz="750" spc="9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Brand</a:t>
            </a:r>
            <a:r>
              <a:rPr dirty="0" sz="750" spc="9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Sterilized</a:t>
            </a:r>
            <a:r>
              <a:rPr dirty="0" sz="750" spc="10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Milk,</a:t>
            </a:r>
            <a:r>
              <a:rPr dirty="0" sz="750" spc="9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200</a:t>
            </a:r>
            <a:r>
              <a:rPr dirty="0" sz="750" spc="95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B2433"/>
                </a:solidFill>
                <a:latin typeface="Arial"/>
                <a:cs typeface="Arial"/>
              </a:rPr>
              <a:t>mL</a:t>
            </a:r>
            <a:r>
              <a:rPr dirty="0" sz="750" spc="100" i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[Product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label].</a:t>
            </a:r>
            <a:r>
              <a:rPr dirty="0" sz="750" spc="10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Photograph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by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D.</a:t>
            </a:r>
            <a:r>
              <a:rPr dirty="0" sz="750" spc="10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B.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B2433"/>
                </a:solidFill>
                <a:latin typeface="Arial"/>
                <a:cs typeface="Arial"/>
              </a:rPr>
              <a:t>P.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Gacer,</a:t>
            </a:r>
            <a:r>
              <a:rPr dirty="0" sz="750" spc="10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[Month</a:t>
            </a:r>
            <a:r>
              <a:rPr dirty="0" sz="750" spc="9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B2433"/>
                </a:solidFill>
                <a:latin typeface="Arial"/>
                <a:cs typeface="Arial"/>
              </a:rPr>
              <a:t>Day,</a:t>
            </a:r>
            <a:r>
              <a:rPr dirty="0" sz="750" spc="7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B2433"/>
                </a:solidFill>
                <a:latin typeface="Arial"/>
                <a:cs typeface="Arial"/>
              </a:rPr>
              <a:t>Year].</a:t>
            </a:r>
            <a:endParaRPr sz="75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225"/>
              </a:spcBef>
            </a:pPr>
            <a:r>
              <a:rPr dirty="0" sz="750" spc="10" b="1">
                <a:solidFill>
                  <a:srgbClr val="1B2433"/>
                </a:solidFill>
                <a:latin typeface="Arial"/>
                <a:cs typeface="Arial"/>
              </a:rPr>
              <a:t>AI</a:t>
            </a:r>
            <a:r>
              <a:rPr dirty="0" sz="750" spc="5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b="1">
                <a:solidFill>
                  <a:srgbClr val="1B2433"/>
                </a:solidFill>
                <a:latin typeface="Arial"/>
                <a:cs typeface="Arial"/>
              </a:rPr>
              <a:t>use</a:t>
            </a:r>
            <a:r>
              <a:rPr dirty="0" sz="750" spc="55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 b="1">
                <a:solidFill>
                  <a:srgbClr val="1B2433"/>
                </a:solidFill>
                <a:latin typeface="Arial"/>
                <a:cs typeface="Arial"/>
              </a:rPr>
              <a:t>disclosure:</a:t>
            </a:r>
            <a:r>
              <a:rPr dirty="0" sz="750" b="1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AI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was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used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to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enhance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the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product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image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and</a:t>
            </a:r>
            <a:r>
              <a:rPr dirty="0" sz="7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give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it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blue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background,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to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arrange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this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card’s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layout,</a:t>
            </a:r>
            <a:r>
              <a:rPr dirty="0" sz="7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and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to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double-check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the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calculation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setup;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all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label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values,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calculations,</a:t>
            </a:r>
            <a:r>
              <a:rPr dirty="0" sz="750" spc="50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references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and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final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answers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were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independently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verified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by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10">
                <a:solidFill>
                  <a:srgbClr val="1B2433"/>
                </a:solidFill>
                <a:latin typeface="Arial"/>
                <a:cs typeface="Arial"/>
              </a:rPr>
              <a:t>the</a:t>
            </a:r>
            <a:r>
              <a:rPr dirty="0" sz="750" spc="55">
                <a:solidFill>
                  <a:srgbClr val="1B2433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B2433"/>
                </a:solidFill>
                <a:latin typeface="Arial"/>
                <a:cs typeface="Arial"/>
              </a:rPr>
              <a:t>student.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24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002_atom_count_card</dc:title>
  <dcterms:created xsi:type="dcterms:W3CDTF">2026-10-27T15:38:34Z</dcterms:created>
  <dcterms:modified xsi:type="dcterms:W3CDTF">2026-10-27T15:38:34Z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2026-10-27T00:00:00Z</vt:filetime>
  </property>
  <property fmtid="{D5CDD505-2E9C-101B-9397-08002B2CF9AE}" pid="4" name="Creator">
    <vt:lpwstr>Chromium</vt:lpwstr>
  </property>
  <property fmtid="{D5CDD505-2E9C-101B-9397-08002B2CF9AE}" pid="5" name="LastSaved">
    <vt:filetime>2026-10-27T00:00:00Z</vt:filetime>
  </property>
  <property fmtid="{D5CDD505-2E9C-101B-9397-08002B2CF9AE}" pid="6" name="Producer">
    <vt:lpwstr>Skia/PDF m141</vt:lpwstr>
  </property>
</Properties>
</file>