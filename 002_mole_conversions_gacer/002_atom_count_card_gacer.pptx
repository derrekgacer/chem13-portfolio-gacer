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</p:sldIdLst>
  <p:sldSz cx="15240000" cy="15341600"/>
  <p:notesSz cx="15240000" cy="15341600"/>
  <p:defaultTextStyle>
    <a:defPPr>
      <a:defRPr kern="0"/>
    </a:def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2AF0D48F-937C-4DB7-9001-54E2899C82BB}" v="9" dt="2026-10-30T16:34:53.983"/>
  </p1510:revLst>
</p1510:revInfo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>
      <p:cViewPr>
        <p:scale>
          <a:sx n="100" d="100"/>
          <a:sy n="100" d="100"/>
        </p:scale>
        <p:origin x="58" y="-6077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microsoft.com/office/2015/10/relationships/revisionInfo" Target="revisionInfo.xml"/><Relationship Id="rId3" Type="http://schemas.openxmlformats.org/officeDocument/2006/relationships/presProps" Target="presProps.xml"/><Relationship Id="rId7" Type="http://schemas.microsoft.com/office/2016/11/relationships/changesInfo" Target="changesInfos/changesInfo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Derrek Baldwin Gacer" userId="4498cf75633e04bf" providerId="LiveId" clId="{4BA0EBDA-24C6-4CC7-BBD9-33B99B2F9497}"/>
    <pc:docChg chg="undo redo custSel modSld">
      <pc:chgData name="Derrek Baldwin Gacer" userId="4498cf75633e04bf" providerId="LiveId" clId="{4BA0EBDA-24C6-4CC7-BBD9-33B99B2F9497}" dt="2026-10-30T16:34:54.722" v="139" actId="20577"/>
      <pc:docMkLst>
        <pc:docMk/>
      </pc:docMkLst>
      <pc:sldChg chg="addSp delSp modSp mod">
        <pc:chgData name="Derrek Baldwin Gacer" userId="4498cf75633e04bf" providerId="LiveId" clId="{4BA0EBDA-24C6-4CC7-BBD9-33B99B2F9497}" dt="2026-10-30T16:34:54.722" v="139" actId="20577"/>
        <pc:sldMkLst>
          <pc:docMk/>
          <pc:sldMk cId="0" sldId="256"/>
        </pc:sldMkLst>
        <pc:spChg chg="mod">
          <ac:chgData name="Derrek Baldwin Gacer" userId="4498cf75633e04bf" providerId="LiveId" clId="{4BA0EBDA-24C6-4CC7-BBD9-33B99B2F9497}" dt="2026-10-30T16:28:21.270" v="120"/>
          <ac:spMkLst>
            <pc:docMk/>
            <pc:sldMk cId="0" sldId="256"/>
            <ac:spMk id="8" creationId="{00000000-0000-0000-0000-000000000000}"/>
          </ac:spMkLst>
        </pc:spChg>
        <pc:spChg chg="mod">
          <ac:chgData name="Derrek Baldwin Gacer" userId="4498cf75633e04bf" providerId="LiveId" clId="{4BA0EBDA-24C6-4CC7-BBD9-33B99B2F9497}" dt="2026-10-30T16:19:29.435" v="79" actId="20577"/>
          <ac:spMkLst>
            <pc:docMk/>
            <pc:sldMk cId="0" sldId="256"/>
            <ac:spMk id="33" creationId="{00000000-0000-0000-0000-000000000000}"/>
          </ac:spMkLst>
        </pc:spChg>
        <pc:spChg chg="mod">
          <ac:chgData name="Derrek Baldwin Gacer" userId="4498cf75633e04bf" providerId="LiveId" clId="{4BA0EBDA-24C6-4CC7-BBD9-33B99B2F9497}" dt="2026-10-30T16:15:52.448" v="61"/>
          <ac:spMkLst>
            <pc:docMk/>
            <pc:sldMk cId="0" sldId="256"/>
            <ac:spMk id="102" creationId="{00000000-0000-0000-0000-000000000000}"/>
          </ac:spMkLst>
        </pc:spChg>
        <pc:spChg chg="mod">
          <ac:chgData name="Derrek Baldwin Gacer" userId="4498cf75633e04bf" providerId="LiveId" clId="{4BA0EBDA-24C6-4CC7-BBD9-33B99B2F9497}" dt="2026-10-30T16:16:55.098" v="65" actId="400"/>
          <ac:spMkLst>
            <pc:docMk/>
            <pc:sldMk cId="0" sldId="256"/>
            <ac:spMk id="106" creationId="{00000000-0000-0000-0000-000000000000}"/>
          </ac:spMkLst>
        </pc:spChg>
        <pc:spChg chg="mod">
          <ac:chgData name="Derrek Baldwin Gacer" userId="4498cf75633e04bf" providerId="LiveId" clId="{4BA0EBDA-24C6-4CC7-BBD9-33B99B2F9497}" dt="2026-10-30T16:15:52.448" v="61"/>
          <ac:spMkLst>
            <pc:docMk/>
            <pc:sldMk cId="0" sldId="256"/>
            <ac:spMk id="109" creationId="{00000000-0000-0000-0000-000000000000}"/>
          </ac:spMkLst>
        </pc:spChg>
        <pc:spChg chg="mod">
          <ac:chgData name="Derrek Baldwin Gacer" userId="4498cf75633e04bf" providerId="LiveId" clId="{4BA0EBDA-24C6-4CC7-BBD9-33B99B2F9497}" dt="2026-10-30T16:30:35.516" v="129" actId="20577"/>
          <ac:spMkLst>
            <pc:docMk/>
            <pc:sldMk cId="0" sldId="256"/>
            <ac:spMk id="110" creationId="{00000000-0000-0000-0000-000000000000}"/>
          </ac:spMkLst>
        </pc:spChg>
        <pc:spChg chg="mod">
          <ac:chgData name="Derrek Baldwin Gacer" userId="4498cf75633e04bf" providerId="LiveId" clId="{4BA0EBDA-24C6-4CC7-BBD9-33B99B2F9497}" dt="2026-10-30T16:15:52.448" v="61"/>
          <ac:spMkLst>
            <pc:docMk/>
            <pc:sldMk cId="0" sldId="256"/>
            <ac:spMk id="111" creationId="{00000000-0000-0000-0000-000000000000}"/>
          </ac:spMkLst>
        </pc:spChg>
        <pc:spChg chg="mod">
          <ac:chgData name="Derrek Baldwin Gacer" userId="4498cf75633e04bf" providerId="LiveId" clId="{4BA0EBDA-24C6-4CC7-BBD9-33B99B2F9497}" dt="2026-10-30T16:17:24.677" v="66" actId="14100"/>
          <ac:spMkLst>
            <pc:docMk/>
            <pc:sldMk cId="0" sldId="256"/>
            <ac:spMk id="115" creationId="{00000000-0000-0000-0000-000000000000}"/>
          </ac:spMkLst>
        </pc:spChg>
        <pc:spChg chg="mod">
          <ac:chgData name="Derrek Baldwin Gacer" userId="4498cf75633e04bf" providerId="LiveId" clId="{4BA0EBDA-24C6-4CC7-BBD9-33B99B2F9497}" dt="2026-10-30T16:15:52.448" v="61"/>
          <ac:spMkLst>
            <pc:docMk/>
            <pc:sldMk cId="0" sldId="256"/>
            <ac:spMk id="121" creationId="{00000000-0000-0000-0000-000000000000}"/>
          </ac:spMkLst>
        </pc:spChg>
        <pc:spChg chg="mod">
          <ac:chgData name="Derrek Baldwin Gacer" userId="4498cf75633e04bf" providerId="LiveId" clId="{4BA0EBDA-24C6-4CC7-BBD9-33B99B2F9497}" dt="2026-10-30T16:15:52.448" v="61"/>
          <ac:spMkLst>
            <pc:docMk/>
            <pc:sldMk cId="0" sldId="256"/>
            <ac:spMk id="122" creationId="{00000000-0000-0000-0000-000000000000}"/>
          </ac:spMkLst>
        </pc:spChg>
        <pc:spChg chg="mod">
          <ac:chgData name="Derrek Baldwin Gacer" userId="4498cf75633e04bf" providerId="LiveId" clId="{4BA0EBDA-24C6-4CC7-BBD9-33B99B2F9497}" dt="2026-10-30T16:29:35.376" v="127" actId="20577"/>
          <ac:spMkLst>
            <pc:docMk/>
            <pc:sldMk cId="0" sldId="256"/>
            <ac:spMk id="127" creationId="{00000000-0000-0000-0000-000000000000}"/>
          </ac:spMkLst>
        </pc:spChg>
        <pc:spChg chg="mod">
          <ac:chgData name="Derrek Baldwin Gacer" userId="4498cf75633e04bf" providerId="LiveId" clId="{4BA0EBDA-24C6-4CC7-BBD9-33B99B2F9497}" dt="2026-10-30T16:17:35.547" v="68" actId="20577"/>
          <ac:spMkLst>
            <pc:docMk/>
            <pc:sldMk cId="0" sldId="256"/>
            <ac:spMk id="128" creationId="{00000000-0000-0000-0000-000000000000}"/>
          </ac:spMkLst>
        </pc:spChg>
        <pc:spChg chg="mod">
          <ac:chgData name="Derrek Baldwin Gacer" userId="4498cf75633e04bf" providerId="LiveId" clId="{4BA0EBDA-24C6-4CC7-BBD9-33B99B2F9497}" dt="2026-10-30T16:34:54.722" v="139" actId="20577"/>
          <ac:spMkLst>
            <pc:docMk/>
            <pc:sldMk cId="0" sldId="256"/>
            <ac:spMk id="129" creationId="{00000000-0000-0000-0000-000000000000}"/>
          </ac:spMkLst>
        </pc:spChg>
        <pc:spChg chg="add del">
          <ac:chgData name="Derrek Baldwin Gacer" userId="4498cf75633e04bf" providerId="LiveId" clId="{4BA0EBDA-24C6-4CC7-BBD9-33B99B2F9497}" dt="2026-10-30T16:12:41.611" v="9" actId="22"/>
          <ac:spMkLst>
            <pc:docMk/>
            <pc:sldMk cId="0" sldId="256"/>
            <ac:spMk id="133" creationId="{485D9181-7C2D-514A-8F6F-6433C47EC182}"/>
          </ac:spMkLst>
        </pc:spChg>
        <pc:spChg chg="add del">
          <ac:chgData name="Derrek Baldwin Gacer" userId="4498cf75633e04bf" providerId="LiveId" clId="{4BA0EBDA-24C6-4CC7-BBD9-33B99B2F9497}" dt="2026-10-30T16:12:42.615" v="11" actId="22"/>
          <ac:spMkLst>
            <pc:docMk/>
            <pc:sldMk cId="0" sldId="256"/>
            <ac:spMk id="135" creationId="{F5E5E13F-486C-71D2-D84F-5DD4CEEA16DC}"/>
          </ac:spMkLst>
        </pc:spChg>
        <pc:graphicFrameChg chg="add mod">
          <ac:chgData name="Derrek Baldwin Gacer" userId="4498cf75633e04bf" providerId="LiveId" clId="{4BA0EBDA-24C6-4CC7-BBD9-33B99B2F9497}" dt="2026-10-30T16:12:43.445" v="12"/>
          <ac:graphicFrameMkLst>
            <pc:docMk/>
            <pc:sldMk cId="0" sldId="256"/>
            <ac:graphicFrameMk id="131" creationId="{32B8A5ED-9EAF-F384-75C6-5CA4AEE2B322}"/>
          </ac:graphicFrameMkLst>
        </pc:graphicFrame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1143000" y="4755896"/>
            <a:ext cx="12954000" cy="3221736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2286000" y="8591296"/>
            <a:ext cx="10668000" cy="38354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10/31/2026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10/31/2026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762000" y="3528568"/>
            <a:ext cx="6629400" cy="10125456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7848600" y="3528568"/>
            <a:ext cx="6629400" cy="10125456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10/31/2026</a:t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10/31/2026</a:t>
            </a:fld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10/31/2026</a:t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g object 16"/>
          <p:cNvSpPr/>
          <p:nvPr/>
        </p:nvSpPr>
        <p:spPr>
          <a:xfrm>
            <a:off x="0" y="0"/>
            <a:ext cx="15240000" cy="15335250"/>
          </a:xfrm>
          <a:custGeom>
            <a:avLst/>
            <a:gdLst/>
            <a:ahLst/>
            <a:cxnLst/>
            <a:rect l="l" t="t" r="r" b="b"/>
            <a:pathLst>
              <a:path w="15240000" h="15335250">
                <a:moveTo>
                  <a:pt x="15239998" y="15335248"/>
                </a:moveTo>
                <a:lnTo>
                  <a:pt x="0" y="15335248"/>
                </a:lnTo>
                <a:lnTo>
                  <a:pt x="0" y="0"/>
                </a:lnTo>
                <a:lnTo>
                  <a:pt x="15239998" y="0"/>
                </a:lnTo>
                <a:lnTo>
                  <a:pt x="15239998" y="15335248"/>
                </a:lnTo>
                <a:close/>
              </a:path>
            </a:pathLst>
          </a:custGeom>
          <a:solidFill>
            <a:srgbClr val="F4F5F9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7" name="bg object 17"/>
          <p:cNvSpPr/>
          <p:nvPr/>
        </p:nvSpPr>
        <p:spPr>
          <a:xfrm>
            <a:off x="228599" y="228600"/>
            <a:ext cx="14782800" cy="809625"/>
          </a:xfrm>
          <a:custGeom>
            <a:avLst/>
            <a:gdLst/>
            <a:ahLst/>
            <a:cxnLst/>
            <a:rect l="l" t="t" r="r" b="b"/>
            <a:pathLst>
              <a:path w="14782800" h="809625">
                <a:moveTo>
                  <a:pt x="0" y="809624"/>
                </a:moveTo>
                <a:lnTo>
                  <a:pt x="14782798" y="809624"/>
                </a:lnTo>
                <a:lnTo>
                  <a:pt x="14782798" y="0"/>
                </a:lnTo>
                <a:lnTo>
                  <a:pt x="0" y="0"/>
                </a:lnTo>
                <a:lnTo>
                  <a:pt x="0" y="809624"/>
                </a:lnTo>
                <a:close/>
              </a:path>
            </a:pathLst>
          </a:custGeom>
          <a:solidFill>
            <a:srgbClr val="003399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8" name="bg object 18"/>
          <p:cNvSpPr/>
          <p:nvPr/>
        </p:nvSpPr>
        <p:spPr>
          <a:xfrm>
            <a:off x="228599" y="1038224"/>
            <a:ext cx="14782800" cy="57150"/>
          </a:xfrm>
          <a:custGeom>
            <a:avLst/>
            <a:gdLst/>
            <a:ahLst/>
            <a:cxnLst/>
            <a:rect l="l" t="t" r="r" b="b"/>
            <a:pathLst>
              <a:path w="14782800" h="57150">
                <a:moveTo>
                  <a:pt x="14782798" y="57149"/>
                </a:moveTo>
                <a:lnTo>
                  <a:pt x="0" y="57149"/>
                </a:lnTo>
                <a:lnTo>
                  <a:pt x="0" y="0"/>
                </a:lnTo>
                <a:lnTo>
                  <a:pt x="14782798" y="0"/>
                </a:lnTo>
                <a:lnTo>
                  <a:pt x="14782798" y="57149"/>
                </a:lnTo>
                <a:close/>
              </a:path>
            </a:pathLst>
          </a:custGeom>
          <a:solidFill>
            <a:srgbClr val="FFCC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762000" y="613664"/>
            <a:ext cx="13716000" cy="2454656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762000" y="3528568"/>
            <a:ext cx="13716000" cy="10125456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5181600" y="14267688"/>
            <a:ext cx="4876800" cy="7670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762000" y="14267688"/>
            <a:ext cx="3505200" cy="7670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10/31/2026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10972800" y="14267688"/>
            <a:ext cx="3505200" cy="7670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5.xml"/><Relationship Id="rId6" Type="http://schemas.openxmlformats.org/officeDocument/2006/relationships/hyperlink" Target="https://pubchem.ncbi.nlm.nih.gov/compound/Calcium-carbonate" TargetMode="External"/><Relationship Id="rId5" Type="http://schemas.openxmlformats.org/officeDocument/2006/relationships/hyperlink" Target="https://www.ciaaw.org/abridged-atomic-weights.htm" TargetMode="External"/><Relationship Id="rId4" Type="http://schemas.openxmlformats.org/officeDocument/2006/relationships/hyperlink" Target="https://www.bipm.org/en/publications/si-brochure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400049" y="239032"/>
            <a:ext cx="10396855" cy="648335"/>
          </a:xfrm>
          <a:prstGeom prst="rect">
            <a:avLst/>
          </a:prstGeom>
        </p:spPr>
        <p:txBody>
          <a:bodyPr vert="horz" wrap="square" lIns="0" tIns="93980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740"/>
              </a:spcBef>
            </a:pPr>
            <a:r>
              <a:rPr sz="2250" b="1" dirty="0">
                <a:solidFill>
                  <a:srgbClr val="FFFFFF"/>
                </a:solidFill>
                <a:latin typeface="Arial"/>
                <a:cs typeface="Arial"/>
              </a:rPr>
              <a:t>Atom</a:t>
            </a:r>
            <a:r>
              <a:rPr sz="2250" b="1" spc="-1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2250" b="1" dirty="0">
                <a:solidFill>
                  <a:srgbClr val="FFFFFF"/>
                </a:solidFill>
                <a:latin typeface="Arial"/>
                <a:cs typeface="Arial"/>
              </a:rPr>
              <a:t>Count</a:t>
            </a:r>
            <a:r>
              <a:rPr sz="2250" b="1" spc="-1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2250" b="1" dirty="0">
                <a:solidFill>
                  <a:srgbClr val="FFFFFF"/>
                </a:solidFill>
                <a:latin typeface="Arial"/>
                <a:cs typeface="Arial"/>
              </a:rPr>
              <a:t>Card:</a:t>
            </a:r>
            <a:r>
              <a:rPr sz="2250" b="1" spc="-1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2250" b="1" dirty="0">
                <a:solidFill>
                  <a:srgbClr val="FFFFFF"/>
                </a:solidFill>
                <a:latin typeface="Arial"/>
                <a:cs typeface="Arial"/>
              </a:rPr>
              <a:t>Mole</a:t>
            </a:r>
            <a:r>
              <a:rPr sz="2250" b="1" spc="-1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2250" b="1" dirty="0">
                <a:solidFill>
                  <a:srgbClr val="FFFFFF"/>
                </a:solidFill>
                <a:latin typeface="Arial"/>
                <a:cs typeface="Arial"/>
              </a:rPr>
              <a:t>Conversions</a:t>
            </a:r>
            <a:r>
              <a:rPr sz="2250" b="1" spc="-1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2250" b="1" dirty="0">
                <a:solidFill>
                  <a:srgbClr val="FFFFFF"/>
                </a:solidFill>
                <a:latin typeface="Arial"/>
                <a:cs typeface="Arial"/>
              </a:rPr>
              <a:t>for</a:t>
            </a:r>
            <a:r>
              <a:rPr sz="2250" b="1" spc="-1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2250" b="1" dirty="0">
                <a:solidFill>
                  <a:srgbClr val="FFFFFF"/>
                </a:solidFill>
                <a:latin typeface="Arial"/>
                <a:cs typeface="Arial"/>
              </a:rPr>
              <a:t>Bear</a:t>
            </a:r>
            <a:r>
              <a:rPr sz="2250" b="1" spc="-1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2250" b="1" dirty="0">
                <a:solidFill>
                  <a:srgbClr val="FFFFFF"/>
                </a:solidFill>
                <a:latin typeface="Arial"/>
                <a:cs typeface="Arial"/>
              </a:rPr>
              <a:t>Brand</a:t>
            </a:r>
            <a:r>
              <a:rPr sz="2250" b="1" spc="-1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2250" b="1" dirty="0">
                <a:solidFill>
                  <a:srgbClr val="FFFFFF"/>
                </a:solidFill>
                <a:latin typeface="Arial"/>
                <a:cs typeface="Arial"/>
              </a:rPr>
              <a:t>Sterilized</a:t>
            </a:r>
            <a:r>
              <a:rPr sz="2250" b="1" spc="-1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2250" b="1" dirty="0">
                <a:solidFill>
                  <a:srgbClr val="FFFFFF"/>
                </a:solidFill>
                <a:latin typeface="Arial"/>
                <a:cs typeface="Arial"/>
              </a:rPr>
              <a:t>Milk</a:t>
            </a:r>
            <a:r>
              <a:rPr sz="2250" b="1" spc="-1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2250" b="1" dirty="0">
                <a:solidFill>
                  <a:srgbClr val="FFFFFF"/>
                </a:solidFill>
                <a:latin typeface="Arial"/>
                <a:cs typeface="Arial"/>
              </a:rPr>
              <a:t>(200</a:t>
            </a:r>
            <a:r>
              <a:rPr sz="2250" b="1" spc="-1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2250" b="1" spc="-25" dirty="0">
                <a:solidFill>
                  <a:srgbClr val="FFFFFF"/>
                </a:solidFill>
                <a:latin typeface="Arial"/>
                <a:cs typeface="Arial"/>
              </a:rPr>
              <a:t>mL)</a:t>
            </a:r>
            <a:endParaRPr sz="2250">
              <a:latin typeface="Arial"/>
              <a:cs typeface="Arial"/>
            </a:endParaRPr>
          </a:p>
          <a:p>
            <a:pPr marL="38100">
              <a:lnSpc>
                <a:spcPct val="100000"/>
              </a:lnSpc>
              <a:spcBef>
                <a:spcPts val="300"/>
              </a:spcBef>
            </a:pPr>
            <a:r>
              <a:rPr sz="1050" dirty="0">
                <a:solidFill>
                  <a:srgbClr val="FFFFFF"/>
                </a:solidFill>
                <a:latin typeface="Arial"/>
                <a:cs typeface="Arial"/>
              </a:rPr>
              <a:t>From</a:t>
            </a:r>
            <a:r>
              <a:rPr sz="1050" spc="-2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050" dirty="0">
                <a:solidFill>
                  <a:srgbClr val="FFFFFF"/>
                </a:solidFill>
                <a:latin typeface="Arial"/>
                <a:cs typeface="Arial"/>
              </a:rPr>
              <a:t>a</a:t>
            </a:r>
            <a:r>
              <a:rPr sz="1050" spc="-2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050" dirty="0">
                <a:solidFill>
                  <a:srgbClr val="FFFFFF"/>
                </a:solidFill>
                <a:latin typeface="Arial"/>
                <a:cs typeface="Arial"/>
              </a:rPr>
              <a:t>printed</a:t>
            </a:r>
            <a:r>
              <a:rPr sz="1050" spc="-2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050" dirty="0">
                <a:solidFill>
                  <a:srgbClr val="FFFFFF"/>
                </a:solidFill>
                <a:latin typeface="Arial"/>
                <a:cs typeface="Arial"/>
              </a:rPr>
              <a:t>label</a:t>
            </a:r>
            <a:r>
              <a:rPr sz="1050" spc="-2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050" dirty="0">
                <a:solidFill>
                  <a:srgbClr val="FFFFFF"/>
                </a:solidFill>
                <a:latin typeface="Arial"/>
                <a:cs typeface="Arial"/>
              </a:rPr>
              <a:t>to</a:t>
            </a:r>
            <a:r>
              <a:rPr sz="1050" spc="-2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050" dirty="0">
                <a:solidFill>
                  <a:srgbClr val="FFFFFF"/>
                </a:solidFill>
                <a:latin typeface="Arial"/>
                <a:cs typeface="Arial"/>
              </a:rPr>
              <a:t>moles,</a:t>
            </a:r>
            <a:r>
              <a:rPr sz="1050" spc="-2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050" dirty="0">
                <a:solidFill>
                  <a:srgbClr val="FFFFFF"/>
                </a:solidFill>
                <a:latin typeface="Arial"/>
                <a:cs typeface="Arial"/>
              </a:rPr>
              <a:t>formula</a:t>
            </a:r>
            <a:r>
              <a:rPr sz="1050" spc="-2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050" dirty="0">
                <a:solidFill>
                  <a:srgbClr val="FFFFFF"/>
                </a:solidFill>
                <a:latin typeface="Arial"/>
                <a:cs typeface="Arial"/>
              </a:rPr>
              <a:t>units</a:t>
            </a:r>
            <a:r>
              <a:rPr sz="1050" spc="-2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050" dirty="0">
                <a:solidFill>
                  <a:srgbClr val="FFFFFF"/>
                </a:solidFill>
                <a:latin typeface="Arial"/>
                <a:cs typeface="Arial"/>
              </a:rPr>
              <a:t>and</a:t>
            </a:r>
            <a:r>
              <a:rPr sz="1050" spc="-2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050" dirty="0">
                <a:solidFill>
                  <a:srgbClr val="FFFFFF"/>
                </a:solidFill>
                <a:latin typeface="Arial"/>
                <a:cs typeface="Arial"/>
              </a:rPr>
              <a:t>atoms</a:t>
            </a:r>
            <a:r>
              <a:rPr sz="1050" spc="-2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050" dirty="0">
                <a:solidFill>
                  <a:srgbClr val="FFFFFF"/>
                </a:solidFill>
                <a:latin typeface="Arial"/>
                <a:cs typeface="Arial"/>
              </a:rPr>
              <a:t>of</a:t>
            </a:r>
            <a:r>
              <a:rPr sz="1050" spc="-2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050" dirty="0">
                <a:solidFill>
                  <a:srgbClr val="FFFFFF"/>
                </a:solidFill>
                <a:latin typeface="Arial"/>
                <a:cs typeface="Arial"/>
              </a:rPr>
              <a:t>calcium</a:t>
            </a:r>
            <a:r>
              <a:rPr sz="1050" spc="-2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050" dirty="0">
                <a:solidFill>
                  <a:srgbClr val="FFFFFF"/>
                </a:solidFill>
                <a:latin typeface="Arial"/>
                <a:cs typeface="Arial"/>
              </a:rPr>
              <a:t>carbonate,</a:t>
            </a:r>
            <a:r>
              <a:rPr sz="1050" spc="-2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050" spc="-10" dirty="0">
                <a:solidFill>
                  <a:srgbClr val="FFFFFF"/>
                </a:solidFill>
                <a:latin typeface="Arial"/>
                <a:cs typeface="Arial"/>
              </a:rPr>
              <a:t>CaCO</a:t>
            </a:r>
            <a:r>
              <a:rPr sz="1275" spc="-15" baseline="-19607" dirty="0">
                <a:solidFill>
                  <a:srgbClr val="FFFFFF"/>
                </a:solidFill>
                <a:latin typeface="Arial"/>
                <a:cs typeface="Arial"/>
              </a:rPr>
              <a:t>3</a:t>
            </a:r>
            <a:endParaRPr sz="1275" baseline="-19607">
              <a:latin typeface="Arial"/>
              <a:cs typeface="Arial"/>
            </a:endParaRPr>
          </a:p>
        </p:txBody>
      </p:sp>
      <p:sp>
        <p:nvSpPr>
          <p:cNvPr id="3" name="object 3"/>
          <p:cNvSpPr txBox="1"/>
          <p:nvPr/>
        </p:nvSpPr>
        <p:spPr>
          <a:xfrm>
            <a:off x="12958860" y="463550"/>
            <a:ext cx="1856105" cy="316865"/>
          </a:xfrm>
          <a:prstGeom prst="rect">
            <a:avLst/>
          </a:prstGeom>
        </p:spPr>
        <p:txBody>
          <a:bodyPr vert="horz" wrap="square" lIns="0" tIns="21590" rIns="0" bIns="0" rtlCol="0">
            <a:spAutoFit/>
          </a:bodyPr>
          <a:lstStyle/>
          <a:p>
            <a:pPr marL="12700" marR="5080" indent="48260">
              <a:lnSpc>
                <a:spcPts val="1130"/>
              </a:lnSpc>
              <a:spcBef>
                <a:spcPts val="170"/>
              </a:spcBef>
            </a:pPr>
            <a:r>
              <a:rPr sz="950" b="1" dirty="0">
                <a:solidFill>
                  <a:srgbClr val="FFFFFF"/>
                </a:solidFill>
                <a:latin typeface="Arial"/>
                <a:cs typeface="Arial"/>
              </a:rPr>
              <a:t>CHEMISTRY</a:t>
            </a:r>
            <a:r>
              <a:rPr sz="950" b="1" spc="3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950" b="1" dirty="0">
                <a:solidFill>
                  <a:srgbClr val="FFFFFF"/>
                </a:solidFill>
                <a:latin typeface="Arial"/>
                <a:cs typeface="Arial"/>
              </a:rPr>
              <a:t>FOR</a:t>
            </a:r>
            <a:r>
              <a:rPr sz="950" b="1" spc="6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950" b="1" spc="-10" dirty="0">
                <a:solidFill>
                  <a:srgbClr val="FFFFFF"/>
                </a:solidFill>
                <a:latin typeface="Arial"/>
                <a:cs typeface="Arial"/>
              </a:rPr>
              <a:t>ENGINEERS </a:t>
            </a:r>
            <a:r>
              <a:rPr sz="950" b="1" dirty="0">
                <a:solidFill>
                  <a:srgbClr val="FFFFFF"/>
                </a:solidFill>
                <a:latin typeface="Arial"/>
                <a:cs typeface="Arial"/>
              </a:rPr>
              <a:t>ASYNCHRONOUS</a:t>
            </a:r>
            <a:r>
              <a:rPr sz="950" b="1" spc="9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950" b="1" dirty="0">
                <a:solidFill>
                  <a:srgbClr val="FFFFFF"/>
                </a:solidFill>
                <a:latin typeface="Arial"/>
                <a:cs typeface="Arial"/>
              </a:rPr>
              <a:t>ACTIVITY</a:t>
            </a:r>
            <a:r>
              <a:rPr sz="950" b="1" spc="114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950" b="1" spc="-25" dirty="0">
                <a:solidFill>
                  <a:srgbClr val="FFFFFF"/>
                </a:solidFill>
                <a:latin typeface="Arial"/>
                <a:cs typeface="Arial"/>
              </a:rPr>
              <a:t>02</a:t>
            </a:r>
            <a:endParaRPr sz="950">
              <a:latin typeface="Arial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228599" y="1228724"/>
            <a:ext cx="3810000" cy="3400425"/>
            <a:chOff x="228599" y="1228724"/>
            <a:chExt cx="3810000" cy="3400425"/>
          </a:xfrm>
        </p:grpSpPr>
        <p:sp>
          <p:nvSpPr>
            <p:cNvPr id="5" name="object 5"/>
            <p:cNvSpPr/>
            <p:nvPr/>
          </p:nvSpPr>
          <p:spPr>
            <a:xfrm>
              <a:off x="228599" y="1228724"/>
              <a:ext cx="3810000" cy="3400425"/>
            </a:xfrm>
            <a:custGeom>
              <a:avLst/>
              <a:gdLst/>
              <a:ahLst/>
              <a:cxnLst/>
              <a:rect l="l" t="t" r="r" b="b"/>
              <a:pathLst>
                <a:path w="3810000" h="3400425">
                  <a:moveTo>
                    <a:pt x="3809999" y="3400424"/>
                  </a:moveTo>
                  <a:lnTo>
                    <a:pt x="0" y="3400424"/>
                  </a:lnTo>
                  <a:lnTo>
                    <a:pt x="0" y="0"/>
                  </a:lnTo>
                  <a:lnTo>
                    <a:pt x="3809999" y="0"/>
                  </a:lnTo>
                  <a:lnTo>
                    <a:pt x="3809999" y="3400424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" name="object 6"/>
            <p:cNvSpPr/>
            <p:nvPr/>
          </p:nvSpPr>
          <p:spPr>
            <a:xfrm>
              <a:off x="390524" y="3895724"/>
              <a:ext cx="3486150" cy="19050"/>
            </a:xfrm>
            <a:custGeom>
              <a:avLst/>
              <a:gdLst/>
              <a:ahLst/>
              <a:cxnLst/>
              <a:rect l="l" t="t" r="r" b="b"/>
              <a:pathLst>
                <a:path w="3486150" h="19050">
                  <a:moveTo>
                    <a:pt x="3486149" y="19049"/>
                  </a:moveTo>
                  <a:lnTo>
                    <a:pt x="0" y="19049"/>
                  </a:lnTo>
                  <a:lnTo>
                    <a:pt x="0" y="0"/>
                  </a:lnTo>
                  <a:lnTo>
                    <a:pt x="3486149" y="0"/>
                  </a:lnTo>
                  <a:lnTo>
                    <a:pt x="3486149" y="19049"/>
                  </a:lnTo>
                  <a:close/>
                </a:path>
              </a:pathLst>
            </a:custGeom>
            <a:solidFill>
              <a:srgbClr val="003399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7" name="object 7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390524" y="1600199"/>
              <a:ext cx="1619249" cy="1619249"/>
            </a:xfrm>
            <a:prstGeom prst="rect">
              <a:avLst/>
            </a:prstGeom>
          </p:spPr>
        </p:pic>
      </p:grpSp>
      <p:sp>
        <p:nvSpPr>
          <p:cNvPr id="8" name="object 8"/>
          <p:cNvSpPr txBox="1"/>
          <p:nvPr/>
        </p:nvSpPr>
        <p:spPr>
          <a:xfrm>
            <a:off x="242887" y="1243012"/>
            <a:ext cx="3781425" cy="3166508"/>
          </a:xfrm>
          <a:prstGeom prst="rect">
            <a:avLst/>
          </a:prstGeom>
          <a:ln w="28574">
            <a:solidFill>
              <a:srgbClr val="003399"/>
            </a:solidFill>
          </a:ln>
        </p:spPr>
        <p:txBody>
          <a:bodyPr vert="horz" wrap="square" lIns="0" tIns="118745" rIns="0" bIns="0" rtlCol="0">
            <a:spAutoFit/>
          </a:bodyPr>
          <a:lstStyle/>
          <a:p>
            <a:pPr marL="147320">
              <a:lnSpc>
                <a:spcPct val="100000"/>
              </a:lnSpc>
              <a:spcBef>
                <a:spcPts val="935"/>
              </a:spcBef>
            </a:pPr>
            <a:r>
              <a:rPr sz="1050" b="1" spc="45" dirty="0">
                <a:solidFill>
                  <a:srgbClr val="4A0D4E"/>
                </a:solidFill>
                <a:latin typeface="Arial"/>
                <a:cs typeface="Arial"/>
              </a:rPr>
              <a:t>SECTION</a:t>
            </a:r>
            <a:r>
              <a:rPr sz="1050" b="1" spc="75" dirty="0">
                <a:solidFill>
                  <a:srgbClr val="4A0D4E"/>
                </a:solidFill>
                <a:latin typeface="Arial"/>
                <a:cs typeface="Arial"/>
              </a:rPr>
              <a:t> </a:t>
            </a:r>
            <a:r>
              <a:rPr sz="1050" b="1" dirty="0">
                <a:solidFill>
                  <a:srgbClr val="4A0D4E"/>
                </a:solidFill>
                <a:latin typeface="Arial"/>
                <a:cs typeface="Arial"/>
              </a:rPr>
              <a:t>A</a:t>
            </a:r>
            <a:r>
              <a:rPr sz="1050" b="1" spc="75" dirty="0">
                <a:solidFill>
                  <a:srgbClr val="4A0D4E"/>
                </a:solidFill>
                <a:latin typeface="Arial"/>
                <a:cs typeface="Arial"/>
              </a:rPr>
              <a:t> </a:t>
            </a:r>
            <a:r>
              <a:rPr sz="1050" b="1" dirty="0">
                <a:solidFill>
                  <a:srgbClr val="003399"/>
                </a:solidFill>
                <a:latin typeface="Arial"/>
                <a:cs typeface="Arial"/>
              </a:rPr>
              <a:t>·</a:t>
            </a:r>
            <a:r>
              <a:rPr sz="1050" b="1" spc="-5" dirty="0">
                <a:solidFill>
                  <a:srgbClr val="003399"/>
                </a:solidFill>
                <a:latin typeface="Arial"/>
                <a:cs typeface="Arial"/>
              </a:rPr>
              <a:t> </a:t>
            </a:r>
            <a:r>
              <a:rPr sz="1050" b="1" dirty="0">
                <a:solidFill>
                  <a:srgbClr val="003399"/>
                </a:solidFill>
                <a:latin typeface="Arial"/>
                <a:cs typeface="Arial"/>
              </a:rPr>
              <a:t>PRODUCT</a:t>
            </a:r>
            <a:r>
              <a:rPr sz="1050" b="1" spc="-10" dirty="0">
                <a:solidFill>
                  <a:srgbClr val="003399"/>
                </a:solidFill>
                <a:latin typeface="Arial"/>
                <a:cs typeface="Arial"/>
              </a:rPr>
              <a:t> IDENTITY</a:t>
            </a:r>
            <a:endParaRPr sz="1050" dirty="0">
              <a:latin typeface="Arial"/>
              <a:cs typeface="Arial"/>
            </a:endParaRPr>
          </a:p>
          <a:p>
            <a:pPr marL="1880870" marR="191770">
              <a:lnSpc>
                <a:spcPct val="125000"/>
              </a:lnSpc>
              <a:spcBef>
                <a:spcPts val="420"/>
              </a:spcBef>
            </a:pPr>
            <a:r>
              <a:rPr sz="900" b="1" dirty="0">
                <a:solidFill>
                  <a:srgbClr val="1B2433"/>
                </a:solidFill>
                <a:latin typeface="Arial"/>
                <a:cs typeface="Arial"/>
              </a:rPr>
              <a:t>Compound:</a:t>
            </a:r>
            <a:r>
              <a:rPr sz="900" b="1" spc="170" dirty="0">
                <a:solidFill>
                  <a:srgbClr val="1B2433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1B2433"/>
                </a:solidFill>
                <a:latin typeface="Arial"/>
                <a:cs typeface="Arial"/>
              </a:rPr>
              <a:t>calcium</a:t>
            </a:r>
            <a:r>
              <a:rPr sz="900" spc="170" dirty="0">
                <a:solidFill>
                  <a:srgbClr val="1B2433"/>
                </a:solidFill>
                <a:latin typeface="Arial"/>
                <a:cs typeface="Arial"/>
              </a:rPr>
              <a:t> </a:t>
            </a:r>
            <a:r>
              <a:rPr sz="900" spc="-10" dirty="0">
                <a:solidFill>
                  <a:srgbClr val="1B2433"/>
                </a:solidFill>
                <a:latin typeface="Arial"/>
                <a:cs typeface="Arial"/>
              </a:rPr>
              <a:t>carbonate, CaCO</a:t>
            </a:r>
            <a:r>
              <a:rPr sz="1125" spc="-15" baseline="-18518" dirty="0">
                <a:solidFill>
                  <a:srgbClr val="1B2433"/>
                </a:solidFill>
                <a:latin typeface="Arial"/>
                <a:cs typeface="Arial"/>
              </a:rPr>
              <a:t>3</a:t>
            </a:r>
            <a:endParaRPr sz="1125" baseline="-18518" dirty="0">
              <a:latin typeface="Arial"/>
              <a:cs typeface="Arial"/>
            </a:endParaRPr>
          </a:p>
          <a:p>
            <a:pPr marL="1880870">
              <a:lnSpc>
                <a:spcPct val="100000"/>
              </a:lnSpc>
              <a:spcBef>
                <a:spcPts val="495"/>
              </a:spcBef>
            </a:pPr>
            <a:r>
              <a:rPr sz="900" dirty="0">
                <a:solidFill>
                  <a:srgbClr val="1B2433"/>
                </a:solidFill>
                <a:latin typeface="Arial"/>
                <a:cs typeface="Arial"/>
              </a:rPr>
              <a:t>PubChem</a:t>
            </a:r>
            <a:r>
              <a:rPr sz="900" spc="120" dirty="0">
                <a:solidFill>
                  <a:srgbClr val="1B2433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1B2433"/>
                </a:solidFill>
                <a:latin typeface="Arial"/>
                <a:cs typeface="Arial"/>
              </a:rPr>
              <a:t>CID</a:t>
            </a:r>
            <a:r>
              <a:rPr sz="900" spc="120" dirty="0">
                <a:solidFill>
                  <a:srgbClr val="1B2433"/>
                </a:solidFill>
                <a:latin typeface="Arial"/>
                <a:cs typeface="Arial"/>
              </a:rPr>
              <a:t> </a:t>
            </a:r>
            <a:r>
              <a:rPr sz="900" spc="-20" dirty="0">
                <a:solidFill>
                  <a:srgbClr val="1B2433"/>
                </a:solidFill>
                <a:latin typeface="Arial"/>
                <a:cs typeface="Arial"/>
              </a:rPr>
              <a:t>10112</a:t>
            </a:r>
            <a:endParaRPr sz="900" dirty="0">
              <a:latin typeface="Arial"/>
              <a:cs typeface="Arial"/>
            </a:endParaRPr>
          </a:p>
          <a:p>
            <a:pPr marL="1880870" marR="244475">
              <a:lnSpc>
                <a:spcPct val="125000"/>
              </a:lnSpc>
            </a:pPr>
            <a:r>
              <a:rPr sz="900" b="1" dirty="0">
                <a:solidFill>
                  <a:srgbClr val="1B2433"/>
                </a:solidFill>
                <a:latin typeface="Arial"/>
                <a:cs typeface="Arial"/>
              </a:rPr>
              <a:t>Product:</a:t>
            </a:r>
            <a:r>
              <a:rPr sz="900" b="1" spc="114" dirty="0">
                <a:solidFill>
                  <a:srgbClr val="1B2433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1B2433"/>
                </a:solidFill>
                <a:latin typeface="Arial"/>
                <a:cs typeface="Arial"/>
              </a:rPr>
              <a:t>Bear</a:t>
            </a:r>
            <a:r>
              <a:rPr sz="900" spc="114" dirty="0">
                <a:solidFill>
                  <a:srgbClr val="1B2433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1B2433"/>
                </a:solidFill>
                <a:latin typeface="Arial"/>
                <a:cs typeface="Arial"/>
              </a:rPr>
              <a:t>Brand</a:t>
            </a:r>
            <a:r>
              <a:rPr sz="900" spc="120" dirty="0">
                <a:solidFill>
                  <a:srgbClr val="1B2433"/>
                </a:solidFill>
                <a:latin typeface="Arial"/>
                <a:cs typeface="Arial"/>
              </a:rPr>
              <a:t> </a:t>
            </a:r>
            <a:r>
              <a:rPr sz="900" spc="-10" dirty="0">
                <a:solidFill>
                  <a:srgbClr val="1B2433"/>
                </a:solidFill>
                <a:latin typeface="Arial"/>
                <a:cs typeface="Arial"/>
              </a:rPr>
              <a:t>Sterilized </a:t>
            </a:r>
            <a:r>
              <a:rPr sz="900" dirty="0">
                <a:solidFill>
                  <a:srgbClr val="1B2433"/>
                </a:solidFill>
                <a:latin typeface="Arial"/>
                <a:cs typeface="Arial"/>
              </a:rPr>
              <a:t>Milk,</a:t>
            </a:r>
            <a:r>
              <a:rPr sz="900" spc="75" dirty="0">
                <a:solidFill>
                  <a:srgbClr val="1B2433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1B2433"/>
                </a:solidFill>
                <a:latin typeface="Arial"/>
                <a:cs typeface="Arial"/>
              </a:rPr>
              <a:t>200</a:t>
            </a:r>
            <a:r>
              <a:rPr sz="900" spc="75" dirty="0">
                <a:solidFill>
                  <a:srgbClr val="1B2433"/>
                </a:solidFill>
                <a:latin typeface="Arial"/>
                <a:cs typeface="Arial"/>
              </a:rPr>
              <a:t> </a:t>
            </a:r>
            <a:r>
              <a:rPr sz="900" spc="-25" dirty="0">
                <a:solidFill>
                  <a:srgbClr val="1B2433"/>
                </a:solidFill>
                <a:latin typeface="Arial"/>
                <a:cs typeface="Arial"/>
              </a:rPr>
              <a:t>mL</a:t>
            </a:r>
            <a:endParaRPr sz="900" dirty="0">
              <a:latin typeface="Arial"/>
              <a:cs typeface="Arial"/>
            </a:endParaRPr>
          </a:p>
          <a:p>
            <a:pPr>
              <a:lnSpc>
                <a:spcPct val="100000"/>
              </a:lnSpc>
            </a:pPr>
            <a:endParaRPr sz="900" dirty="0">
              <a:latin typeface="Arial"/>
              <a:cs typeface="Arial"/>
            </a:endParaRPr>
          </a:p>
          <a:p>
            <a:pPr>
              <a:lnSpc>
                <a:spcPct val="100000"/>
              </a:lnSpc>
            </a:pPr>
            <a:endParaRPr sz="900" dirty="0">
              <a:latin typeface="Arial"/>
              <a:cs typeface="Arial"/>
            </a:endParaRPr>
          </a:p>
          <a:p>
            <a:pPr>
              <a:lnSpc>
                <a:spcPct val="100000"/>
              </a:lnSpc>
            </a:pPr>
            <a:endParaRPr sz="900" dirty="0">
              <a:latin typeface="Arial"/>
              <a:cs typeface="Arial"/>
            </a:endParaRPr>
          </a:p>
          <a:p>
            <a:pPr>
              <a:lnSpc>
                <a:spcPct val="100000"/>
              </a:lnSpc>
            </a:pPr>
            <a:endParaRPr sz="900" dirty="0">
              <a:latin typeface="Arial"/>
              <a:cs typeface="Arial"/>
            </a:endParaRPr>
          </a:p>
          <a:p>
            <a:pPr>
              <a:lnSpc>
                <a:spcPct val="100000"/>
              </a:lnSpc>
            </a:pPr>
            <a:endParaRPr sz="900" dirty="0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240"/>
              </a:spcBef>
            </a:pPr>
            <a:endParaRPr sz="900" dirty="0">
              <a:latin typeface="Arial"/>
              <a:cs typeface="Arial"/>
            </a:endParaRPr>
          </a:p>
          <a:p>
            <a:pPr marL="147320" marR="218440">
              <a:lnSpc>
                <a:spcPct val="100000"/>
              </a:lnSpc>
            </a:pPr>
            <a:r>
              <a:rPr lang="en-PH" sz="900" dirty="0"/>
              <a:t>Calcium carbonate (</a:t>
            </a:r>
            <a:r>
              <a:rPr lang="en-PH" sz="900" dirty="0" err="1"/>
              <a:t>CaCO</a:t>
            </a:r>
            <a:r>
              <a:rPr lang="en-PH" sz="900" dirty="0"/>
              <a:t>₃) is the compound used as the basis for calculating the amount of calcium, its corresponding moles, and the number of formula units in one 200 mL serving.</a:t>
            </a:r>
            <a:endParaRPr sz="900" dirty="0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165"/>
              </a:spcBef>
            </a:pPr>
            <a:endParaRPr sz="900" dirty="0">
              <a:latin typeface="Arial"/>
              <a:cs typeface="Arial"/>
            </a:endParaRPr>
          </a:p>
          <a:p>
            <a:pPr marL="147320" marR="1664970">
              <a:lnSpc>
                <a:spcPct val="125000"/>
              </a:lnSpc>
            </a:pPr>
            <a:r>
              <a:rPr sz="900" b="1" dirty="0">
                <a:solidFill>
                  <a:srgbClr val="1B2433"/>
                </a:solidFill>
                <a:latin typeface="Arial"/>
                <a:cs typeface="Arial"/>
              </a:rPr>
              <a:t>Investigator: </a:t>
            </a:r>
            <a:r>
              <a:rPr sz="900" dirty="0">
                <a:solidFill>
                  <a:srgbClr val="1B2433"/>
                </a:solidFill>
                <a:latin typeface="Arial"/>
                <a:cs typeface="Arial"/>
              </a:rPr>
              <a:t>Derrek Baldwin </a:t>
            </a:r>
            <a:r>
              <a:rPr sz="900" spc="-60" dirty="0">
                <a:solidFill>
                  <a:srgbClr val="1B2433"/>
                </a:solidFill>
                <a:latin typeface="Arial"/>
                <a:cs typeface="Arial"/>
              </a:rPr>
              <a:t>P.</a:t>
            </a:r>
            <a:r>
              <a:rPr sz="900" dirty="0">
                <a:solidFill>
                  <a:srgbClr val="1B2433"/>
                </a:solidFill>
                <a:latin typeface="Arial"/>
                <a:cs typeface="Arial"/>
              </a:rPr>
              <a:t> </a:t>
            </a:r>
            <a:r>
              <a:rPr sz="900" spc="-10" dirty="0">
                <a:solidFill>
                  <a:srgbClr val="1B2433"/>
                </a:solidFill>
                <a:latin typeface="Arial"/>
                <a:cs typeface="Arial"/>
              </a:rPr>
              <a:t>Gacer </a:t>
            </a:r>
            <a:r>
              <a:rPr sz="900" b="1" dirty="0">
                <a:solidFill>
                  <a:srgbClr val="1B2433"/>
                </a:solidFill>
                <a:latin typeface="Arial"/>
                <a:cs typeface="Arial"/>
              </a:rPr>
              <a:t>Course: </a:t>
            </a:r>
            <a:r>
              <a:rPr sz="900" dirty="0">
                <a:solidFill>
                  <a:srgbClr val="1B2433"/>
                </a:solidFill>
                <a:latin typeface="Arial"/>
                <a:cs typeface="Arial"/>
              </a:rPr>
              <a:t>Chemistry for </a:t>
            </a:r>
            <a:r>
              <a:rPr sz="900" spc="-10" dirty="0">
                <a:solidFill>
                  <a:srgbClr val="1B2433"/>
                </a:solidFill>
                <a:latin typeface="Arial"/>
                <a:cs typeface="Arial"/>
              </a:rPr>
              <a:t>Engineers </a:t>
            </a:r>
            <a:r>
              <a:rPr sz="900" b="1" dirty="0">
                <a:solidFill>
                  <a:srgbClr val="1B2433"/>
                </a:solidFill>
                <a:latin typeface="Arial"/>
                <a:cs typeface="Arial"/>
              </a:rPr>
              <a:t>Program: </a:t>
            </a:r>
            <a:r>
              <a:rPr sz="900" dirty="0">
                <a:solidFill>
                  <a:srgbClr val="1B2433"/>
                </a:solidFill>
                <a:latin typeface="Arial"/>
                <a:cs typeface="Arial"/>
              </a:rPr>
              <a:t>BS Computer </a:t>
            </a:r>
            <a:r>
              <a:rPr sz="900" spc="-10" dirty="0">
                <a:solidFill>
                  <a:srgbClr val="1B2433"/>
                </a:solidFill>
                <a:latin typeface="Arial"/>
                <a:cs typeface="Arial"/>
              </a:rPr>
              <a:t>Engineering</a:t>
            </a:r>
            <a:endParaRPr sz="900" dirty="0">
              <a:latin typeface="Arial"/>
              <a:cs typeface="Arial"/>
            </a:endParaRPr>
          </a:p>
        </p:txBody>
      </p:sp>
      <p:grpSp>
        <p:nvGrpSpPr>
          <p:cNvPr id="9" name="object 9"/>
          <p:cNvGrpSpPr/>
          <p:nvPr/>
        </p:nvGrpSpPr>
        <p:grpSpPr>
          <a:xfrm>
            <a:off x="4171949" y="1228724"/>
            <a:ext cx="5991225" cy="3400425"/>
            <a:chOff x="4171949" y="1228724"/>
            <a:chExt cx="5991225" cy="3400425"/>
          </a:xfrm>
        </p:grpSpPr>
        <p:sp>
          <p:nvSpPr>
            <p:cNvPr id="10" name="object 10"/>
            <p:cNvSpPr/>
            <p:nvPr/>
          </p:nvSpPr>
          <p:spPr>
            <a:xfrm>
              <a:off x="4171949" y="1228724"/>
              <a:ext cx="5991225" cy="3400425"/>
            </a:xfrm>
            <a:custGeom>
              <a:avLst/>
              <a:gdLst/>
              <a:ahLst/>
              <a:cxnLst/>
              <a:rect l="l" t="t" r="r" b="b"/>
              <a:pathLst>
                <a:path w="5991225" h="3400425">
                  <a:moveTo>
                    <a:pt x="5991224" y="3400424"/>
                  </a:moveTo>
                  <a:lnTo>
                    <a:pt x="0" y="3400424"/>
                  </a:lnTo>
                  <a:lnTo>
                    <a:pt x="0" y="0"/>
                  </a:lnTo>
                  <a:lnTo>
                    <a:pt x="5991224" y="0"/>
                  </a:lnTo>
                  <a:lnTo>
                    <a:pt x="5991224" y="3400424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" name="object 11"/>
            <p:cNvSpPr/>
            <p:nvPr/>
          </p:nvSpPr>
          <p:spPr>
            <a:xfrm>
              <a:off x="4186237" y="1243012"/>
              <a:ext cx="5962650" cy="3371850"/>
            </a:xfrm>
            <a:custGeom>
              <a:avLst/>
              <a:gdLst/>
              <a:ahLst/>
              <a:cxnLst/>
              <a:rect l="l" t="t" r="r" b="b"/>
              <a:pathLst>
                <a:path w="5962650" h="3371850">
                  <a:moveTo>
                    <a:pt x="0" y="0"/>
                  </a:moveTo>
                  <a:lnTo>
                    <a:pt x="5962649" y="0"/>
                  </a:lnTo>
                  <a:lnTo>
                    <a:pt x="5962649" y="3371849"/>
                  </a:lnTo>
                  <a:lnTo>
                    <a:pt x="0" y="3371849"/>
                  </a:lnTo>
                  <a:lnTo>
                    <a:pt x="0" y="0"/>
                  </a:lnTo>
                  <a:close/>
                </a:path>
              </a:pathLst>
            </a:custGeom>
            <a:ln w="28574">
              <a:solidFill>
                <a:srgbClr val="003399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2" name="object 12"/>
            <p:cNvSpPr/>
            <p:nvPr/>
          </p:nvSpPr>
          <p:spPr>
            <a:xfrm>
              <a:off x="4333862" y="2200286"/>
              <a:ext cx="5667375" cy="1866900"/>
            </a:xfrm>
            <a:custGeom>
              <a:avLst/>
              <a:gdLst/>
              <a:ahLst/>
              <a:cxnLst/>
              <a:rect l="l" t="t" r="r" b="b"/>
              <a:pathLst>
                <a:path w="5667375" h="1866900">
                  <a:moveTo>
                    <a:pt x="5667375" y="1857375"/>
                  </a:moveTo>
                  <a:lnTo>
                    <a:pt x="5667375" y="1857375"/>
                  </a:lnTo>
                  <a:lnTo>
                    <a:pt x="0" y="1857375"/>
                  </a:lnTo>
                  <a:lnTo>
                    <a:pt x="0" y="1866900"/>
                  </a:lnTo>
                  <a:lnTo>
                    <a:pt x="5667375" y="1866900"/>
                  </a:lnTo>
                  <a:lnTo>
                    <a:pt x="5667375" y="1857375"/>
                  </a:lnTo>
                  <a:close/>
                </a:path>
                <a:path w="5667375" h="1866900">
                  <a:moveTo>
                    <a:pt x="5667375" y="1485900"/>
                  </a:moveTo>
                  <a:lnTo>
                    <a:pt x="5667375" y="1485900"/>
                  </a:lnTo>
                  <a:lnTo>
                    <a:pt x="0" y="1485900"/>
                  </a:lnTo>
                  <a:lnTo>
                    <a:pt x="0" y="1495425"/>
                  </a:lnTo>
                  <a:lnTo>
                    <a:pt x="5667375" y="1495425"/>
                  </a:lnTo>
                  <a:lnTo>
                    <a:pt x="5667375" y="1485900"/>
                  </a:lnTo>
                  <a:close/>
                </a:path>
                <a:path w="5667375" h="1866900">
                  <a:moveTo>
                    <a:pt x="5667375" y="1114425"/>
                  </a:moveTo>
                  <a:lnTo>
                    <a:pt x="5667375" y="1114425"/>
                  </a:lnTo>
                  <a:lnTo>
                    <a:pt x="0" y="1114425"/>
                  </a:lnTo>
                  <a:lnTo>
                    <a:pt x="0" y="1123950"/>
                  </a:lnTo>
                  <a:lnTo>
                    <a:pt x="5667375" y="1123950"/>
                  </a:lnTo>
                  <a:lnTo>
                    <a:pt x="5667375" y="1114425"/>
                  </a:lnTo>
                  <a:close/>
                </a:path>
                <a:path w="5667375" h="1866900">
                  <a:moveTo>
                    <a:pt x="5667375" y="742950"/>
                  </a:moveTo>
                  <a:lnTo>
                    <a:pt x="5667375" y="742950"/>
                  </a:lnTo>
                  <a:lnTo>
                    <a:pt x="0" y="742950"/>
                  </a:lnTo>
                  <a:lnTo>
                    <a:pt x="0" y="752475"/>
                  </a:lnTo>
                  <a:lnTo>
                    <a:pt x="5667375" y="752475"/>
                  </a:lnTo>
                  <a:lnTo>
                    <a:pt x="5667375" y="742950"/>
                  </a:lnTo>
                  <a:close/>
                </a:path>
                <a:path w="5667375" h="1866900">
                  <a:moveTo>
                    <a:pt x="5667375" y="371475"/>
                  </a:moveTo>
                  <a:lnTo>
                    <a:pt x="5667375" y="371475"/>
                  </a:lnTo>
                  <a:lnTo>
                    <a:pt x="0" y="371475"/>
                  </a:lnTo>
                  <a:lnTo>
                    <a:pt x="0" y="381000"/>
                  </a:lnTo>
                  <a:lnTo>
                    <a:pt x="5667375" y="381000"/>
                  </a:lnTo>
                  <a:lnTo>
                    <a:pt x="5667375" y="371475"/>
                  </a:lnTo>
                  <a:close/>
                </a:path>
                <a:path w="5667375" h="1866900">
                  <a:moveTo>
                    <a:pt x="5667375" y="0"/>
                  </a:moveTo>
                  <a:lnTo>
                    <a:pt x="5667375" y="0"/>
                  </a:lnTo>
                  <a:lnTo>
                    <a:pt x="0" y="0"/>
                  </a:lnTo>
                  <a:lnTo>
                    <a:pt x="0" y="9525"/>
                  </a:lnTo>
                  <a:lnTo>
                    <a:pt x="5667375" y="9525"/>
                  </a:lnTo>
                  <a:lnTo>
                    <a:pt x="5667375" y="0"/>
                  </a:lnTo>
                  <a:close/>
                </a:path>
              </a:pathLst>
            </a:custGeom>
            <a:solidFill>
              <a:srgbClr val="C8D0D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3" name="object 13"/>
          <p:cNvSpPr txBox="1"/>
          <p:nvPr/>
        </p:nvSpPr>
        <p:spPr>
          <a:xfrm>
            <a:off x="4378771" y="1963737"/>
            <a:ext cx="409575" cy="168275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sz="900" spc="-10" dirty="0">
                <a:solidFill>
                  <a:srgbClr val="1B2433"/>
                </a:solidFill>
                <a:latin typeface="Arial"/>
                <a:cs typeface="Arial"/>
              </a:rPr>
              <a:t>serving</a:t>
            </a:r>
            <a:endParaRPr sz="900">
              <a:latin typeface="Arial"/>
              <a:cs typeface="Arial"/>
            </a:endParaRPr>
          </a:p>
        </p:txBody>
      </p:sp>
      <p:sp>
        <p:nvSpPr>
          <p:cNvPr id="14" name="object 14"/>
          <p:cNvSpPr txBox="1"/>
          <p:nvPr/>
        </p:nvSpPr>
        <p:spPr>
          <a:xfrm>
            <a:off x="8806259" y="1992312"/>
            <a:ext cx="448945" cy="168275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sz="900" b="1" spc="-10" dirty="0">
                <a:solidFill>
                  <a:srgbClr val="D32E2E"/>
                </a:solidFill>
                <a:latin typeface="Arial"/>
                <a:cs typeface="Arial"/>
              </a:rPr>
              <a:t>limiting</a:t>
            </a:r>
            <a:endParaRPr sz="900">
              <a:latin typeface="Arial"/>
              <a:cs typeface="Arial"/>
            </a:endParaRPr>
          </a:p>
        </p:txBody>
      </p:sp>
      <p:sp>
        <p:nvSpPr>
          <p:cNvPr id="15" name="object 15"/>
          <p:cNvSpPr txBox="1"/>
          <p:nvPr/>
        </p:nvSpPr>
        <p:spPr>
          <a:xfrm>
            <a:off x="4378771" y="2230437"/>
            <a:ext cx="885825" cy="168275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sz="900" dirty="0">
                <a:solidFill>
                  <a:srgbClr val="1B2433"/>
                </a:solidFill>
                <a:latin typeface="Arial"/>
                <a:cs typeface="Arial"/>
              </a:rPr>
              <a:t>Reference</a:t>
            </a:r>
            <a:r>
              <a:rPr sz="900" spc="175" dirty="0">
                <a:solidFill>
                  <a:srgbClr val="1B2433"/>
                </a:solidFill>
                <a:latin typeface="Arial"/>
                <a:cs typeface="Arial"/>
              </a:rPr>
              <a:t> </a:t>
            </a:r>
            <a:r>
              <a:rPr sz="900" spc="-10" dirty="0">
                <a:solidFill>
                  <a:srgbClr val="1B2433"/>
                </a:solidFill>
                <a:latin typeface="Arial"/>
                <a:cs typeface="Arial"/>
              </a:rPr>
              <a:t>basis</a:t>
            </a:r>
            <a:endParaRPr sz="900">
              <a:latin typeface="Arial"/>
              <a:cs typeface="Arial"/>
            </a:endParaRPr>
          </a:p>
        </p:txBody>
      </p:sp>
      <p:sp>
        <p:nvSpPr>
          <p:cNvPr id="16" name="object 16"/>
          <p:cNvSpPr txBox="1"/>
          <p:nvPr/>
        </p:nvSpPr>
        <p:spPr>
          <a:xfrm>
            <a:off x="5467300" y="2230437"/>
            <a:ext cx="1053465" cy="301625"/>
          </a:xfrm>
          <a:prstGeom prst="rect">
            <a:avLst/>
          </a:prstGeom>
        </p:spPr>
        <p:txBody>
          <a:bodyPr vert="horz" wrap="square" lIns="0" tIns="24765" rIns="0" bIns="0" rtlCol="0">
            <a:spAutoFit/>
          </a:bodyPr>
          <a:lstStyle/>
          <a:p>
            <a:pPr marL="12700" marR="5080">
              <a:lnSpc>
                <a:spcPts val="1050"/>
              </a:lnSpc>
              <a:spcBef>
                <a:spcPts val="195"/>
              </a:spcBef>
            </a:pPr>
            <a:r>
              <a:rPr sz="900" dirty="0">
                <a:solidFill>
                  <a:srgbClr val="1B2433"/>
                </a:solidFill>
                <a:latin typeface="Arial"/>
                <a:cs typeface="Arial"/>
              </a:rPr>
              <a:t>Per</a:t>
            </a:r>
            <a:r>
              <a:rPr sz="900" spc="65" dirty="0">
                <a:solidFill>
                  <a:srgbClr val="1B2433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1B2433"/>
                </a:solidFill>
                <a:latin typeface="Arial"/>
                <a:cs typeface="Arial"/>
              </a:rPr>
              <a:t>200</a:t>
            </a:r>
            <a:r>
              <a:rPr sz="900" spc="70" dirty="0">
                <a:solidFill>
                  <a:srgbClr val="1B2433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1B2433"/>
                </a:solidFill>
                <a:latin typeface="Arial"/>
                <a:cs typeface="Arial"/>
              </a:rPr>
              <a:t>mL</a:t>
            </a:r>
            <a:r>
              <a:rPr sz="900" spc="25" dirty="0">
                <a:solidFill>
                  <a:srgbClr val="1B2433"/>
                </a:solidFill>
                <a:latin typeface="Arial"/>
                <a:cs typeface="Arial"/>
              </a:rPr>
              <a:t> </a:t>
            </a:r>
            <a:r>
              <a:rPr sz="900" spc="-10" dirty="0">
                <a:solidFill>
                  <a:srgbClr val="1B2433"/>
                </a:solidFill>
                <a:latin typeface="Arial"/>
                <a:cs typeface="Arial"/>
              </a:rPr>
              <a:t>serving </a:t>
            </a:r>
            <a:r>
              <a:rPr sz="900" spc="-20" dirty="0">
                <a:solidFill>
                  <a:srgbClr val="1B2433"/>
                </a:solidFill>
                <a:latin typeface="Arial"/>
                <a:cs typeface="Arial"/>
              </a:rPr>
              <a:t>size</a:t>
            </a:r>
            <a:endParaRPr sz="900">
              <a:latin typeface="Arial"/>
              <a:cs typeface="Arial"/>
            </a:endParaRPr>
          </a:p>
        </p:txBody>
      </p:sp>
      <p:sp>
        <p:nvSpPr>
          <p:cNvPr id="17" name="object 17"/>
          <p:cNvSpPr txBox="1"/>
          <p:nvPr/>
        </p:nvSpPr>
        <p:spPr>
          <a:xfrm>
            <a:off x="6786364" y="2230437"/>
            <a:ext cx="191135" cy="168275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sz="900" spc="-25" dirty="0">
                <a:solidFill>
                  <a:srgbClr val="1B2433"/>
                </a:solidFill>
                <a:latin typeface="Arial"/>
                <a:cs typeface="Arial"/>
              </a:rPr>
              <a:t>mL</a:t>
            </a:r>
            <a:endParaRPr sz="900">
              <a:latin typeface="Arial"/>
              <a:cs typeface="Arial"/>
            </a:endParaRPr>
          </a:p>
        </p:txBody>
      </p:sp>
      <p:sp>
        <p:nvSpPr>
          <p:cNvPr id="18" name="object 18"/>
          <p:cNvSpPr txBox="1"/>
          <p:nvPr/>
        </p:nvSpPr>
        <p:spPr>
          <a:xfrm>
            <a:off x="7205761" y="2230437"/>
            <a:ext cx="720725" cy="168275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sz="900" dirty="0">
                <a:solidFill>
                  <a:srgbClr val="1B2433"/>
                </a:solidFill>
                <a:latin typeface="Arial"/>
                <a:cs typeface="Arial"/>
              </a:rPr>
              <a:t>Product</a:t>
            </a:r>
            <a:r>
              <a:rPr sz="900" spc="130" dirty="0">
                <a:solidFill>
                  <a:srgbClr val="1B2433"/>
                </a:solidFill>
                <a:latin typeface="Arial"/>
                <a:cs typeface="Arial"/>
              </a:rPr>
              <a:t> </a:t>
            </a:r>
            <a:r>
              <a:rPr sz="900" spc="-10" dirty="0">
                <a:solidFill>
                  <a:srgbClr val="1B2433"/>
                </a:solidFill>
                <a:latin typeface="Arial"/>
                <a:cs typeface="Arial"/>
              </a:rPr>
              <a:t>label</a:t>
            </a:r>
            <a:endParaRPr sz="900">
              <a:latin typeface="Arial"/>
              <a:cs typeface="Arial"/>
            </a:endParaRPr>
          </a:p>
        </p:txBody>
      </p:sp>
      <p:sp>
        <p:nvSpPr>
          <p:cNvPr id="19" name="object 19"/>
          <p:cNvSpPr txBox="1"/>
          <p:nvPr/>
        </p:nvSpPr>
        <p:spPr>
          <a:xfrm>
            <a:off x="8806259" y="2230437"/>
            <a:ext cx="634365" cy="168275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sz="900" dirty="0">
                <a:solidFill>
                  <a:srgbClr val="1B2433"/>
                </a:solidFill>
                <a:latin typeface="Arial"/>
                <a:cs typeface="Arial"/>
              </a:rPr>
              <a:t>Exact</a:t>
            </a:r>
            <a:r>
              <a:rPr sz="900" spc="100" dirty="0">
                <a:solidFill>
                  <a:srgbClr val="1B2433"/>
                </a:solidFill>
                <a:latin typeface="Arial"/>
                <a:cs typeface="Arial"/>
              </a:rPr>
              <a:t> </a:t>
            </a:r>
            <a:r>
              <a:rPr sz="900" spc="-10" dirty="0">
                <a:solidFill>
                  <a:srgbClr val="1B2433"/>
                </a:solidFill>
                <a:latin typeface="Arial"/>
                <a:cs typeface="Arial"/>
              </a:rPr>
              <a:t>basis</a:t>
            </a:r>
            <a:endParaRPr sz="900">
              <a:latin typeface="Arial"/>
              <a:cs typeface="Arial"/>
            </a:endParaRPr>
          </a:p>
        </p:txBody>
      </p:sp>
      <p:sp>
        <p:nvSpPr>
          <p:cNvPr id="20" name="object 20"/>
          <p:cNvSpPr txBox="1"/>
          <p:nvPr/>
        </p:nvSpPr>
        <p:spPr>
          <a:xfrm>
            <a:off x="4378771" y="2601912"/>
            <a:ext cx="786765" cy="301625"/>
          </a:xfrm>
          <a:prstGeom prst="rect">
            <a:avLst/>
          </a:prstGeom>
        </p:spPr>
        <p:txBody>
          <a:bodyPr vert="horz" wrap="square" lIns="0" tIns="24765" rIns="0" bIns="0" rtlCol="0">
            <a:spAutoFit/>
          </a:bodyPr>
          <a:lstStyle/>
          <a:p>
            <a:pPr marL="12700" marR="5080">
              <a:lnSpc>
                <a:spcPts val="1050"/>
              </a:lnSpc>
              <a:spcBef>
                <a:spcPts val="195"/>
              </a:spcBef>
            </a:pPr>
            <a:r>
              <a:rPr sz="900" dirty="0">
                <a:solidFill>
                  <a:srgbClr val="1B2433"/>
                </a:solidFill>
                <a:latin typeface="Arial"/>
                <a:cs typeface="Arial"/>
              </a:rPr>
              <a:t>Net</a:t>
            </a:r>
            <a:r>
              <a:rPr sz="900" spc="65" dirty="0">
                <a:solidFill>
                  <a:srgbClr val="1B2433"/>
                </a:solidFill>
                <a:latin typeface="Arial"/>
                <a:cs typeface="Arial"/>
              </a:rPr>
              <a:t> </a:t>
            </a:r>
            <a:r>
              <a:rPr sz="900" spc="-10" dirty="0">
                <a:solidFill>
                  <a:srgbClr val="1B2433"/>
                </a:solidFill>
                <a:latin typeface="Arial"/>
                <a:cs typeface="Arial"/>
              </a:rPr>
              <a:t>packaging contents</a:t>
            </a:r>
            <a:endParaRPr sz="900">
              <a:latin typeface="Arial"/>
              <a:cs typeface="Arial"/>
            </a:endParaRPr>
          </a:p>
        </p:txBody>
      </p:sp>
      <p:sp>
        <p:nvSpPr>
          <p:cNvPr id="21" name="object 21"/>
          <p:cNvSpPr txBox="1"/>
          <p:nvPr/>
        </p:nvSpPr>
        <p:spPr>
          <a:xfrm>
            <a:off x="5467300" y="2601912"/>
            <a:ext cx="1510030" cy="168275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  <a:tabLst>
                <a:tab pos="1331595" algn="l"/>
              </a:tabLst>
            </a:pPr>
            <a:r>
              <a:rPr sz="900" dirty="0">
                <a:solidFill>
                  <a:srgbClr val="1B2433"/>
                </a:solidFill>
                <a:latin typeface="Arial"/>
                <a:cs typeface="Arial"/>
              </a:rPr>
              <a:t>200</a:t>
            </a:r>
            <a:r>
              <a:rPr sz="900" spc="85" dirty="0">
                <a:solidFill>
                  <a:srgbClr val="1B2433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1B2433"/>
                </a:solidFill>
                <a:latin typeface="Arial"/>
                <a:cs typeface="Arial"/>
              </a:rPr>
              <a:t>mL</a:t>
            </a:r>
            <a:r>
              <a:rPr sz="900" spc="45" dirty="0">
                <a:solidFill>
                  <a:srgbClr val="1B2433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1B2433"/>
                </a:solidFill>
                <a:latin typeface="Arial"/>
                <a:cs typeface="Arial"/>
              </a:rPr>
              <a:t>volume</a:t>
            </a:r>
            <a:r>
              <a:rPr sz="900" spc="90" dirty="0">
                <a:solidFill>
                  <a:srgbClr val="1B2433"/>
                </a:solidFill>
                <a:latin typeface="Arial"/>
                <a:cs typeface="Arial"/>
              </a:rPr>
              <a:t> </a:t>
            </a:r>
            <a:r>
              <a:rPr sz="900" spc="-10" dirty="0">
                <a:solidFill>
                  <a:srgbClr val="1B2433"/>
                </a:solidFill>
                <a:latin typeface="Arial"/>
                <a:cs typeface="Arial"/>
              </a:rPr>
              <a:t>basis</a:t>
            </a:r>
            <a:r>
              <a:rPr sz="900" dirty="0">
                <a:solidFill>
                  <a:srgbClr val="1B2433"/>
                </a:solidFill>
                <a:latin typeface="Arial"/>
                <a:cs typeface="Arial"/>
              </a:rPr>
              <a:t>	</a:t>
            </a:r>
            <a:r>
              <a:rPr sz="900" spc="-25" dirty="0">
                <a:solidFill>
                  <a:srgbClr val="1B2433"/>
                </a:solidFill>
                <a:latin typeface="Arial"/>
                <a:cs typeface="Arial"/>
              </a:rPr>
              <a:t>mL</a:t>
            </a:r>
            <a:endParaRPr sz="900">
              <a:latin typeface="Arial"/>
              <a:cs typeface="Arial"/>
            </a:endParaRPr>
          </a:p>
        </p:txBody>
      </p:sp>
      <p:sp>
        <p:nvSpPr>
          <p:cNvPr id="22" name="object 22"/>
          <p:cNvSpPr txBox="1"/>
          <p:nvPr/>
        </p:nvSpPr>
        <p:spPr>
          <a:xfrm>
            <a:off x="7205761" y="2601912"/>
            <a:ext cx="720725" cy="168275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sz="900" dirty="0">
                <a:solidFill>
                  <a:srgbClr val="1B2433"/>
                </a:solidFill>
                <a:latin typeface="Arial"/>
                <a:cs typeface="Arial"/>
              </a:rPr>
              <a:t>Product</a:t>
            </a:r>
            <a:r>
              <a:rPr sz="900" spc="130" dirty="0">
                <a:solidFill>
                  <a:srgbClr val="1B2433"/>
                </a:solidFill>
                <a:latin typeface="Arial"/>
                <a:cs typeface="Arial"/>
              </a:rPr>
              <a:t> </a:t>
            </a:r>
            <a:r>
              <a:rPr sz="900" spc="-10" dirty="0">
                <a:solidFill>
                  <a:srgbClr val="1B2433"/>
                </a:solidFill>
                <a:latin typeface="Arial"/>
                <a:cs typeface="Arial"/>
              </a:rPr>
              <a:t>label</a:t>
            </a:r>
            <a:endParaRPr sz="900">
              <a:latin typeface="Arial"/>
              <a:cs typeface="Arial"/>
            </a:endParaRPr>
          </a:p>
        </p:txBody>
      </p:sp>
      <p:sp>
        <p:nvSpPr>
          <p:cNvPr id="23" name="object 23"/>
          <p:cNvSpPr txBox="1"/>
          <p:nvPr/>
        </p:nvSpPr>
        <p:spPr>
          <a:xfrm>
            <a:off x="8806259" y="2601912"/>
            <a:ext cx="1097915" cy="168275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sz="900" dirty="0">
                <a:solidFill>
                  <a:srgbClr val="1B2433"/>
                </a:solidFill>
                <a:latin typeface="Arial"/>
                <a:cs typeface="Arial"/>
              </a:rPr>
              <a:t>Nominal,</a:t>
            </a:r>
            <a:r>
              <a:rPr sz="900" spc="105" dirty="0">
                <a:solidFill>
                  <a:srgbClr val="1B2433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1B2433"/>
                </a:solidFill>
                <a:latin typeface="Arial"/>
                <a:cs typeface="Arial"/>
              </a:rPr>
              <a:t>not</a:t>
            </a:r>
            <a:r>
              <a:rPr sz="900" spc="105" dirty="0">
                <a:solidFill>
                  <a:srgbClr val="1B2433"/>
                </a:solidFill>
                <a:latin typeface="Arial"/>
                <a:cs typeface="Arial"/>
              </a:rPr>
              <a:t> </a:t>
            </a:r>
            <a:r>
              <a:rPr sz="900" spc="-10" dirty="0">
                <a:solidFill>
                  <a:srgbClr val="1B2433"/>
                </a:solidFill>
                <a:latin typeface="Arial"/>
                <a:cs typeface="Arial"/>
              </a:rPr>
              <a:t>limiting</a:t>
            </a:r>
            <a:endParaRPr sz="900">
              <a:latin typeface="Arial"/>
              <a:cs typeface="Arial"/>
            </a:endParaRPr>
          </a:p>
        </p:txBody>
      </p:sp>
      <p:sp>
        <p:nvSpPr>
          <p:cNvPr id="24" name="object 24"/>
          <p:cNvSpPr txBox="1"/>
          <p:nvPr/>
        </p:nvSpPr>
        <p:spPr>
          <a:xfrm>
            <a:off x="4378771" y="2973387"/>
            <a:ext cx="951865" cy="168275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sz="900" dirty="0">
                <a:solidFill>
                  <a:srgbClr val="1B2433"/>
                </a:solidFill>
                <a:latin typeface="Arial"/>
                <a:cs typeface="Arial"/>
              </a:rPr>
              <a:t>Chemical</a:t>
            </a:r>
            <a:r>
              <a:rPr sz="900" spc="160" dirty="0">
                <a:solidFill>
                  <a:srgbClr val="1B2433"/>
                </a:solidFill>
                <a:latin typeface="Arial"/>
                <a:cs typeface="Arial"/>
              </a:rPr>
              <a:t> </a:t>
            </a:r>
            <a:r>
              <a:rPr sz="900" spc="-10" dirty="0">
                <a:solidFill>
                  <a:srgbClr val="1B2433"/>
                </a:solidFill>
                <a:latin typeface="Arial"/>
                <a:cs typeface="Arial"/>
              </a:rPr>
              <a:t>formula</a:t>
            </a:r>
            <a:endParaRPr sz="900">
              <a:latin typeface="Arial"/>
              <a:cs typeface="Arial"/>
            </a:endParaRPr>
          </a:p>
        </p:txBody>
      </p:sp>
      <p:sp>
        <p:nvSpPr>
          <p:cNvPr id="25" name="object 25"/>
          <p:cNvSpPr txBox="1"/>
          <p:nvPr/>
        </p:nvSpPr>
        <p:spPr>
          <a:xfrm>
            <a:off x="5441900" y="2973387"/>
            <a:ext cx="462280" cy="168275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135"/>
              </a:spcBef>
            </a:pPr>
            <a:r>
              <a:rPr sz="900" spc="-10" dirty="0">
                <a:solidFill>
                  <a:srgbClr val="1B2433"/>
                </a:solidFill>
                <a:latin typeface="Arial"/>
                <a:cs typeface="Arial"/>
              </a:rPr>
              <a:t>CaCO</a:t>
            </a:r>
            <a:r>
              <a:rPr sz="1125" spc="-15" baseline="-18518" dirty="0">
                <a:solidFill>
                  <a:srgbClr val="1B2433"/>
                </a:solidFill>
                <a:latin typeface="Arial"/>
                <a:cs typeface="Arial"/>
              </a:rPr>
              <a:t>3</a:t>
            </a:r>
            <a:endParaRPr sz="1125" baseline="-18518">
              <a:latin typeface="Arial"/>
              <a:cs typeface="Arial"/>
            </a:endParaRPr>
          </a:p>
        </p:txBody>
      </p:sp>
      <p:sp>
        <p:nvSpPr>
          <p:cNvPr id="26" name="object 26"/>
          <p:cNvSpPr txBox="1"/>
          <p:nvPr/>
        </p:nvSpPr>
        <p:spPr>
          <a:xfrm>
            <a:off x="6786364" y="2973387"/>
            <a:ext cx="1567815" cy="168275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  <a:tabLst>
                <a:tab pos="431800" algn="l"/>
              </a:tabLst>
            </a:pPr>
            <a:r>
              <a:rPr sz="900" dirty="0">
                <a:solidFill>
                  <a:srgbClr val="1B2433"/>
                </a:solidFill>
                <a:latin typeface="Arial"/>
                <a:cs typeface="Arial"/>
              </a:rPr>
              <a:t>—	PubChem</a:t>
            </a:r>
            <a:r>
              <a:rPr sz="900" spc="120" dirty="0">
                <a:solidFill>
                  <a:srgbClr val="1B2433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1B2433"/>
                </a:solidFill>
                <a:latin typeface="Arial"/>
                <a:cs typeface="Arial"/>
              </a:rPr>
              <a:t>CID</a:t>
            </a:r>
            <a:r>
              <a:rPr sz="900" spc="120" dirty="0">
                <a:solidFill>
                  <a:srgbClr val="1B2433"/>
                </a:solidFill>
                <a:latin typeface="Arial"/>
                <a:cs typeface="Arial"/>
              </a:rPr>
              <a:t> </a:t>
            </a:r>
            <a:r>
              <a:rPr sz="900" spc="-10" dirty="0">
                <a:solidFill>
                  <a:srgbClr val="1B2433"/>
                </a:solidFill>
                <a:latin typeface="Arial"/>
                <a:cs typeface="Arial"/>
              </a:rPr>
              <a:t>10112</a:t>
            </a:r>
            <a:endParaRPr sz="900">
              <a:latin typeface="Arial"/>
              <a:cs typeface="Arial"/>
            </a:endParaRPr>
          </a:p>
        </p:txBody>
      </p:sp>
      <p:sp>
        <p:nvSpPr>
          <p:cNvPr id="27" name="object 27"/>
          <p:cNvSpPr txBox="1"/>
          <p:nvPr/>
        </p:nvSpPr>
        <p:spPr>
          <a:xfrm>
            <a:off x="8806259" y="2973387"/>
            <a:ext cx="1064260" cy="301625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ts val="1065"/>
              </a:lnSpc>
              <a:spcBef>
                <a:spcPts val="135"/>
              </a:spcBef>
            </a:pPr>
            <a:r>
              <a:rPr sz="900" dirty="0">
                <a:solidFill>
                  <a:srgbClr val="1B2433"/>
                </a:solidFill>
                <a:latin typeface="Arial"/>
                <a:cs typeface="Arial"/>
              </a:rPr>
              <a:t>Exact</a:t>
            </a:r>
            <a:r>
              <a:rPr sz="900" spc="135" dirty="0">
                <a:solidFill>
                  <a:srgbClr val="1B2433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1B2433"/>
                </a:solidFill>
                <a:latin typeface="Arial"/>
                <a:cs typeface="Arial"/>
              </a:rPr>
              <a:t>subscripts</a:t>
            </a:r>
            <a:r>
              <a:rPr sz="900" spc="135" dirty="0">
                <a:solidFill>
                  <a:srgbClr val="1B2433"/>
                </a:solidFill>
                <a:latin typeface="Arial"/>
                <a:cs typeface="Arial"/>
              </a:rPr>
              <a:t> </a:t>
            </a:r>
            <a:r>
              <a:rPr sz="900" spc="-25" dirty="0">
                <a:solidFill>
                  <a:srgbClr val="1B2433"/>
                </a:solidFill>
                <a:latin typeface="Arial"/>
                <a:cs typeface="Arial"/>
              </a:rPr>
              <a:t>(1,</a:t>
            </a:r>
            <a:endParaRPr sz="90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1B2433"/>
                </a:solidFill>
                <a:latin typeface="Arial"/>
                <a:cs typeface="Arial"/>
              </a:rPr>
              <a:t>1,</a:t>
            </a:r>
            <a:r>
              <a:rPr sz="900" spc="40" dirty="0">
                <a:solidFill>
                  <a:srgbClr val="1B2433"/>
                </a:solidFill>
                <a:latin typeface="Arial"/>
                <a:cs typeface="Arial"/>
              </a:rPr>
              <a:t> </a:t>
            </a:r>
            <a:r>
              <a:rPr sz="900" spc="-25" dirty="0">
                <a:solidFill>
                  <a:srgbClr val="1B2433"/>
                </a:solidFill>
                <a:latin typeface="Arial"/>
                <a:cs typeface="Arial"/>
              </a:rPr>
              <a:t>3)</a:t>
            </a:r>
            <a:endParaRPr sz="900">
              <a:latin typeface="Arial"/>
              <a:cs typeface="Arial"/>
            </a:endParaRPr>
          </a:p>
        </p:txBody>
      </p:sp>
      <p:sp>
        <p:nvSpPr>
          <p:cNvPr id="28" name="object 28"/>
          <p:cNvSpPr txBox="1"/>
          <p:nvPr/>
        </p:nvSpPr>
        <p:spPr>
          <a:xfrm>
            <a:off x="4378771" y="3344862"/>
            <a:ext cx="826135" cy="168275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sz="900" dirty="0">
                <a:solidFill>
                  <a:srgbClr val="1B2433"/>
                </a:solidFill>
                <a:latin typeface="Arial"/>
                <a:cs typeface="Arial"/>
              </a:rPr>
              <a:t>Atomic</a:t>
            </a:r>
            <a:r>
              <a:rPr sz="900" spc="120" dirty="0">
                <a:solidFill>
                  <a:srgbClr val="1B2433"/>
                </a:solidFill>
                <a:latin typeface="Arial"/>
                <a:cs typeface="Arial"/>
              </a:rPr>
              <a:t> </a:t>
            </a:r>
            <a:r>
              <a:rPr sz="900" spc="-10" dirty="0">
                <a:solidFill>
                  <a:srgbClr val="1B2433"/>
                </a:solidFill>
                <a:latin typeface="Arial"/>
                <a:cs typeface="Arial"/>
              </a:rPr>
              <a:t>weights</a:t>
            </a:r>
            <a:endParaRPr sz="900">
              <a:latin typeface="Arial"/>
              <a:cs typeface="Arial"/>
            </a:endParaRPr>
          </a:p>
        </p:txBody>
      </p:sp>
      <p:sp>
        <p:nvSpPr>
          <p:cNvPr id="29" name="object 29"/>
          <p:cNvSpPr txBox="1"/>
          <p:nvPr/>
        </p:nvSpPr>
        <p:spPr>
          <a:xfrm>
            <a:off x="5467300" y="3344862"/>
            <a:ext cx="1168400" cy="301625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ts val="1065"/>
              </a:lnSpc>
              <a:spcBef>
                <a:spcPts val="135"/>
              </a:spcBef>
            </a:pPr>
            <a:r>
              <a:rPr sz="900" dirty="0">
                <a:solidFill>
                  <a:srgbClr val="1B2433"/>
                </a:solidFill>
                <a:latin typeface="Arial"/>
                <a:cs typeface="Arial"/>
              </a:rPr>
              <a:t>C</a:t>
            </a:r>
            <a:r>
              <a:rPr sz="900" spc="50" dirty="0">
                <a:solidFill>
                  <a:srgbClr val="1B2433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1B2433"/>
                </a:solidFill>
                <a:latin typeface="Arial"/>
                <a:cs typeface="Arial"/>
              </a:rPr>
              <a:t>12.011</a:t>
            </a:r>
            <a:r>
              <a:rPr sz="900" spc="55" dirty="0">
                <a:solidFill>
                  <a:srgbClr val="1B2433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1B2433"/>
                </a:solidFill>
                <a:latin typeface="Arial"/>
                <a:cs typeface="Arial"/>
              </a:rPr>
              <a:t>·</a:t>
            </a:r>
            <a:r>
              <a:rPr sz="900" spc="50" dirty="0">
                <a:solidFill>
                  <a:srgbClr val="1B2433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1B2433"/>
                </a:solidFill>
                <a:latin typeface="Arial"/>
                <a:cs typeface="Arial"/>
              </a:rPr>
              <a:t>O</a:t>
            </a:r>
            <a:r>
              <a:rPr sz="900" spc="55" dirty="0">
                <a:solidFill>
                  <a:srgbClr val="1B2433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1B2433"/>
                </a:solidFill>
                <a:latin typeface="Arial"/>
                <a:cs typeface="Arial"/>
              </a:rPr>
              <a:t>15.999</a:t>
            </a:r>
            <a:r>
              <a:rPr sz="900" spc="55" dirty="0">
                <a:solidFill>
                  <a:srgbClr val="1B2433"/>
                </a:solidFill>
                <a:latin typeface="Arial"/>
                <a:cs typeface="Arial"/>
              </a:rPr>
              <a:t> </a:t>
            </a:r>
            <a:r>
              <a:rPr sz="900" spc="-50" dirty="0">
                <a:solidFill>
                  <a:srgbClr val="1B2433"/>
                </a:solidFill>
                <a:latin typeface="Arial"/>
                <a:cs typeface="Arial"/>
              </a:rPr>
              <a:t>·</a:t>
            </a:r>
            <a:endParaRPr sz="90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1B2433"/>
                </a:solidFill>
                <a:latin typeface="Arial"/>
                <a:cs typeface="Arial"/>
              </a:rPr>
              <a:t>Ca</a:t>
            </a:r>
            <a:r>
              <a:rPr sz="900" spc="55" dirty="0">
                <a:solidFill>
                  <a:srgbClr val="1B2433"/>
                </a:solidFill>
                <a:latin typeface="Arial"/>
                <a:cs typeface="Arial"/>
              </a:rPr>
              <a:t> </a:t>
            </a:r>
            <a:r>
              <a:rPr sz="900" spc="-10" dirty="0">
                <a:solidFill>
                  <a:srgbClr val="1B2433"/>
                </a:solidFill>
                <a:latin typeface="Arial"/>
                <a:cs typeface="Arial"/>
              </a:rPr>
              <a:t>40.078</a:t>
            </a:r>
            <a:endParaRPr sz="900">
              <a:latin typeface="Arial"/>
              <a:cs typeface="Arial"/>
            </a:endParaRPr>
          </a:p>
        </p:txBody>
      </p:sp>
      <p:sp>
        <p:nvSpPr>
          <p:cNvPr id="30" name="object 30"/>
          <p:cNvSpPr txBox="1"/>
          <p:nvPr/>
        </p:nvSpPr>
        <p:spPr>
          <a:xfrm>
            <a:off x="6786364" y="3344862"/>
            <a:ext cx="316865" cy="168275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sz="900" spc="-10" dirty="0">
                <a:solidFill>
                  <a:srgbClr val="1B2433"/>
                </a:solidFill>
                <a:latin typeface="Arial"/>
                <a:cs typeface="Arial"/>
              </a:rPr>
              <a:t>g/mol</a:t>
            </a:r>
            <a:endParaRPr sz="900">
              <a:latin typeface="Arial"/>
              <a:cs typeface="Arial"/>
            </a:endParaRPr>
          </a:p>
        </p:txBody>
      </p:sp>
      <p:sp>
        <p:nvSpPr>
          <p:cNvPr id="31" name="object 31"/>
          <p:cNvSpPr txBox="1"/>
          <p:nvPr/>
        </p:nvSpPr>
        <p:spPr>
          <a:xfrm>
            <a:off x="7205761" y="3344862"/>
            <a:ext cx="1296035" cy="301625"/>
          </a:xfrm>
          <a:prstGeom prst="rect">
            <a:avLst/>
          </a:prstGeom>
        </p:spPr>
        <p:txBody>
          <a:bodyPr vert="horz" wrap="square" lIns="0" tIns="24765" rIns="0" bIns="0" rtlCol="0">
            <a:spAutoFit/>
          </a:bodyPr>
          <a:lstStyle/>
          <a:p>
            <a:pPr marL="12700" marR="5080">
              <a:lnSpc>
                <a:spcPts val="1050"/>
              </a:lnSpc>
              <a:spcBef>
                <a:spcPts val="195"/>
              </a:spcBef>
            </a:pPr>
            <a:r>
              <a:rPr sz="900" dirty="0">
                <a:solidFill>
                  <a:srgbClr val="1B2433"/>
                </a:solidFill>
                <a:latin typeface="Arial"/>
                <a:cs typeface="Arial"/>
              </a:rPr>
              <a:t>IUPAC/CIAAW</a:t>
            </a:r>
            <a:r>
              <a:rPr sz="900" spc="140" dirty="0">
                <a:solidFill>
                  <a:srgbClr val="1B2433"/>
                </a:solidFill>
                <a:latin typeface="Arial"/>
                <a:cs typeface="Arial"/>
              </a:rPr>
              <a:t> </a:t>
            </a:r>
            <a:r>
              <a:rPr sz="900" spc="-10" dirty="0">
                <a:solidFill>
                  <a:srgbClr val="1B2433"/>
                </a:solidFill>
                <a:latin typeface="Arial"/>
                <a:cs typeface="Arial"/>
              </a:rPr>
              <a:t>abridged </a:t>
            </a:r>
            <a:r>
              <a:rPr sz="900" dirty="0">
                <a:solidFill>
                  <a:srgbClr val="1B2433"/>
                </a:solidFill>
                <a:latin typeface="Arial"/>
                <a:cs typeface="Arial"/>
              </a:rPr>
              <a:t>table</a:t>
            </a:r>
            <a:r>
              <a:rPr sz="900" spc="85" dirty="0">
                <a:solidFill>
                  <a:srgbClr val="1B2433"/>
                </a:solidFill>
                <a:latin typeface="Arial"/>
                <a:cs typeface="Arial"/>
              </a:rPr>
              <a:t> </a:t>
            </a:r>
            <a:r>
              <a:rPr sz="900" spc="-10" dirty="0">
                <a:solidFill>
                  <a:srgbClr val="1B2433"/>
                </a:solidFill>
                <a:latin typeface="Arial"/>
                <a:cs typeface="Arial"/>
              </a:rPr>
              <a:t>(2024)</a:t>
            </a:r>
            <a:endParaRPr sz="900">
              <a:latin typeface="Arial"/>
              <a:cs typeface="Arial"/>
            </a:endParaRPr>
          </a:p>
        </p:txBody>
      </p:sp>
      <p:sp>
        <p:nvSpPr>
          <p:cNvPr id="32" name="object 32"/>
          <p:cNvSpPr txBox="1"/>
          <p:nvPr/>
        </p:nvSpPr>
        <p:spPr>
          <a:xfrm>
            <a:off x="8806259" y="3344862"/>
            <a:ext cx="614680" cy="168275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sz="900" dirty="0">
                <a:solidFill>
                  <a:srgbClr val="1B2433"/>
                </a:solidFill>
                <a:latin typeface="Arial"/>
                <a:cs typeface="Arial"/>
              </a:rPr>
              <a:t>Not</a:t>
            </a:r>
            <a:r>
              <a:rPr sz="900" spc="65" dirty="0">
                <a:solidFill>
                  <a:srgbClr val="1B2433"/>
                </a:solidFill>
                <a:latin typeface="Arial"/>
                <a:cs typeface="Arial"/>
              </a:rPr>
              <a:t> </a:t>
            </a:r>
            <a:r>
              <a:rPr sz="900" spc="-10" dirty="0">
                <a:solidFill>
                  <a:srgbClr val="1B2433"/>
                </a:solidFill>
                <a:latin typeface="Arial"/>
                <a:cs typeface="Arial"/>
              </a:rPr>
              <a:t>limiting</a:t>
            </a:r>
            <a:endParaRPr sz="900">
              <a:latin typeface="Arial"/>
              <a:cs typeface="Arial"/>
            </a:endParaRPr>
          </a:p>
        </p:txBody>
      </p:sp>
      <p:sp>
        <p:nvSpPr>
          <p:cNvPr id="33" name="object 33"/>
          <p:cNvSpPr txBox="1"/>
          <p:nvPr/>
        </p:nvSpPr>
        <p:spPr>
          <a:xfrm>
            <a:off x="4283521" y="3716337"/>
            <a:ext cx="5497195" cy="748665"/>
          </a:xfrm>
          <a:prstGeom prst="rect">
            <a:avLst/>
          </a:prstGeom>
        </p:spPr>
        <p:txBody>
          <a:bodyPr vert="horz" wrap="square" lIns="0" tIns="24765" rIns="0" bIns="0" rtlCol="0">
            <a:spAutoFit/>
          </a:bodyPr>
          <a:lstStyle/>
          <a:p>
            <a:pPr marL="107314" marR="655955">
              <a:lnSpc>
                <a:spcPts val="1050"/>
              </a:lnSpc>
              <a:spcBef>
                <a:spcPts val="195"/>
              </a:spcBef>
              <a:tabLst>
                <a:tab pos="1196340" algn="l"/>
                <a:tab pos="2515235" algn="l"/>
                <a:tab pos="4535170" algn="l"/>
              </a:tabLst>
            </a:pPr>
            <a:r>
              <a:rPr sz="900" spc="-10" dirty="0">
                <a:solidFill>
                  <a:srgbClr val="1B2433"/>
                </a:solidFill>
                <a:latin typeface="Arial"/>
                <a:cs typeface="Arial"/>
              </a:rPr>
              <a:t>Avogadro</a:t>
            </a:r>
            <a:r>
              <a:rPr sz="900" dirty="0">
                <a:solidFill>
                  <a:srgbClr val="1B2433"/>
                </a:solidFill>
                <a:latin typeface="Arial"/>
                <a:cs typeface="Arial"/>
              </a:rPr>
              <a:t>	</a:t>
            </a:r>
            <a:r>
              <a:rPr sz="1350" baseline="-15432" dirty="0">
                <a:solidFill>
                  <a:srgbClr val="1B2433"/>
                </a:solidFill>
                <a:latin typeface="Arial"/>
                <a:cs typeface="Arial"/>
              </a:rPr>
              <a:t>6.022</a:t>
            </a:r>
            <a:r>
              <a:rPr sz="1350" spc="89" baseline="-15432" dirty="0">
                <a:solidFill>
                  <a:srgbClr val="1B2433"/>
                </a:solidFill>
                <a:latin typeface="Arial"/>
                <a:cs typeface="Arial"/>
              </a:rPr>
              <a:t> </a:t>
            </a:r>
            <a:r>
              <a:rPr sz="1350" baseline="-15432" dirty="0">
                <a:solidFill>
                  <a:srgbClr val="1B2433"/>
                </a:solidFill>
                <a:latin typeface="Arial"/>
                <a:cs typeface="Arial"/>
              </a:rPr>
              <a:t>140</a:t>
            </a:r>
            <a:r>
              <a:rPr sz="1350" spc="97" baseline="-15432" dirty="0">
                <a:solidFill>
                  <a:srgbClr val="1B2433"/>
                </a:solidFill>
                <a:latin typeface="Arial"/>
                <a:cs typeface="Arial"/>
              </a:rPr>
              <a:t> </a:t>
            </a:r>
            <a:r>
              <a:rPr sz="1350" baseline="-15432" dirty="0">
                <a:solidFill>
                  <a:srgbClr val="1B2433"/>
                </a:solidFill>
                <a:latin typeface="Arial"/>
                <a:cs typeface="Arial"/>
              </a:rPr>
              <a:t>76</a:t>
            </a:r>
            <a:r>
              <a:rPr sz="1350" spc="89" baseline="-15432" dirty="0">
                <a:solidFill>
                  <a:srgbClr val="1B2433"/>
                </a:solidFill>
                <a:latin typeface="Arial"/>
                <a:cs typeface="Arial"/>
              </a:rPr>
              <a:t> </a:t>
            </a:r>
            <a:r>
              <a:rPr sz="1350" baseline="-15432" dirty="0">
                <a:solidFill>
                  <a:srgbClr val="1B2433"/>
                </a:solidFill>
                <a:latin typeface="Arial"/>
                <a:cs typeface="Arial"/>
              </a:rPr>
              <a:t>×</a:t>
            </a:r>
            <a:r>
              <a:rPr sz="1350" spc="97" baseline="-15432" dirty="0">
                <a:solidFill>
                  <a:srgbClr val="1B2433"/>
                </a:solidFill>
                <a:latin typeface="Arial"/>
                <a:cs typeface="Arial"/>
              </a:rPr>
              <a:t> </a:t>
            </a:r>
            <a:r>
              <a:rPr sz="1350" spc="-30" baseline="-15432" dirty="0">
                <a:solidFill>
                  <a:srgbClr val="1B2433"/>
                </a:solidFill>
                <a:latin typeface="Arial"/>
                <a:cs typeface="Arial"/>
              </a:rPr>
              <a:t>10</a:t>
            </a:r>
            <a:r>
              <a:rPr sz="1125" spc="-30" baseline="11111" dirty="0">
                <a:solidFill>
                  <a:srgbClr val="1B2433"/>
                </a:solidFill>
                <a:latin typeface="Arial"/>
                <a:cs typeface="Arial"/>
              </a:rPr>
              <a:t>23</a:t>
            </a:r>
            <a:r>
              <a:rPr sz="1125" baseline="11111" dirty="0">
                <a:solidFill>
                  <a:srgbClr val="1B2433"/>
                </a:solidFill>
                <a:latin typeface="Arial"/>
                <a:cs typeface="Arial"/>
              </a:rPr>
              <a:t>	</a:t>
            </a:r>
            <a:r>
              <a:rPr sz="1350" baseline="-15432" dirty="0">
                <a:solidFill>
                  <a:srgbClr val="1B2433"/>
                </a:solidFill>
                <a:latin typeface="Arial"/>
                <a:cs typeface="Arial"/>
              </a:rPr>
              <a:t>mol</a:t>
            </a:r>
            <a:r>
              <a:rPr sz="1125" baseline="11111" dirty="0">
                <a:solidFill>
                  <a:srgbClr val="1B2433"/>
                </a:solidFill>
                <a:latin typeface="Arial"/>
                <a:cs typeface="Arial"/>
              </a:rPr>
              <a:t>−1</a:t>
            </a:r>
            <a:r>
              <a:rPr sz="1125" spc="494" baseline="11111" dirty="0">
                <a:solidFill>
                  <a:srgbClr val="1B2433"/>
                </a:solidFill>
                <a:latin typeface="Arial"/>
                <a:cs typeface="Arial"/>
              </a:rPr>
              <a:t>  </a:t>
            </a:r>
            <a:r>
              <a:rPr sz="900" dirty="0">
                <a:solidFill>
                  <a:srgbClr val="1B2433"/>
                </a:solidFill>
                <a:latin typeface="Arial"/>
                <a:cs typeface="Arial"/>
              </a:rPr>
              <a:t>BIPM</a:t>
            </a:r>
            <a:r>
              <a:rPr sz="900" spc="60" dirty="0">
                <a:solidFill>
                  <a:srgbClr val="1B2433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1B2433"/>
                </a:solidFill>
                <a:latin typeface="Arial"/>
                <a:cs typeface="Arial"/>
              </a:rPr>
              <a:t>(2019),</a:t>
            </a:r>
            <a:r>
              <a:rPr sz="900" spc="60" dirty="0">
                <a:solidFill>
                  <a:srgbClr val="1B2433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1B2433"/>
                </a:solidFill>
                <a:latin typeface="Arial"/>
                <a:cs typeface="Arial"/>
              </a:rPr>
              <a:t>SI</a:t>
            </a:r>
            <a:r>
              <a:rPr sz="900" spc="60" dirty="0">
                <a:solidFill>
                  <a:srgbClr val="1B2433"/>
                </a:solidFill>
                <a:latin typeface="Arial"/>
                <a:cs typeface="Arial"/>
              </a:rPr>
              <a:t> </a:t>
            </a:r>
            <a:r>
              <a:rPr sz="900" spc="-10" dirty="0">
                <a:solidFill>
                  <a:srgbClr val="1B2433"/>
                </a:solidFill>
                <a:latin typeface="Arial"/>
                <a:cs typeface="Arial"/>
              </a:rPr>
              <a:t>definition</a:t>
            </a:r>
            <a:r>
              <a:rPr sz="900" dirty="0">
                <a:solidFill>
                  <a:srgbClr val="1B2433"/>
                </a:solidFill>
                <a:latin typeface="Arial"/>
                <a:cs typeface="Arial"/>
              </a:rPr>
              <a:t>	</a:t>
            </a:r>
            <a:r>
              <a:rPr sz="900" spc="-10" dirty="0">
                <a:solidFill>
                  <a:srgbClr val="1B2433"/>
                </a:solidFill>
                <a:latin typeface="Arial"/>
                <a:cs typeface="Arial"/>
              </a:rPr>
              <a:t>Exact constant</a:t>
            </a:r>
            <a:endParaRPr sz="900" dirty="0">
              <a:latin typeface="Arial"/>
              <a:cs typeface="Arial"/>
            </a:endParaRPr>
          </a:p>
          <a:p>
            <a:pPr marL="50800" marR="43180">
              <a:lnSpc>
                <a:spcPct val="131900"/>
              </a:lnSpc>
              <a:spcBef>
                <a:spcPts val="645"/>
              </a:spcBef>
            </a:pPr>
            <a:r>
              <a:rPr sz="900" b="1" dirty="0">
                <a:solidFill>
                  <a:srgbClr val="3A4558"/>
                </a:solidFill>
                <a:latin typeface="Arial"/>
                <a:cs typeface="Arial"/>
              </a:rPr>
              <a:t>Assumptions:</a:t>
            </a:r>
            <a:r>
              <a:rPr sz="900" b="1" spc="-5" dirty="0">
                <a:solidFill>
                  <a:srgbClr val="3A4558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3A4558"/>
                </a:solidFill>
                <a:latin typeface="Arial"/>
                <a:cs typeface="Arial"/>
              </a:rPr>
              <a:t>all calcium originates from CaCO</a:t>
            </a:r>
            <a:r>
              <a:rPr sz="1125" baseline="-18518" dirty="0">
                <a:solidFill>
                  <a:srgbClr val="3A4558"/>
                </a:solidFill>
                <a:latin typeface="Arial"/>
                <a:cs typeface="Arial"/>
              </a:rPr>
              <a:t>3</a:t>
            </a:r>
            <a:r>
              <a:rPr sz="900" dirty="0">
                <a:solidFill>
                  <a:srgbClr val="3A4558"/>
                </a:solidFill>
                <a:latin typeface="Arial"/>
                <a:cs typeface="Arial"/>
              </a:rPr>
              <a:t>;</a:t>
            </a:r>
            <a:r>
              <a:rPr sz="900" spc="-5" dirty="0">
                <a:solidFill>
                  <a:srgbClr val="3A4558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3A4558"/>
                </a:solidFill>
                <a:latin typeface="Arial"/>
                <a:cs typeface="Arial"/>
              </a:rPr>
              <a:t>calcium is taken as </a:t>
            </a:r>
            <a:r>
              <a:rPr sz="900" spc="-10" dirty="0">
                <a:solidFill>
                  <a:srgbClr val="3A4558"/>
                </a:solidFill>
                <a:latin typeface="Arial"/>
                <a:cs typeface="Arial"/>
              </a:rPr>
              <a:t>112.5</a:t>
            </a:r>
            <a:r>
              <a:rPr sz="900" spc="-5" dirty="0">
                <a:solidFill>
                  <a:srgbClr val="3A4558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3A4558"/>
                </a:solidFill>
                <a:latin typeface="Arial"/>
                <a:cs typeface="Arial"/>
              </a:rPr>
              <a:t>mg per 200 mL</a:t>
            </a:r>
            <a:r>
              <a:rPr sz="900" spc="-35" dirty="0">
                <a:solidFill>
                  <a:srgbClr val="3A4558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3A4558"/>
                </a:solidFill>
                <a:latin typeface="Arial"/>
                <a:cs typeface="Arial"/>
              </a:rPr>
              <a:t>serving</a:t>
            </a:r>
            <a:r>
              <a:rPr sz="900" spc="-5" dirty="0">
                <a:solidFill>
                  <a:srgbClr val="3A4558"/>
                </a:solidFill>
                <a:latin typeface="Arial"/>
                <a:cs typeface="Arial"/>
              </a:rPr>
              <a:t> </a:t>
            </a:r>
            <a:r>
              <a:rPr sz="900" spc="-10" dirty="0">
                <a:solidFill>
                  <a:srgbClr val="3A4558"/>
                </a:solidFill>
                <a:latin typeface="Arial"/>
                <a:cs typeface="Arial"/>
              </a:rPr>
              <a:t>(value </a:t>
            </a:r>
            <a:r>
              <a:rPr sz="900" dirty="0">
                <a:solidFill>
                  <a:srgbClr val="3A4558"/>
                </a:solidFill>
                <a:latin typeface="Arial"/>
                <a:cs typeface="Arial"/>
              </a:rPr>
              <a:t>supplied by the student); </a:t>
            </a:r>
            <a:r>
              <a:rPr sz="900" spc="-10" dirty="0">
                <a:solidFill>
                  <a:srgbClr val="3A4558"/>
                </a:solidFill>
                <a:latin typeface="Arial"/>
                <a:cs typeface="Arial"/>
              </a:rPr>
              <a:t>“112.5”</a:t>
            </a:r>
            <a:r>
              <a:rPr sz="900" dirty="0">
                <a:solidFill>
                  <a:srgbClr val="3A4558"/>
                </a:solidFill>
                <a:latin typeface="Arial"/>
                <a:cs typeface="Arial"/>
              </a:rPr>
              <a:t> has 4 </a:t>
            </a:r>
            <a:r>
              <a:rPr sz="900" dirty="0" err="1">
                <a:solidFill>
                  <a:srgbClr val="3A4558"/>
                </a:solidFill>
                <a:latin typeface="Arial"/>
                <a:cs typeface="Arial"/>
              </a:rPr>
              <a:t>signifi</a:t>
            </a:r>
            <a:r>
              <a:rPr lang="en-PH" sz="900" dirty="0">
                <a:solidFill>
                  <a:srgbClr val="3A4558"/>
                </a:solidFill>
                <a:latin typeface="Arial"/>
                <a:cs typeface="Arial"/>
              </a:rPr>
              <a:t>cant</a:t>
            </a:r>
            <a:r>
              <a:rPr sz="900" dirty="0">
                <a:solidFill>
                  <a:srgbClr val="3A4558"/>
                </a:solidFill>
                <a:latin typeface="Arial"/>
                <a:cs typeface="Arial"/>
              </a:rPr>
              <a:t> </a:t>
            </a:r>
            <a:r>
              <a:rPr sz="900" spc="-10" dirty="0">
                <a:solidFill>
                  <a:srgbClr val="3A4558"/>
                </a:solidFill>
                <a:latin typeface="Arial"/>
                <a:cs typeface="Arial"/>
              </a:rPr>
              <a:t>figures.</a:t>
            </a:r>
            <a:endParaRPr sz="900" dirty="0">
              <a:latin typeface="Arial"/>
              <a:cs typeface="Arial"/>
            </a:endParaRPr>
          </a:p>
        </p:txBody>
      </p:sp>
      <p:grpSp>
        <p:nvGrpSpPr>
          <p:cNvPr id="34" name="object 34"/>
          <p:cNvGrpSpPr/>
          <p:nvPr/>
        </p:nvGrpSpPr>
        <p:grpSpPr>
          <a:xfrm>
            <a:off x="10296524" y="1228724"/>
            <a:ext cx="4714875" cy="3400425"/>
            <a:chOff x="10296524" y="1228724"/>
            <a:chExt cx="4714875" cy="3400425"/>
          </a:xfrm>
        </p:grpSpPr>
        <p:sp>
          <p:nvSpPr>
            <p:cNvPr id="35" name="object 35"/>
            <p:cNvSpPr/>
            <p:nvPr/>
          </p:nvSpPr>
          <p:spPr>
            <a:xfrm>
              <a:off x="10296524" y="1228724"/>
              <a:ext cx="4714875" cy="3400425"/>
            </a:xfrm>
            <a:custGeom>
              <a:avLst/>
              <a:gdLst/>
              <a:ahLst/>
              <a:cxnLst/>
              <a:rect l="l" t="t" r="r" b="b"/>
              <a:pathLst>
                <a:path w="4714875" h="3400425">
                  <a:moveTo>
                    <a:pt x="4714874" y="3400424"/>
                  </a:moveTo>
                  <a:lnTo>
                    <a:pt x="0" y="3400424"/>
                  </a:lnTo>
                  <a:lnTo>
                    <a:pt x="0" y="0"/>
                  </a:lnTo>
                  <a:lnTo>
                    <a:pt x="4714874" y="0"/>
                  </a:lnTo>
                  <a:lnTo>
                    <a:pt x="4714874" y="3400424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6" name="object 36"/>
            <p:cNvSpPr/>
            <p:nvPr/>
          </p:nvSpPr>
          <p:spPr>
            <a:xfrm>
              <a:off x="10310811" y="1243012"/>
              <a:ext cx="4686300" cy="3371850"/>
            </a:xfrm>
            <a:custGeom>
              <a:avLst/>
              <a:gdLst/>
              <a:ahLst/>
              <a:cxnLst/>
              <a:rect l="l" t="t" r="r" b="b"/>
              <a:pathLst>
                <a:path w="4686300" h="3371850">
                  <a:moveTo>
                    <a:pt x="0" y="0"/>
                  </a:moveTo>
                  <a:lnTo>
                    <a:pt x="4686299" y="0"/>
                  </a:lnTo>
                  <a:lnTo>
                    <a:pt x="4686299" y="3371849"/>
                  </a:lnTo>
                  <a:lnTo>
                    <a:pt x="0" y="3371849"/>
                  </a:lnTo>
                  <a:lnTo>
                    <a:pt x="0" y="0"/>
                  </a:lnTo>
                  <a:close/>
                </a:path>
              </a:pathLst>
            </a:custGeom>
            <a:ln w="28574">
              <a:solidFill>
                <a:srgbClr val="003399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aphicFrame>
        <p:nvGraphicFramePr>
          <p:cNvPr id="37" name="object 37"/>
          <p:cNvGraphicFramePr>
            <a:graphicFrameLocks noGrp="1"/>
          </p:cNvGraphicFramePr>
          <p:nvPr/>
        </p:nvGraphicFramePr>
        <p:xfrm>
          <a:off x="4333874" y="1243012"/>
          <a:ext cx="10664185" cy="79883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9194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318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299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50558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380489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4795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61925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47954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56769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684529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1125220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1341120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673100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  <a:gridCol w="147320">
                  <a:extLst>
                    <a:ext uri="{9D8B030D-6E8A-4147-A177-3AD203B41FA5}">
                      <a16:colId xmlns:a16="http://schemas.microsoft.com/office/drawing/2014/main" val="20013"/>
                    </a:ext>
                  </a:extLst>
                </a:gridCol>
              </a:tblGrid>
              <a:tr h="356870">
                <a:tc gridSpan="5"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935"/>
                        </a:spcBef>
                      </a:pPr>
                      <a:r>
                        <a:rPr sz="1050" b="1" spc="45" dirty="0">
                          <a:solidFill>
                            <a:srgbClr val="4A0D4E"/>
                          </a:solidFill>
                          <a:latin typeface="Arial"/>
                          <a:cs typeface="Arial"/>
                        </a:rPr>
                        <a:t>SECTION</a:t>
                      </a:r>
                      <a:r>
                        <a:rPr sz="1050" b="1" spc="110" dirty="0">
                          <a:solidFill>
                            <a:srgbClr val="4A0D4E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1050" b="1" dirty="0">
                          <a:solidFill>
                            <a:srgbClr val="4A0D4E"/>
                          </a:solidFill>
                          <a:latin typeface="Arial"/>
                          <a:cs typeface="Arial"/>
                        </a:rPr>
                        <a:t>B</a:t>
                      </a:r>
                      <a:r>
                        <a:rPr sz="1050" b="1" spc="110" dirty="0">
                          <a:solidFill>
                            <a:srgbClr val="4A0D4E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1050" b="1" dirty="0">
                          <a:solidFill>
                            <a:srgbClr val="003399"/>
                          </a:solidFill>
                          <a:latin typeface="Arial"/>
                          <a:cs typeface="Arial"/>
                        </a:rPr>
                        <a:t>·</a:t>
                      </a:r>
                      <a:r>
                        <a:rPr sz="1050" b="1" spc="-10" dirty="0">
                          <a:solidFill>
                            <a:srgbClr val="003399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1050" b="1" dirty="0">
                          <a:solidFill>
                            <a:srgbClr val="003399"/>
                          </a:solidFill>
                          <a:latin typeface="Arial"/>
                          <a:cs typeface="Arial"/>
                        </a:rPr>
                        <a:t>BASE</a:t>
                      </a:r>
                      <a:r>
                        <a:rPr sz="1050" b="1" spc="-10" dirty="0">
                          <a:solidFill>
                            <a:srgbClr val="003399"/>
                          </a:solidFill>
                          <a:latin typeface="Arial"/>
                          <a:cs typeface="Arial"/>
                        </a:rPr>
                        <a:t> QUANTITATIVE </a:t>
                      </a:r>
                      <a:r>
                        <a:rPr sz="1050" b="1" spc="-20" dirty="0">
                          <a:solidFill>
                            <a:srgbClr val="003399"/>
                          </a:solidFill>
                          <a:latin typeface="Arial"/>
                          <a:cs typeface="Arial"/>
                        </a:rPr>
                        <a:t>DATA</a:t>
                      </a:r>
                      <a:endParaRPr sz="1050">
                        <a:latin typeface="Arial"/>
                        <a:cs typeface="Arial"/>
                      </a:endParaRPr>
                    </a:p>
                  </a:txBody>
                  <a:tcPr marL="0" marR="0" marT="118745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9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9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/>
                </a:tc>
                <a:tc gridSpan="6">
                  <a:txBody>
                    <a:bodyPr/>
                    <a:lstStyle/>
                    <a:p>
                      <a:pPr marL="144145">
                        <a:lnSpc>
                          <a:spcPct val="100000"/>
                        </a:lnSpc>
                        <a:spcBef>
                          <a:spcPts val="935"/>
                        </a:spcBef>
                      </a:pPr>
                      <a:r>
                        <a:rPr sz="1050" b="1" spc="45" dirty="0">
                          <a:solidFill>
                            <a:srgbClr val="4A0D4E"/>
                          </a:solidFill>
                          <a:latin typeface="Arial"/>
                          <a:cs typeface="Arial"/>
                        </a:rPr>
                        <a:t>SECTION</a:t>
                      </a:r>
                      <a:r>
                        <a:rPr sz="1050" b="1" spc="130" dirty="0">
                          <a:solidFill>
                            <a:srgbClr val="4A0D4E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1050" b="1" dirty="0">
                          <a:solidFill>
                            <a:srgbClr val="4A0D4E"/>
                          </a:solidFill>
                          <a:latin typeface="Arial"/>
                          <a:cs typeface="Arial"/>
                        </a:rPr>
                        <a:t>C</a:t>
                      </a:r>
                      <a:r>
                        <a:rPr sz="1050" b="1" spc="135" dirty="0">
                          <a:solidFill>
                            <a:srgbClr val="4A0D4E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1050" b="1" dirty="0">
                          <a:solidFill>
                            <a:srgbClr val="003399"/>
                          </a:solidFill>
                          <a:latin typeface="Arial"/>
                          <a:cs typeface="Arial"/>
                        </a:rPr>
                        <a:t>·</a:t>
                      </a:r>
                      <a:r>
                        <a:rPr sz="1050" b="1" spc="10" dirty="0">
                          <a:solidFill>
                            <a:srgbClr val="003399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1050" b="1" spc="-10" dirty="0">
                          <a:solidFill>
                            <a:srgbClr val="003399"/>
                          </a:solidFill>
                          <a:latin typeface="Arial"/>
                          <a:cs typeface="Arial"/>
                        </a:rPr>
                        <a:t>MOLAR-</a:t>
                      </a:r>
                      <a:r>
                        <a:rPr sz="1050" b="1" dirty="0">
                          <a:solidFill>
                            <a:srgbClr val="003399"/>
                          </a:solidFill>
                          <a:latin typeface="Arial"/>
                          <a:cs typeface="Arial"/>
                        </a:rPr>
                        <a:t>MASS</a:t>
                      </a:r>
                      <a:r>
                        <a:rPr sz="1050" b="1" spc="5" dirty="0">
                          <a:solidFill>
                            <a:srgbClr val="003399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1050" b="1" spc="-10" dirty="0">
                          <a:solidFill>
                            <a:srgbClr val="003399"/>
                          </a:solidFill>
                          <a:latin typeface="Arial"/>
                          <a:cs typeface="Arial"/>
                        </a:rPr>
                        <a:t>BUILD-</a:t>
                      </a:r>
                      <a:r>
                        <a:rPr sz="1050" b="1" spc="-25" dirty="0">
                          <a:solidFill>
                            <a:srgbClr val="003399"/>
                          </a:solidFill>
                          <a:latin typeface="Arial"/>
                          <a:cs typeface="Arial"/>
                        </a:rPr>
                        <a:t>UP</a:t>
                      </a:r>
                      <a:endParaRPr sz="1050">
                        <a:latin typeface="Arial"/>
                        <a:cs typeface="Arial"/>
                      </a:endParaRPr>
                    </a:p>
                  </a:txBody>
                  <a:tcPr marL="0" marR="0" marT="118745" marB="0">
                    <a:lnT w="28575">
                      <a:solidFill>
                        <a:srgbClr val="003399"/>
                      </a:solidFill>
                      <a:prstDash val="solid"/>
                    </a:lnT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9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T w="28575">
                      <a:solidFill>
                        <a:srgbClr val="003399"/>
                      </a:solidFill>
                      <a:prstDash val="solid"/>
                    </a:lnT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8915">
                <a:tc>
                  <a:txBody>
                    <a:bodyPr/>
                    <a:lstStyle/>
                    <a:p>
                      <a:pPr marL="57150">
                        <a:lnSpc>
                          <a:spcPct val="100000"/>
                        </a:lnSpc>
                        <a:spcBef>
                          <a:spcPts val="275"/>
                        </a:spcBef>
                      </a:pPr>
                      <a:r>
                        <a:rPr sz="850" b="1" spc="-10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Parameter</a:t>
                      </a:r>
                      <a:endParaRPr sz="850">
                        <a:latin typeface="Arial"/>
                        <a:cs typeface="Arial"/>
                      </a:endParaRPr>
                    </a:p>
                  </a:txBody>
                  <a:tcPr marL="0" marR="0" marT="34925" marB="0">
                    <a:solidFill>
                      <a:srgbClr val="003399"/>
                    </a:solidFill>
                  </a:tcPr>
                </a:tc>
                <a:tc>
                  <a:txBody>
                    <a:bodyPr/>
                    <a:lstStyle/>
                    <a:p>
                      <a:pPr marL="226060">
                        <a:lnSpc>
                          <a:spcPct val="100000"/>
                        </a:lnSpc>
                        <a:spcBef>
                          <a:spcPts val="275"/>
                        </a:spcBef>
                      </a:pPr>
                      <a:r>
                        <a:rPr sz="850" b="1" spc="-10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Value</a:t>
                      </a:r>
                      <a:endParaRPr sz="850">
                        <a:latin typeface="Arial"/>
                        <a:cs typeface="Arial"/>
                      </a:endParaRPr>
                    </a:p>
                  </a:txBody>
                  <a:tcPr marL="0" marR="0" marT="34925" marB="0">
                    <a:solidFill>
                      <a:srgbClr val="003399"/>
                    </a:solidFill>
                  </a:tcPr>
                </a:tc>
                <a:tc>
                  <a:txBody>
                    <a:bodyPr/>
                    <a:lstStyle/>
                    <a:p>
                      <a:pPr marR="95250" algn="r">
                        <a:lnSpc>
                          <a:spcPct val="100000"/>
                        </a:lnSpc>
                        <a:spcBef>
                          <a:spcPts val="275"/>
                        </a:spcBef>
                      </a:pPr>
                      <a:r>
                        <a:rPr sz="850" b="1" spc="-20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Unit</a:t>
                      </a:r>
                      <a:endParaRPr sz="850">
                        <a:latin typeface="Arial"/>
                        <a:cs typeface="Arial"/>
                      </a:endParaRPr>
                    </a:p>
                  </a:txBody>
                  <a:tcPr marL="0" marR="0" marT="34925" marB="0">
                    <a:solidFill>
                      <a:srgbClr val="003399"/>
                    </a:solidFill>
                  </a:tcPr>
                </a:tc>
                <a:tc>
                  <a:txBody>
                    <a:bodyPr/>
                    <a:lstStyle/>
                    <a:p>
                      <a:pPr marL="102870">
                        <a:lnSpc>
                          <a:spcPct val="100000"/>
                        </a:lnSpc>
                        <a:spcBef>
                          <a:spcPts val="275"/>
                        </a:spcBef>
                      </a:pPr>
                      <a:r>
                        <a:rPr sz="850" b="1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Traceable</a:t>
                      </a:r>
                      <a:r>
                        <a:rPr sz="850" b="1" spc="-20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spc="-10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source</a:t>
                      </a:r>
                      <a:endParaRPr sz="850">
                        <a:latin typeface="Arial"/>
                        <a:cs typeface="Arial"/>
                      </a:endParaRPr>
                    </a:p>
                  </a:txBody>
                  <a:tcPr marL="0" marR="0" marT="34925" marB="0">
                    <a:solidFill>
                      <a:srgbClr val="003399"/>
                    </a:solidFill>
                  </a:tcPr>
                </a:tc>
                <a:tc>
                  <a:txBody>
                    <a:bodyPr/>
                    <a:lstStyle/>
                    <a:p>
                      <a:pPr marL="198120">
                        <a:lnSpc>
                          <a:spcPct val="100000"/>
                        </a:lnSpc>
                        <a:spcBef>
                          <a:spcPts val="275"/>
                        </a:spcBef>
                      </a:pPr>
                      <a:r>
                        <a:rPr sz="850" b="1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Precision</a:t>
                      </a:r>
                      <a:r>
                        <a:rPr sz="850" b="1" spc="35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spc="-10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(s.f.)</a:t>
                      </a:r>
                      <a:endParaRPr sz="850">
                        <a:latin typeface="Arial"/>
                        <a:cs typeface="Arial"/>
                      </a:endParaRPr>
                    </a:p>
                  </a:txBody>
                  <a:tcPr marL="0" marR="0" marT="34925" marB="0">
                    <a:solidFill>
                      <a:srgbClr val="00339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9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9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9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53975">
                        <a:lnSpc>
                          <a:spcPct val="100000"/>
                        </a:lnSpc>
                        <a:spcBef>
                          <a:spcPts val="275"/>
                        </a:spcBef>
                      </a:pPr>
                      <a:r>
                        <a:rPr sz="850" b="1" spc="-10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Element</a:t>
                      </a:r>
                      <a:endParaRPr sz="850">
                        <a:latin typeface="Arial"/>
                        <a:cs typeface="Arial"/>
                      </a:endParaRPr>
                    </a:p>
                  </a:txBody>
                  <a:tcPr marL="0" marR="0" marT="34925" marB="0">
                    <a:solidFill>
                      <a:srgbClr val="003399"/>
                    </a:solidFill>
                  </a:tcPr>
                </a:tc>
                <a:tc>
                  <a:txBody>
                    <a:bodyPr/>
                    <a:lstStyle/>
                    <a:p>
                      <a:pPr marL="86995">
                        <a:lnSpc>
                          <a:spcPct val="100000"/>
                        </a:lnSpc>
                        <a:spcBef>
                          <a:spcPts val="275"/>
                        </a:spcBef>
                      </a:pPr>
                      <a:r>
                        <a:rPr sz="850" b="1" spc="-10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Subscript</a:t>
                      </a:r>
                      <a:endParaRPr sz="850">
                        <a:latin typeface="Arial"/>
                        <a:cs typeface="Arial"/>
                      </a:endParaRPr>
                    </a:p>
                  </a:txBody>
                  <a:tcPr marL="0" marR="0" marT="34925" marB="0">
                    <a:solidFill>
                      <a:srgbClr val="003399"/>
                    </a:solidFill>
                  </a:tcPr>
                </a:tc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275"/>
                        </a:spcBef>
                      </a:pPr>
                      <a:r>
                        <a:rPr sz="850" b="1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Atomic</a:t>
                      </a:r>
                      <a:r>
                        <a:rPr sz="850" b="1" spc="10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wt</a:t>
                      </a:r>
                      <a:r>
                        <a:rPr sz="850" b="1" spc="15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spc="-10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(g/mol)</a:t>
                      </a:r>
                      <a:endParaRPr sz="850">
                        <a:latin typeface="Arial"/>
                        <a:cs typeface="Arial"/>
                      </a:endParaRPr>
                    </a:p>
                  </a:txBody>
                  <a:tcPr marL="0" marR="0" marT="34925" marB="0">
                    <a:solidFill>
                      <a:srgbClr val="003399"/>
                    </a:solidFill>
                  </a:tcPr>
                </a:tc>
                <a:tc>
                  <a:txBody>
                    <a:bodyPr/>
                    <a:lstStyle/>
                    <a:p>
                      <a:pPr marL="114300">
                        <a:lnSpc>
                          <a:spcPct val="100000"/>
                        </a:lnSpc>
                        <a:spcBef>
                          <a:spcPts val="275"/>
                        </a:spcBef>
                      </a:pPr>
                      <a:r>
                        <a:rPr sz="850" b="1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Mass contrib. </a:t>
                      </a:r>
                      <a:r>
                        <a:rPr sz="850" b="1" spc="-10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(g/mol)</a:t>
                      </a:r>
                      <a:endParaRPr sz="850">
                        <a:latin typeface="Arial"/>
                        <a:cs typeface="Arial"/>
                      </a:endParaRPr>
                    </a:p>
                  </a:txBody>
                  <a:tcPr marL="0" marR="0" marT="34925" marB="0">
                    <a:solidFill>
                      <a:srgbClr val="003399"/>
                    </a:solidFill>
                  </a:tcPr>
                </a:tc>
                <a:tc>
                  <a:txBody>
                    <a:bodyPr/>
                    <a:lstStyle/>
                    <a:p>
                      <a:pPr marL="124460">
                        <a:lnSpc>
                          <a:spcPct val="100000"/>
                        </a:lnSpc>
                        <a:spcBef>
                          <a:spcPts val="275"/>
                        </a:spcBef>
                      </a:pPr>
                      <a:r>
                        <a:rPr sz="850" b="1" spc="-25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%E</a:t>
                      </a:r>
                      <a:endParaRPr sz="850">
                        <a:latin typeface="Arial"/>
                        <a:cs typeface="Arial"/>
                      </a:endParaRPr>
                    </a:p>
                  </a:txBody>
                  <a:tcPr marL="0" marR="0" marT="34925" marB="0">
                    <a:solidFill>
                      <a:srgbClr val="00339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9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33045">
                <a:tc>
                  <a:txBody>
                    <a:bodyPr/>
                    <a:lstStyle/>
                    <a:p>
                      <a:pPr marL="57150">
                        <a:lnSpc>
                          <a:spcPct val="100000"/>
                        </a:lnSpc>
                        <a:spcBef>
                          <a:spcPts val="300"/>
                        </a:spcBef>
                      </a:pPr>
                      <a:r>
                        <a:rPr sz="900" dirty="0">
                          <a:solidFill>
                            <a:srgbClr val="1B2433"/>
                          </a:solidFill>
                          <a:latin typeface="Arial"/>
                          <a:cs typeface="Arial"/>
                        </a:rPr>
                        <a:t>Calcium</a:t>
                      </a:r>
                      <a:r>
                        <a:rPr sz="900" spc="140" dirty="0">
                          <a:solidFill>
                            <a:srgbClr val="1B2433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900" spc="-25" dirty="0">
                          <a:solidFill>
                            <a:srgbClr val="1B2433"/>
                          </a:solidFill>
                          <a:latin typeface="Arial"/>
                          <a:cs typeface="Arial"/>
                        </a:rPr>
                        <a:t>per</a:t>
                      </a:r>
                      <a:endParaRPr sz="900">
                        <a:latin typeface="Arial"/>
                        <a:cs typeface="Arial"/>
                      </a:endParaRPr>
                    </a:p>
                  </a:txBody>
                  <a:tcPr marL="0" marR="0" marT="38100" marB="0"/>
                </a:tc>
                <a:tc>
                  <a:txBody>
                    <a:bodyPr/>
                    <a:lstStyle/>
                    <a:p>
                      <a:pPr marL="226060">
                        <a:lnSpc>
                          <a:spcPct val="100000"/>
                        </a:lnSpc>
                        <a:spcBef>
                          <a:spcPts val="300"/>
                        </a:spcBef>
                      </a:pPr>
                      <a:r>
                        <a:rPr sz="900" b="1" spc="-10" dirty="0">
                          <a:solidFill>
                            <a:srgbClr val="1B2433"/>
                          </a:solidFill>
                          <a:latin typeface="Arial"/>
                          <a:cs typeface="Arial"/>
                        </a:rPr>
                        <a:t>112.5</a:t>
                      </a:r>
                      <a:endParaRPr sz="900">
                        <a:latin typeface="Arial"/>
                        <a:cs typeface="Arial"/>
                      </a:endParaRPr>
                    </a:p>
                  </a:txBody>
                  <a:tcPr marL="0" marR="0" marT="38100" marB="0"/>
                </a:tc>
                <a:tc>
                  <a:txBody>
                    <a:bodyPr/>
                    <a:lstStyle/>
                    <a:p>
                      <a:pPr marR="142875" algn="r">
                        <a:lnSpc>
                          <a:spcPct val="100000"/>
                        </a:lnSpc>
                        <a:spcBef>
                          <a:spcPts val="300"/>
                        </a:spcBef>
                      </a:pPr>
                      <a:r>
                        <a:rPr sz="900" spc="-25" dirty="0">
                          <a:solidFill>
                            <a:srgbClr val="1B2433"/>
                          </a:solidFill>
                          <a:latin typeface="Arial"/>
                          <a:cs typeface="Arial"/>
                        </a:rPr>
                        <a:t>mg</a:t>
                      </a:r>
                      <a:endParaRPr sz="900">
                        <a:latin typeface="Arial"/>
                        <a:cs typeface="Arial"/>
                      </a:endParaRPr>
                    </a:p>
                  </a:txBody>
                  <a:tcPr marL="0" marR="0" marT="38100" marB="0"/>
                </a:tc>
                <a:tc>
                  <a:txBody>
                    <a:bodyPr/>
                    <a:lstStyle/>
                    <a:p>
                      <a:pPr marL="102870">
                        <a:lnSpc>
                          <a:spcPct val="100000"/>
                        </a:lnSpc>
                        <a:spcBef>
                          <a:spcPts val="300"/>
                        </a:spcBef>
                      </a:pPr>
                      <a:r>
                        <a:rPr sz="900" dirty="0">
                          <a:solidFill>
                            <a:srgbClr val="1B2433"/>
                          </a:solidFill>
                          <a:latin typeface="Arial"/>
                          <a:cs typeface="Arial"/>
                        </a:rPr>
                        <a:t>Product</a:t>
                      </a:r>
                      <a:r>
                        <a:rPr sz="900" spc="110" dirty="0">
                          <a:solidFill>
                            <a:srgbClr val="1B2433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900" dirty="0">
                          <a:solidFill>
                            <a:srgbClr val="1B2433"/>
                          </a:solidFill>
                          <a:latin typeface="Arial"/>
                          <a:cs typeface="Arial"/>
                        </a:rPr>
                        <a:t>label</a:t>
                      </a:r>
                      <a:r>
                        <a:rPr sz="900" spc="110" dirty="0">
                          <a:solidFill>
                            <a:srgbClr val="1B2433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900" spc="-10" dirty="0">
                          <a:solidFill>
                            <a:srgbClr val="1B2433"/>
                          </a:solidFill>
                          <a:latin typeface="Arial"/>
                          <a:cs typeface="Arial"/>
                        </a:rPr>
                        <a:t>(primary)</a:t>
                      </a:r>
                      <a:endParaRPr sz="900">
                        <a:latin typeface="Arial"/>
                        <a:cs typeface="Arial"/>
                      </a:endParaRPr>
                    </a:p>
                  </a:txBody>
                  <a:tcPr marL="0" marR="0" marT="38100" marB="0"/>
                </a:tc>
                <a:tc>
                  <a:txBody>
                    <a:bodyPr/>
                    <a:lstStyle/>
                    <a:p>
                      <a:pPr marL="198120">
                        <a:lnSpc>
                          <a:spcPct val="100000"/>
                        </a:lnSpc>
                        <a:spcBef>
                          <a:spcPts val="535"/>
                        </a:spcBef>
                      </a:pPr>
                      <a:r>
                        <a:rPr sz="900" b="1" dirty="0">
                          <a:solidFill>
                            <a:srgbClr val="D32E2E"/>
                          </a:solidFill>
                          <a:latin typeface="Arial"/>
                          <a:cs typeface="Arial"/>
                        </a:rPr>
                        <a:t>4</a:t>
                      </a:r>
                      <a:r>
                        <a:rPr sz="900" b="1" spc="55" dirty="0">
                          <a:solidFill>
                            <a:srgbClr val="D32E2E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900" b="1" dirty="0">
                          <a:solidFill>
                            <a:srgbClr val="D32E2E"/>
                          </a:solidFill>
                          <a:latin typeface="Arial"/>
                          <a:cs typeface="Arial"/>
                        </a:rPr>
                        <a:t>s.f.</a:t>
                      </a:r>
                      <a:r>
                        <a:rPr sz="900" b="1" spc="60" dirty="0">
                          <a:solidFill>
                            <a:srgbClr val="D32E2E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900" b="1" dirty="0">
                          <a:solidFill>
                            <a:srgbClr val="D32E2E"/>
                          </a:solidFill>
                          <a:latin typeface="Arial"/>
                          <a:cs typeface="Arial"/>
                        </a:rPr>
                        <a:t>(1.125</a:t>
                      </a:r>
                      <a:r>
                        <a:rPr sz="900" b="1" spc="60" dirty="0">
                          <a:solidFill>
                            <a:srgbClr val="D32E2E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900" b="1" dirty="0">
                          <a:solidFill>
                            <a:srgbClr val="D32E2E"/>
                          </a:solidFill>
                          <a:latin typeface="Arial"/>
                          <a:cs typeface="Arial"/>
                        </a:rPr>
                        <a:t>×</a:t>
                      </a:r>
                      <a:r>
                        <a:rPr sz="900" b="1" spc="60" dirty="0">
                          <a:solidFill>
                            <a:srgbClr val="D32E2E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900" b="1" spc="-10" dirty="0">
                          <a:solidFill>
                            <a:srgbClr val="D32E2E"/>
                          </a:solidFill>
                          <a:latin typeface="Arial"/>
                          <a:cs typeface="Arial"/>
                        </a:rPr>
                        <a:t>10</a:t>
                      </a:r>
                      <a:r>
                        <a:rPr sz="1125" b="1" spc="-15" baseline="29629" dirty="0">
                          <a:solidFill>
                            <a:srgbClr val="D32E2E"/>
                          </a:solidFill>
                          <a:latin typeface="Arial"/>
                          <a:cs typeface="Arial"/>
                        </a:rPr>
                        <a:t>2</a:t>
                      </a:r>
                      <a:r>
                        <a:rPr sz="900" b="1" spc="-10" dirty="0">
                          <a:solidFill>
                            <a:srgbClr val="D32E2E"/>
                          </a:solidFill>
                          <a:latin typeface="Arial"/>
                          <a:cs typeface="Arial"/>
                        </a:rPr>
                        <a:t>),</a:t>
                      </a:r>
                      <a:endParaRPr sz="900">
                        <a:latin typeface="Arial"/>
                        <a:cs typeface="Arial"/>
                      </a:endParaRPr>
                    </a:p>
                  </a:txBody>
                  <a:tcPr marL="0" marR="0" marT="67945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9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9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9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53975">
                        <a:lnSpc>
                          <a:spcPct val="100000"/>
                        </a:lnSpc>
                        <a:spcBef>
                          <a:spcPts val="300"/>
                        </a:spcBef>
                      </a:pPr>
                      <a:r>
                        <a:rPr sz="900" spc="-25" dirty="0">
                          <a:solidFill>
                            <a:srgbClr val="1B2433"/>
                          </a:solidFill>
                          <a:latin typeface="Arial"/>
                          <a:cs typeface="Arial"/>
                        </a:rPr>
                        <a:t>Ca</a:t>
                      </a:r>
                      <a:endParaRPr sz="900">
                        <a:latin typeface="Arial"/>
                        <a:cs typeface="Arial"/>
                      </a:endParaRPr>
                    </a:p>
                  </a:txBody>
                  <a:tcPr marL="0" marR="0" marT="38100" marB="0">
                    <a:lnB w="9525">
                      <a:solidFill>
                        <a:srgbClr val="C8D0D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86995">
                        <a:lnSpc>
                          <a:spcPct val="100000"/>
                        </a:lnSpc>
                        <a:spcBef>
                          <a:spcPts val="300"/>
                        </a:spcBef>
                      </a:pPr>
                      <a:r>
                        <a:rPr sz="900" spc="-50" dirty="0">
                          <a:solidFill>
                            <a:srgbClr val="1B2433"/>
                          </a:solidFill>
                          <a:latin typeface="Arial"/>
                          <a:cs typeface="Arial"/>
                        </a:rPr>
                        <a:t>1</a:t>
                      </a:r>
                      <a:endParaRPr sz="900">
                        <a:latin typeface="Arial"/>
                        <a:cs typeface="Arial"/>
                      </a:endParaRPr>
                    </a:p>
                  </a:txBody>
                  <a:tcPr marL="0" marR="0" marT="38100" marB="0">
                    <a:lnB w="9525">
                      <a:solidFill>
                        <a:srgbClr val="C8D0D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300"/>
                        </a:spcBef>
                      </a:pPr>
                      <a:r>
                        <a:rPr sz="900" spc="-10" dirty="0">
                          <a:solidFill>
                            <a:srgbClr val="1B2433"/>
                          </a:solidFill>
                          <a:latin typeface="Arial"/>
                          <a:cs typeface="Arial"/>
                        </a:rPr>
                        <a:t>40.078</a:t>
                      </a:r>
                      <a:endParaRPr sz="900">
                        <a:latin typeface="Arial"/>
                        <a:cs typeface="Arial"/>
                      </a:endParaRPr>
                    </a:p>
                  </a:txBody>
                  <a:tcPr marL="0" marR="0" marT="38100" marB="0">
                    <a:lnB w="9525">
                      <a:solidFill>
                        <a:srgbClr val="C8D0D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114300">
                        <a:lnSpc>
                          <a:spcPct val="100000"/>
                        </a:lnSpc>
                        <a:spcBef>
                          <a:spcPts val="300"/>
                        </a:spcBef>
                      </a:pPr>
                      <a:r>
                        <a:rPr sz="900" spc="-10" dirty="0">
                          <a:solidFill>
                            <a:srgbClr val="1B2433"/>
                          </a:solidFill>
                          <a:latin typeface="Arial"/>
                          <a:cs typeface="Arial"/>
                        </a:rPr>
                        <a:t>40.078</a:t>
                      </a:r>
                      <a:endParaRPr sz="900">
                        <a:latin typeface="Arial"/>
                        <a:cs typeface="Arial"/>
                      </a:endParaRPr>
                    </a:p>
                  </a:txBody>
                  <a:tcPr marL="0" marR="0" marT="38100" marB="0">
                    <a:lnB w="9525">
                      <a:solidFill>
                        <a:srgbClr val="C8D0D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124460">
                        <a:lnSpc>
                          <a:spcPct val="100000"/>
                        </a:lnSpc>
                        <a:spcBef>
                          <a:spcPts val="300"/>
                        </a:spcBef>
                      </a:pPr>
                      <a:r>
                        <a:rPr sz="900" spc="-10" dirty="0">
                          <a:solidFill>
                            <a:srgbClr val="1B2433"/>
                          </a:solidFill>
                          <a:latin typeface="Arial"/>
                          <a:cs typeface="Arial"/>
                        </a:rPr>
                        <a:t>40.044</a:t>
                      </a:r>
                      <a:endParaRPr sz="900">
                        <a:latin typeface="Arial"/>
                        <a:cs typeface="Arial"/>
                      </a:endParaRPr>
                    </a:p>
                  </a:txBody>
                  <a:tcPr marL="0" marR="0" marT="38100" marB="0">
                    <a:lnB w="9525">
                      <a:solidFill>
                        <a:srgbClr val="C8D0D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9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aphicFrame>
        <p:nvGraphicFramePr>
          <p:cNvPr id="38" name="object 38"/>
          <p:cNvGraphicFramePr>
            <a:graphicFrameLocks noGrp="1"/>
          </p:cNvGraphicFramePr>
          <p:nvPr/>
        </p:nvGraphicFramePr>
        <p:xfrm>
          <a:off x="10458449" y="2092490"/>
          <a:ext cx="4390388" cy="692785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54737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7627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7503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827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0901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188595">
                <a:tc>
                  <a:txBody>
                    <a:bodyPr/>
                    <a:lstStyle/>
                    <a:p>
                      <a:pPr marL="53975">
                        <a:lnSpc>
                          <a:spcPts val="1030"/>
                        </a:lnSpc>
                      </a:pPr>
                      <a:r>
                        <a:rPr sz="900" spc="-50" dirty="0">
                          <a:solidFill>
                            <a:srgbClr val="1B2433"/>
                          </a:solidFill>
                          <a:latin typeface="Arial"/>
                          <a:cs typeface="Arial"/>
                        </a:rPr>
                        <a:t>C</a:t>
                      </a:r>
                      <a:endParaRPr sz="900">
                        <a:latin typeface="Arial"/>
                        <a:cs typeface="Arial"/>
                      </a:endParaRPr>
                    </a:p>
                  </a:txBody>
                  <a:tcPr marL="0" marR="0" marT="0" marB="0">
                    <a:lnB w="9525">
                      <a:solidFill>
                        <a:srgbClr val="C8D0DF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07314">
                        <a:lnSpc>
                          <a:spcPts val="1030"/>
                        </a:lnSpc>
                      </a:pPr>
                      <a:r>
                        <a:rPr sz="900" spc="-50" dirty="0">
                          <a:solidFill>
                            <a:srgbClr val="1B2433"/>
                          </a:solidFill>
                          <a:latin typeface="Arial"/>
                          <a:cs typeface="Arial"/>
                        </a:rPr>
                        <a:t>1</a:t>
                      </a:r>
                      <a:endParaRPr sz="900">
                        <a:latin typeface="Arial"/>
                        <a:cs typeface="Arial"/>
                      </a:endParaRPr>
                    </a:p>
                  </a:txBody>
                  <a:tcPr marL="0" marR="0" marT="0" marB="0">
                    <a:lnB w="9525">
                      <a:solidFill>
                        <a:srgbClr val="C8D0DF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18745">
                        <a:lnSpc>
                          <a:spcPts val="1030"/>
                        </a:lnSpc>
                      </a:pPr>
                      <a:r>
                        <a:rPr sz="900" spc="-10" dirty="0">
                          <a:solidFill>
                            <a:srgbClr val="1B2433"/>
                          </a:solidFill>
                          <a:latin typeface="Arial"/>
                          <a:cs typeface="Arial"/>
                        </a:rPr>
                        <a:t>12.011</a:t>
                      </a:r>
                      <a:endParaRPr sz="900">
                        <a:latin typeface="Arial"/>
                        <a:cs typeface="Arial"/>
                      </a:endParaRPr>
                    </a:p>
                  </a:txBody>
                  <a:tcPr marL="0" marR="0" marT="0" marB="0">
                    <a:lnB w="9525">
                      <a:solidFill>
                        <a:srgbClr val="C8D0DF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391795">
                        <a:lnSpc>
                          <a:spcPts val="1030"/>
                        </a:lnSpc>
                      </a:pPr>
                      <a:r>
                        <a:rPr sz="900" spc="-10" dirty="0">
                          <a:solidFill>
                            <a:srgbClr val="1B2433"/>
                          </a:solidFill>
                          <a:latin typeface="Arial"/>
                          <a:cs typeface="Arial"/>
                        </a:rPr>
                        <a:t>12.011</a:t>
                      </a:r>
                      <a:endParaRPr sz="900">
                        <a:latin typeface="Arial"/>
                        <a:cs typeface="Arial"/>
                      </a:endParaRPr>
                    </a:p>
                  </a:txBody>
                  <a:tcPr marL="0" marR="0" marT="0" marB="0">
                    <a:lnB w="9525">
                      <a:solidFill>
                        <a:srgbClr val="C8D0DF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R="176530" algn="r">
                        <a:lnSpc>
                          <a:spcPts val="1030"/>
                        </a:lnSpc>
                      </a:pPr>
                      <a:r>
                        <a:rPr sz="900" spc="-10" dirty="0">
                          <a:solidFill>
                            <a:srgbClr val="1B2433"/>
                          </a:solidFill>
                          <a:latin typeface="Arial"/>
                          <a:cs typeface="Arial"/>
                        </a:rPr>
                        <a:t>12.001</a:t>
                      </a:r>
                      <a:endParaRPr sz="900">
                        <a:latin typeface="Arial"/>
                        <a:cs typeface="Arial"/>
                      </a:endParaRPr>
                    </a:p>
                  </a:txBody>
                  <a:tcPr marL="0" marR="0" marT="0" marB="0">
                    <a:lnB w="9525">
                      <a:solidFill>
                        <a:srgbClr val="C8D0DF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42570">
                <a:tc>
                  <a:txBody>
                    <a:bodyPr/>
                    <a:lstStyle/>
                    <a:p>
                      <a:pPr marL="53975">
                        <a:lnSpc>
                          <a:spcPct val="100000"/>
                        </a:lnSpc>
                        <a:spcBef>
                          <a:spcPts val="335"/>
                        </a:spcBef>
                      </a:pPr>
                      <a:r>
                        <a:rPr sz="900" spc="-50" dirty="0">
                          <a:solidFill>
                            <a:srgbClr val="1B2433"/>
                          </a:solidFill>
                          <a:latin typeface="Arial"/>
                          <a:cs typeface="Arial"/>
                        </a:rPr>
                        <a:t>O</a:t>
                      </a:r>
                      <a:endParaRPr sz="900">
                        <a:latin typeface="Arial"/>
                        <a:cs typeface="Arial"/>
                      </a:endParaRPr>
                    </a:p>
                  </a:txBody>
                  <a:tcPr marL="0" marR="0" marT="42545" marB="0">
                    <a:lnT w="9525">
                      <a:solidFill>
                        <a:srgbClr val="C8D0DF"/>
                      </a:solidFill>
                      <a:prstDash val="solid"/>
                    </a:lnT>
                    <a:lnB w="19050">
                      <a:solidFill>
                        <a:srgbClr val="003399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07314">
                        <a:lnSpc>
                          <a:spcPct val="100000"/>
                        </a:lnSpc>
                        <a:spcBef>
                          <a:spcPts val="335"/>
                        </a:spcBef>
                      </a:pPr>
                      <a:r>
                        <a:rPr sz="900" spc="-50" dirty="0">
                          <a:solidFill>
                            <a:srgbClr val="1B2433"/>
                          </a:solidFill>
                          <a:latin typeface="Arial"/>
                          <a:cs typeface="Arial"/>
                        </a:rPr>
                        <a:t>3</a:t>
                      </a:r>
                      <a:endParaRPr sz="900">
                        <a:latin typeface="Arial"/>
                        <a:cs typeface="Arial"/>
                      </a:endParaRPr>
                    </a:p>
                  </a:txBody>
                  <a:tcPr marL="0" marR="0" marT="42545" marB="0">
                    <a:lnT w="9525">
                      <a:solidFill>
                        <a:srgbClr val="C8D0DF"/>
                      </a:solidFill>
                      <a:prstDash val="solid"/>
                    </a:lnT>
                    <a:lnB w="19050">
                      <a:solidFill>
                        <a:srgbClr val="003399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18745">
                        <a:lnSpc>
                          <a:spcPct val="100000"/>
                        </a:lnSpc>
                        <a:spcBef>
                          <a:spcPts val="335"/>
                        </a:spcBef>
                      </a:pPr>
                      <a:r>
                        <a:rPr sz="900" spc="-10" dirty="0">
                          <a:solidFill>
                            <a:srgbClr val="1B2433"/>
                          </a:solidFill>
                          <a:latin typeface="Arial"/>
                          <a:cs typeface="Arial"/>
                        </a:rPr>
                        <a:t>15.999</a:t>
                      </a:r>
                      <a:endParaRPr sz="900">
                        <a:latin typeface="Arial"/>
                        <a:cs typeface="Arial"/>
                      </a:endParaRPr>
                    </a:p>
                  </a:txBody>
                  <a:tcPr marL="0" marR="0" marT="42545" marB="0">
                    <a:lnT w="9525">
                      <a:solidFill>
                        <a:srgbClr val="C8D0DF"/>
                      </a:solidFill>
                      <a:prstDash val="solid"/>
                    </a:lnT>
                    <a:lnB w="19050">
                      <a:solidFill>
                        <a:srgbClr val="003399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391795">
                        <a:lnSpc>
                          <a:spcPct val="100000"/>
                        </a:lnSpc>
                        <a:spcBef>
                          <a:spcPts val="335"/>
                        </a:spcBef>
                      </a:pPr>
                      <a:r>
                        <a:rPr sz="900" spc="-10" dirty="0">
                          <a:solidFill>
                            <a:srgbClr val="1B2433"/>
                          </a:solidFill>
                          <a:latin typeface="Arial"/>
                          <a:cs typeface="Arial"/>
                        </a:rPr>
                        <a:t>47.997</a:t>
                      </a:r>
                      <a:endParaRPr sz="900">
                        <a:latin typeface="Arial"/>
                        <a:cs typeface="Arial"/>
                      </a:endParaRPr>
                    </a:p>
                  </a:txBody>
                  <a:tcPr marL="0" marR="0" marT="42545" marB="0">
                    <a:lnT w="9525">
                      <a:solidFill>
                        <a:srgbClr val="C8D0DF"/>
                      </a:solidFill>
                      <a:prstDash val="solid"/>
                    </a:lnT>
                    <a:lnB w="19050">
                      <a:solidFill>
                        <a:srgbClr val="003399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R="176530" algn="r">
                        <a:lnSpc>
                          <a:spcPct val="100000"/>
                        </a:lnSpc>
                        <a:spcBef>
                          <a:spcPts val="335"/>
                        </a:spcBef>
                      </a:pPr>
                      <a:r>
                        <a:rPr sz="900" spc="-10" dirty="0">
                          <a:solidFill>
                            <a:srgbClr val="1B2433"/>
                          </a:solidFill>
                          <a:latin typeface="Arial"/>
                          <a:cs typeface="Arial"/>
                        </a:rPr>
                        <a:t>47.956</a:t>
                      </a:r>
                      <a:endParaRPr sz="900">
                        <a:latin typeface="Arial"/>
                        <a:cs typeface="Arial"/>
                      </a:endParaRPr>
                    </a:p>
                  </a:txBody>
                  <a:tcPr marL="0" marR="0" marT="42545" marB="0">
                    <a:lnT w="9525">
                      <a:solidFill>
                        <a:srgbClr val="C8D0DF"/>
                      </a:solidFill>
                      <a:prstDash val="solid"/>
                    </a:lnT>
                    <a:lnB w="19050">
                      <a:solidFill>
                        <a:srgbClr val="003399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61620">
                <a:tc>
                  <a:txBody>
                    <a:bodyPr/>
                    <a:lstStyle/>
                    <a:p>
                      <a:pPr marL="53975">
                        <a:lnSpc>
                          <a:spcPct val="100000"/>
                        </a:lnSpc>
                        <a:spcBef>
                          <a:spcPts val="375"/>
                        </a:spcBef>
                      </a:pPr>
                      <a:r>
                        <a:rPr sz="900" b="1" spc="-10" dirty="0">
                          <a:solidFill>
                            <a:srgbClr val="1B2433"/>
                          </a:solidFill>
                          <a:latin typeface="Arial"/>
                          <a:cs typeface="Arial"/>
                        </a:rPr>
                        <a:t>CaCO</a:t>
                      </a:r>
                      <a:r>
                        <a:rPr sz="1125" b="1" spc="-15" baseline="-18518" dirty="0">
                          <a:solidFill>
                            <a:srgbClr val="1B2433"/>
                          </a:solidFill>
                          <a:latin typeface="Arial"/>
                          <a:cs typeface="Arial"/>
                        </a:rPr>
                        <a:t>3</a:t>
                      </a:r>
                      <a:endParaRPr sz="1125" baseline="-18518">
                        <a:latin typeface="Arial"/>
                        <a:cs typeface="Arial"/>
                      </a:endParaRPr>
                    </a:p>
                  </a:txBody>
                  <a:tcPr marL="0" marR="0" marT="47625" marB="0">
                    <a:lnT w="19050">
                      <a:solidFill>
                        <a:srgbClr val="003399"/>
                      </a:solidFill>
                      <a:prstDash val="solid"/>
                    </a:lnT>
                    <a:lnB w="9525">
                      <a:solidFill>
                        <a:srgbClr val="C8D0DF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07314">
                        <a:lnSpc>
                          <a:spcPct val="100000"/>
                        </a:lnSpc>
                        <a:spcBef>
                          <a:spcPts val="375"/>
                        </a:spcBef>
                      </a:pPr>
                      <a:r>
                        <a:rPr sz="900" b="1" dirty="0">
                          <a:solidFill>
                            <a:srgbClr val="1B2433"/>
                          </a:solidFill>
                          <a:latin typeface="Arial"/>
                          <a:cs typeface="Arial"/>
                        </a:rPr>
                        <a:t>5</a:t>
                      </a:r>
                      <a:r>
                        <a:rPr sz="900" b="1" spc="30" dirty="0">
                          <a:solidFill>
                            <a:srgbClr val="1B2433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900" b="1" spc="-10" dirty="0">
                          <a:solidFill>
                            <a:srgbClr val="1B2433"/>
                          </a:solidFill>
                          <a:latin typeface="Arial"/>
                          <a:cs typeface="Arial"/>
                        </a:rPr>
                        <a:t>atoms</a:t>
                      </a:r>
                      <a:endParaRPr sz="900">
                        <a:latin typeface="Arial"/>
                        <a:cs typeface="Arial"/>
                      </a:endParaRPr>
                    </a:p>
                  </a:txBody>
                  <a:tcPr marL="0" marR="0" marT="47625" marB="0">
                    <a:lnT w="19050">
                      <a:solidFill>
                        <a:srgbClr val="003399"/>
                      </a:solidFill>
                      <a:prstDash val="solid"/>
                    </a:lnT>
                    <a:lnB w="9525">
                      <a:solidFill>
                        <a:srgbClr val="C8D0DF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9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T w="19050">
                      <a:solidFill>
                        <a:srgbClr val="003399"/>
                      </a:solidFill>
                      <a:prstDash val="solid"/>
                    </a:lnT>
                    <a:lnB w="9525">
                      <a:solidFill>
                        <a:srgbClr val="C8D0DF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391795">
                        <a:lnSpc>
                          <a:spcPct val="100000"/>
                        </a:lnSpc>
                        <a:spcBef>
                          <a:spcPts val="375"/>
                        </a:spcBef>
                      </a:pPr>
                      <a:r>
                        <a:rPr sz="900" b="1" spc="-10" dirty="0">
                          <a:solidFill>
                            <a:srgbClr val="1B2433"/>
                          </a:solidFill>
                          <a:latin typeface="Arial"/>
                          <a:cs typeface="Arial"/>
                        </a:rPr>
                        <a:t>100.086</a:t>
                      </a:r>
                      <a:endParaRPr sz="900">
                        <a:latin typeface="Arial"/>
                        <a:cs typeface="Arial"/>
                      </a:endParaRPr>
                    </a:p>
                  </a:txBody>
                  <a:tcPr marL="0" marR="0" marT="47625" marB="0">
                    <a:lnT w="19050">
                      <a:solidFill>
                        <a:srgbClr val="003399"/>
                      </a:solidFill>
                      <a:prstDash val="solid"/>
                    </a:lnT>
                    <a:lnB w="9525">
                      <a:solidFill>
                        <a:srgbClr val="C8D0DF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R="109855" algn="r">
                        <a:lnSpc>
                          <a:spcPct val="100000"/>
                        </a:lnSpc>
                        <a:spcBef>
                          <a:spcPts val="375"/>
                        </a:spcBef>
                      </a:pPr>
                      <a:r>
                        <a:rPr sz="900" b="1" spc="-10" dirty="0">
                          <a:solidFill>
                            <a:srgbClr val="1B2433"/>
                          </a:solidFill>
                          <a:latin typeface="Arial"/>
                          <a:cs typeface="Arial"/>
                        </a:rPr>
                        <a:t>100.000</a:t>
                      </a:r>
                      <a:endParaRPr sz="900">
                        <a:latin typeface="Arial"/>
                        <a:cs typeface="Arial"/>
                      </a:endParaRPr>
                    </a:p>
                  </a:txBody>
                  <a:tcPr marL="0" marR="0" marT="47625" marB="0">
                    <a:lnT w="19050">
                      <a:solidFill>
                        <a:srgbClr val="003399"/>
                      </a:solidFill>
                      <a:prstDash val="solid"/>
                    </a:lnT>
                    <a:lnB w="9525">
                      <a:solidFill>
                        <a:srgbClr val="C8D0DF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39" name="object 39"/>
          <p:cNvSpPr txBox="1"/>
          <p:nvPr/>
        </p:nvSpPr>
        <p:spPr>
          <a:xfrm>
            <a:off x="10442772" y="2829560"/>
            <a:ext cx="4391660" cy="7112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122555">
              <a:lnSpc>
                <a:spcPct val="118100"/>
              </a:lnSpc>
              <a:spcBef>
                <a:spcPts val="100"/>
              </a:spcBef>
            </a:pPr>
            <a:r>
              <a:rPr sz="900" b="1" dirty="0">
                <a:solidFill>
                  <a:srgbClr val="4A0D4E"/>
                </a:solidFill>
                <a:latin typeface="Arial"/>
                <a:cs typeface="Arial"/>
              </a:rPr>
              <a:t>Addition</a:t>
            </a:r>
            <a:r>
              <a:rPr sz="900" b="1" spc="-5" dirty="0">
                <a:solidFill>
                  <a:srgbClr val="4A0D4E"/>
                </a:solidFill>
                <a:latin typeface="Arial"/>
                <a:cs typeface="Arial"/>
              </a:rPr>
              <a:t> </a:t>
            </a:r>
            <a:r>
              <a:rPr sz="900" b="1" dirty="0">
                <a:solidFill>
                  <a:srgbClr val="4A0D4E"/>
                </a:solidFill>
                <a:latin typeface="Arial"/>
                <a:cs typeface="Arial"/>
              </a:rPr>
              <a:t>rule:</a:t>
            </a:r>
            <a:r>
              <a:rPr sz="900" b="1" spc="-5" dirty="0">
                <a:solidFill>
                  <a:srgbClr val="4A0D4E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3A4558"/>
                </a:solidFill>
                <a:latin typeface="Arial"/>
                <a:cs typeface="Arial"/>
              </a:rPr>
              <a:t>M</a:t>
            </a:r>
            <a:r>
              <a:rPr sz="900" spc="-5" dirty="0">
                <a:solidFill>
                  <a:srgbClr val="3A4558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3A4558"/>
                </a:solidFill>
                <a:latin typeface="Arial"/>
                <a:cs typeface="Arial"/>
              </a:rPr>
              <a:t>= 40.078</a:t>
            </a:r>
            <a:r>
              <a:rPr sz="900" spc="-5" dirty="0">
                <a:solidFill>
                  <a:srgbClr val="3A4558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3A4558"/>
                </a:solidFill>
                <a:latin typeface="Arial"/>
                <a:cs typeface="Arial"/>
              </a:rPr>
              <a:t>+</a:t>
            </a:r>
            <a:r>
              <a:rPr sz="900" spc="-5" dirty="0">
                <a:solidFill>
                  <a:srgbClr val="3A4558"/>
                </a:solidFill>
                <a:latin typeface="Arial"/>
                <a:cs typeface="Arial"/>
              </a:rPr>
              <a:t> </a:t>
            </a:r>
            <a:r>
              <a:rPr sz="900" spc="-10" dirty="0">
                <a:solidFill>
                  <a:srgbClr val="3A4558"/>
                </a:solidFill>
                <a:latin typeface="Arial"/>
                <a:cs typeface="Arial"/>
              </a:rPr>
              <a:t>12.011</a:t>
            </a:r>
            <a:r>
              <a:rPr sz="900" spc="-5" dirty="0">
                <a:solidFill>
                  <a:srgbClr val="3A4558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3A4558"/>
                </a:solidFill>
                <a:latin typeface="Arial"/>
                <a:cs typeface="Arial"/>
              </a:rPr>
              <a:t>+ 3(15.999)</a:t>
            </a:r>
            <a:r>
              <a:rPr sz="900" spc="-5" dirty="0">
                <a:solidFill>
                  <a:srgbClr val="3A4558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3A4558"/>
                </a:solidFill>
                <a:latin typeface="Arial"/>
                <a:cs typeface="Arial"/>
              </a:rPr>
              <a:t>=</a:t>
            </a:r>
            <a:r>
              <a:rPr sz="900" spc="-5" dirty="0">
                <a:solidFill>
                  <a:srgbClr val="3A4558"/>
                </a:solidFill>
                <a:latin typeface="Arial"/>
                <a:cs typeface="Arial"/>
              </a:rPr>
              <a:t> </a:t>
            </a:r>
            <a:r>
              <a:rPr sz="900" b="1" dirty="0">
                <a:solidFill>
                  <a:srgbClr val="3A4558"/>
                </a:solidFill>
                <a:latin typeface="Arial"/>
                <a:cs typeface="Arial"/>
              </a:rPr>
              <a:t>100.086 g/mol</a:t>
            </a:r>
            <a:r>
              <a:rPr sz="900" dirty="0">
                <a:solidFill>
                  <a:srgbClr val="3A4558"/>
                </a:solidFill>
                <a:latin typeface="Arial"/>
                <a:cs typeface="Arial"/>
              </a:rPr>
              <a:t>.</a:t>
            </a:r>
            <a:r>
              <a:rPr sz="900" spc="-5" dirty="0">
                <a:solidFill>
                  <a:srgbClr val="3A4558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3A4558"/>
                </a:solidFill>
                <a:latin typeface="Arial"/>
                <a:cs typeface="Arial"/>
              </a:rPr>
              <a:t>Every</a:t>
            </a:r>
            <a:r>
              <a:rPr sz="900" spc="-5" dirty="0">
                <a:solidFill>
                  <a:srgbClr val="3A4558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3A4558"/>
                </a:solidFill>
                <a:latin typeface="Arial"/>
                <a:cs typeface="Arial"/>
              </a:rPr>
              <a:t>term</a:t>
            </a:r>
            <a:r>
              <a:rPr sz="900" spc="-5" dirty="0">
                <a:solidFill>
                  <a:srgbClr val="3A4558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3A4558"/>
                </a:solidFill>
                <a:latin typeface="Arial"/>
                <a:cs typeface="Arial"/>
              </a:rPr>
              <a:t>has </a:t>
            </a:r>
            <a:r>
              <a:rPr sz="900" spc="-50" dirty="0">
                <a:solidFill>
                  <a:srgbClr val="3A4558"/>
                </a:solidFill>
                <a:latin typeface="Arial"/>
                <a:cs typeface="Arial"/>
              </a:rPr>
              <a:t>3</a:t>
            </a:r>
            <a:r>
              <a:rPr sz="900" dirty="0">
                <a:solidFill>
                  <a:srgbClr val="3A4558"/>
                </a:solidFill>
                <a:latin typeface="Arial"/>
                <a:cs typeface="Arial"/>
              </a:rPr>
              <a:t> decimals,</a:t>
            </a:r>
            <a:r>
              <a:rPr sz="900" spc="-5" dirty="0">
                <a:solidFill>
                  <a:srgbClr val="3A4558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3A4558"/>
                </a:solidFill>
                <a:latin typeface="Arial"/>
                <a:cs typeface="Arial"/>
              </a:rPr>
              <a:t>so M keeps</a:t>
            </a:r>
            <a:r>
              <a:rPr sz="900" spc="-5" dirty="0">
                <a:solidFill>
                  <a:srgbClr val="3A4558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3A4558"/>
                </a:solidFill>
                <a:latin typeface="Arial"/>
                <a:cs typeface="Arial"/>
              </a:rPr>
              <a:t>3 </a:t>
            </a:r>
            <a:r>
              <a:rPr sz="900" spc="-10" dirty="0">
                <a:solidFill>
                  <a:srgbClr val="3A4558"/>
                </a:solidFill>
                <a:latin typeface="Arial"/>
                <a:cs typeface="Arial"/>
              </a:rPr>
              <a:t>decimals.</a:t>
            </a:r>
            <a:endParaRPr sz="900">
              <a:latin typeface="Arial"/>
              <a:cs typeface="Arial"/>
            </a:endParaRPr>
          </a:p>
          <a:p>
            <a:pPr marL="12700">
              <a:lnSpc>
                <a:spcPct val="100000"/>
              </a:lnSpc>
              <a:spcBef>
                <a:spcPts val="495"/>
              </a:spcBef>
            </a:pPr>
            <a:r>
              <a:rPr sz="900" dirty="0">
                <a:solidFill>
                  <a:srgbClr val="3A4558"/>
                </a:solidFill>
                <a:latin typeface="Arial"/>
                <a:cs typeface="Arial"/>
              </a:rPr>
              <a:t>Σ%E</a:t>
            </a:r>
            <a:r>
              <a:rPr sz="900" spc="-5" dirty="0">
                <a:solidFill>
                  <a:srgbClr val="3A4558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3A4558"/>
                </a:solidFill>
                <a:latin typeface="Arial"/>
                <a:cs typeface="Arial"/>
              </a:rPr>
              <a:t>is exactly 100.000</a:t>
            </a:r>
            <a:r>
              <a:rPr sz="900" spc="-5" dirty="0">
                <a:solidFill>
                  <a:srgbClr val="3A4558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3A4558"/>
                </a:solidFill>
                <a:latin typeface="Arial"/>
                <a:cs typeface="Arial"/>
              </a:rPr>
              <a:t>% before rounding;</a:t>
            </a:r>
            <a:r>
              <a:rPr sz="900" spc="-5" dirty="0">
                <a:solidFill>
                  <a:srgbClr val="3A4558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3A4558"/>
                </a:solidFill>
                <a:latin typeface="Arial"/>
                <a:cs typeface="Arial"/>
              </a:rPr>
              <a:t>the rounded entries</a:t>
            </a:r>
            <a:r>
              <a:rPr sz="900" spc="-5" dirty="0">
                <a:solidFill>
                  <a:srgbClr val="3A4558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3A4558"/>
                </a:solidFill>
                <a:latin typeface="Arial"/>
                <a:cs typeface="Arial"/>
              </a:rPr>
              <a:t>shown add to </a:t>
            </a:r>
            <a:r>
              <a:rPr sz="900" spc="-10" dirty="0">
                <a:solidFill>
                  <a:srgbClr val="3A4558"/>
                </a:solidFill>
                <a:latin typeface="Arial"/>
                <a:cs typeface="Arial"/>
              </a:rPr>
              <a:t>100.001</a:t>
            </a:r>
            <a:endParaRPr sz="900">
              <a:latin typeface="Arial"/>
              <a:cs typeface="Arial"/>
            </a:endParaRPr>
          </a:p>
          <a:p>
            <a:pPr marL="12700">
              <a:lnSpc>
                <a:spcPct val="100000"/>
              </a:lnSpc>
              <a:spcBef>
                <a:spcPts val="195"/>
              </a:spcBef>
            </a:pPr>
            <a:r>
              <a:rPr sz="900" spc="-25" dirty="0">
                <a:solidFill>
                  <a:srgbClr val="3A4558"/>
                </a:solidFill>
                <a:latin typeface="Arial"/>
                <a:cs typeface="Arial"/>
              </a:rPr>
              <a:t>%.</a:t>
            </a:r>
            <a:endParaRPr sz="900">
              <a:latin typeface="Arial"/>
              <a:cs typeface="Arial"/>
            </a:endParaRPr>
          </a:p>
        </p:txBody>
      </p:sp>
      <p:sp>
        <p:nvSpPr>
          <p:cNvPr id="40" name="object 40"/>
          <p:cNvSpPr/>
          <p:nvPr/>
        </p:nvSpPr>
        <p:spPr>
          <a:xfrm>
            <a:off x="228599" y="4762499"/>
            <a:ext cx="14782800" cy="1514475"/>
          </a:xfrm>
          <a:custGeom>
            <a:avLst/>
            <a:gdLst/>
            <a:ahLst/>
            <a:cxnLst/>
            <a:rect l="l" t="t" r="r" b="b"/>
            <a:pathLst>
              <a:path w="14782800" h="1514475">
                <a:moveTo>
                  <a:pt x="14782798" y="1514474"/>
                </a:moveTo>
                <a:lnTo>
                  <a:pt x="0" y="1514474"/>
                </a:lnTo>
                <a:lnTo>
                  <a:pt x="0" y="0"/>
                </a:lnTo>
                <a:lnTo>
                  <a:pt x="14782798" y="0"/>
                </a:lnTo>
                <a:lnTo>
                  <a:pt x="14782798" y="1514474"/>
                </a:lnTo>
                <a:close/>
              </a:path>
            </a:pathLst>
          </a:custGeom>
          <a:solidFill>
            <a:srgbClr val="FFFFF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1" name="object 41"/>
          <p:cNvSpPr txBox="1"/>
          <p:nvPr/>
        </p:nvSpPr>
        <p:spPr>
          <a:xfrm>
            <a:off x="404812" y="5148262"/>
            <a:ext cx="2333625" cy="714375"/>
          </a:xfrm>
          <a:prstGeom prst="rect">
            <a:avLst/>
          </a:prstGeom>
          <a:solidFill>
            <a:srgbClr val="F4F5F9"/>
          </a:solidFill>
          <a:ln w="28574">
            <a:solidFill>
              <a:srgbClr val="003399"/>
            </a:solidFill>
          </a:ln>
        </p:spPr>
        <p:txBody>
          <a:bodyPr vert="horz" wrap="square" lIns="0" tIns="160020" rIns="0" bIns="0" rtlCol="0">
            <a:spAutoFit/>
          </a:bodyPr>
          <a:lstStyle/>
          <a:p>
            <a:pPr algn="ctr">
              <a:lnSpc>
                <a:spcPct val="100000"/>
              </a:lnSpc>
              <a:spcBef>
                <a:spcPts val="1260"/>
              </a:spcBef>
            </a:pPr>
            <a:r>
              <a:rPr sz="1650" b="1" dirty="0">
                <a:solidFill>
                  <a:srgbClr val="003399"/>
                </a:solidFill>
                <a:latin typeface="Arial"/>
                <a:cs typeface="Arial"/>
              </a:rPr>
              <a:t>2.809 ×</a:t>
            </a:r>
            <a:r>
              <a:rPr sz="1650" b="1" spc="5" dirty="0">
                <a:solidFill>
                  <a:srgbClr val="003399"/>
                </a:solidFill>
                <a:latin typeface="Arial"/>
                <a:cs typeface="Arial"/>
              </a:rPr>
              <a:t> </a:t>
            </a:r>
            <a:r>
              <a:rPr sz="1650" b="1" dirty="0">
                <a:solidFill>
                  <a:srgbClr val="003399"/>
                </a:solidFill>
                <a:latin typeface="Arial"/>
                <a:cs typeface="Arial"/>
              </a:rPr>
              <a:t>10</a:t>
            </a:r>
            <a:r>
              <a:rPr sz="2025" b="1" baseline="24691" dirty="0">
                <a:solidFill>
                  <a:srgbClr val="003399"/>
                </a:solidFill>
                <a:latin typeface="Arial"/>
                <a:cs typeface="Arial"/>
              </a:rPr>
              <a:t>−1</a:t>
            </a:r>
            <a:r>
              <a:rPr sz="2025" b="1" spc="127" baseline="24691" dirty="0">
                <a:solidFill>
                  <a:srgbClr val="003399"/>
                </a:solidFill>
                <a:latin typeface="Arial"/>
                <a:cs typeface="Arial"/>
              </a:rPr>
              <a:t> </a:t>
            </a:r>
            <a:r>
              <a:rPr sz="1650" b="1" spc="-50" dirty="0">
                <a:solidFill>
                  <a:srgbClr val="003399"/>
                </a:solidFill>
                <a:latin typeface="Arial"/>
                <a:cs typeface="Arial"/>
              </a:rPr>
              <a:t>g</a:t>
            </a:r>
            <a:endParaRPr sz="1650">
              <a:latin typeface="Arial"/>
              <a:cs typeface="Arial"/>
            </a:endParaRPr>
          </a:p>
          <a:p>
            <a:pPr algn="ctr">
              <a:lnSpc>
                <a:spcPct val="100000"/>
              </a:lnSpc>
              <a:spcBef>
                <a:spcPts val="20"/>
              </a:spcBef>
            </a:pPr>
            <a:r>
              <a:rPr sz="900" b="1" dirty="0">
                <a:solidFill>
                  <a:srgbClr val="1B2433"/>
                </a:solidFill>
                <a:latin typeface="Arial"/>
                <a:cs typeface="Arial"/>
              </a:rPr>
              <a:t>mass</a:t>
            </a:r>
            <a:r>
              <a:rPr sz="900" b="1" spc="-5" dirty="0">
                <a:solidFill>
                  <a:srgbClr val="1B2433"/>
                </a:solidFill>
                <a:latin typeface="Arial"/>
                <a:cs typeface="Arial"/>
              </a:rPr>
              <a:t> </a:t>
            </a:r>
            <a:r>
              <a:rPr sz="900" b="1" dirty="0">
                <a:solidFill>
                  <a:srgbClr val="1B2433"/>
                </a:solidFill>
                <a:latin typeface="Arial"/>
                <a:cs typeface="Arial"/>
              </a:rPr>
              <a:t>of</a:t>
            </a:r>
            <a:r>
              <a:rPr sz="900" b="1" spc="-5" dirty="0">
                <a:solidFill>
                  <a:srgbClr val="1B2433"/>
                </a:solidFill>
                <a:latin typeface="Arial"/>
                <a:cs typeface="Arial"/>
              </a:rPr>
              <a:t> </a:t>
            </a:r>
            <a:r>
              <a:rPr sz="900" b="1" spc="-10" dirty="0">
                <a:solidFill>
                  <a:srgbClr val="1B2433"/>
                </a:solidFill>
                <a:latin typeface="Arial"/>
                <a:cs typeface="Arial"/>
              </a:rPr>
              <a:t>CaCO</a:t>
            </a:r>
            <a:r>
              <a:rPr sz="1125" b="1" spc="-15" baseline="-18518" dirty="0">
                <a:solidFill>
                  <a:srgbClr val="1B2433"/>
                </a:solidFill>
                <a:latin typeface="Arial"/>
                <a:cs typeface="Arial"/>
              </a:rPr>
              <a:t>3</a:t>
            </a:r>
            <a:endParaRPr sz="1125" baseline="-18518">
              <a:latin typeface="Arial"/>
              <a:cs typeface="Arial"/>
            </a:endParaRPr>
          </a:p>
        </p:txBody>
      </p:sp>
      <p:sp>
        <p:nvSpPr>
          <p:cNvPr id="42" name="object 42"/>
          <p:cNvSpPr txBox="1"/>
          <p:nvPr/>
        </p:nvSpPr>
        <p:spPr>
          <a:xfrm>
            <a:off x="3938587" y="5357812"/>
            <a:ext cx="1314450" cy="219075"/>
          </a:xfrm>
          <a:prstGeom prst="rect">
            <a:avLst/>
          </a:prstGeom>
          <a:solidFill>
            <a:srgbClr val="FFCC00"/>
          </a:solidFill>
          <a:ln w="9524">
            <a:solidFill>
              <a:srgbClr val="1B2433"/>
            </a:solidFill>
          </a:ln>
        </p:spPr>
        <p:txBody>
          <a:bodyPr vert="horz" wrap="square" lIns="0" tIns="33020" rIns="0" bIns="0" rtlCol="0">
            <a:spAutoFit/>
          </a:bodyPr>
          <a:lstStyle/>
          <a:p>
            <a:pPr marL="92710">
              <a:lnSpc>
                <a:spcPct val="100000"/>
              </a:lnSpc>
              <a:spcBef>
                <a:spcPts val="260"/>
              </a:spcBef>
            </a:pPr>
            <a:r>
              <a:rPr sz="900" b="1" dirty="0">
                <a:solidFill>
                  <a:srgbClr val="1B2433"/>
                </a:solidFill>
                <a:latin typeface="Arial"/>
                <a:cs typeface="Arial"/>
              </a:rPr>
              <a:t>×</a:t>
            </a:r>
            <a:r>
              <a:rPr sz="900" b="1" spc="60" dirty="0">
                <a:solidFill>
                  <a:srgbClr val="1B2433"/>
                </a:solidFill>
                <a:latin typeface="Arial"/>
                <a:cs typeface="Arial"/>
              </a:rPr>
              <a:t> </a:t>
            </a:r>
            <a:r>
              <a:rPr sz="900" b="1" dirty="0">
                <a:solidFill>
                  <a:srgbClr val="1B2433"/>
                </a:solidFill>
                <a:latin typeface="Arial"/>
                <a:cs typeface="Arial"/>
              </a:rPr>
              <a:t>(1</a:t>
            </a:r>
            <a:r>
              <a:rPr sz="900" b="1" spc="60" dirty="0">
                <a:solidFill>
                  <a:srgbClr val="1B2433"/>
                </a:solidFill>
                <a:latin typeface="Arial"/>
                <a:cs typeface="Arial"/>
              </a:rPr>
              <a:t> </a:t>
            </a:r>
            <a:r>
              <a:rPr sz="900" b="1" dirty="0">
                <a:solidFill>
                  <a:srgbClr val="1B2433"/>
                </a:solidFill>
                <a:latin typeface="Arial"/>
                <a:cs typeface="Arial"/>
              </a:rPr>
              <a:t>mol</a:t>
            </a:r>
            <a:r>
              <a:rPr sz="900" b="1" spc="60" dirty="0">
                <a:solidFill>
                  <a:srgbClr val="1B2433"/>
                </a:solidFill>
                <a:latin typeface="Arial"/>
                <a:cs typeface="Arial"/>
              </a:rPr>
              <a:t> </a:t>
            </a:r>
            <a:r>
              <a:rPr sz="900" b="1" dirty="0">
                <a:solidFill>
                  <a:srgbClr val="1B2433"/>
                </a:solidFill>
                <a:latin typeface="Arial"/>
                <a:cs typeface="Arial"/>
              </a:rPr>
              <a:t>/</a:t>
            </a:r>
            <a:r>
              <a:rPr sz="900" b="1" spc="65" dirty="0">
                <a:solidFill>
                  <a:srgbClr val="1B2433"/>
                </a:solidFill>
                <a:latin typeface="Arial"/>
                <a:cs typeface="Arial"/>
              </a:rPr>
              <a:t> </a:t>
            </a:r>
            <a:r>
              <a:rPr sz="900" b="1" dirty="0">
                <a:solidFill>
                  <a:srgbClr val="1B2433"/>
                </a:solidFill>
                <a:latin typeface="Arial"/>
                <a:cs typeface="Arial"/>
              </a:rPr>
              <a:t>100.086</a:t>
            </a:r>
            <a:r>
              <a:rPr sz="900" b="1" spc="60" dirty="0">
                <a:solidFill>
                  <a:srgbClr val="1B2433"/>
                </a:solidFill>
                <a:latin typeface="Arial"/>
                <a:cs typeface="Arial"/>
              </a:rPr>
              <a:t> </a:t>
            </a:r>
            <a:r>
              <a:rPr sz="900" b="1" spc="-25" dirty="0">
                <a:solidFill>
                  <a:srgbClr val="1B2433"/>
                </a:solidFill>
                <a:latin typeface="Arial"/>
                <a:cs typeface="Arial"/>
              </a:rPr>
              <a:t>g)</a:t>
            </a:r>
            <a:endParaRPr sz="900">
              <a:latin typeface="Arial"/>
              <a:cs typeface="Arial"/>
            </a:endParaRPr>
          </a:p>
        </p:txBody>
      </p:sp>
      <p:sp>
        <p:nvSpPr>
          <p:cNvPr id="43" name="object 43"/>
          <p:cNvSpPr txBox="1"/>
          <p:nvPr/>
        </p:nvSpPr>
        <p:spPr>
          <a:xfrm>
            <a:off x="6453187" y="5148262"/>
            <a:ext cx="2333625" cy="714375"/>
          </a:xfrm>
          <a:prstGeom prst="rect">
            <a:avLst/>
          </a:prstGeom>
          <a:solidFill>
            <a:srgbClr val="F4F5F9"/>
          </a:solidFill>
          <a:ln w="28574">
            <a:solidFill>
              <a:srgbClr val="003399"/>
            </a:solidFill>
          </a:ln>
        </p:spPr>
        <p:txBody>
          <a:bodyPr vert="horz" wrap="square" lIns="0" tIns="160020" rIns="0" bIns="0" rtlCol="0">
            <a:spAutoFit/>
          </a:bodyPr>
          <a:lstStyle/>
          <a:p>
            <a:pPr algn="ctr">
              <a:lnSpc>
                <a:spcPct val="100000"/>
              </a:lnSpc>
              <a:spcBef>
                <a:spcPts val="1260"/>
              </a:spcBef>
            </a:pPr>
            <a:r>
              <a:rPr sz="1650" b="1" dirty="0">
                <a:solidFill>
                  <a:srgbClr val="003399"/>
                </a:solidFill>
                <a:latin typeface="Arial"/>
                <a:cs typeface="Arial"/>
              </a:rPr>
              <a:t>2.807 ×</a:t>
            </a:r>
            <a:r>
              <a:rPr sz="1650" b="1" spc="5" dirty="0">
                <a:solidFill>
                  <a:srgbClr val="003399"/>
                </a:solidFill>
                <a:latin typeface="Arial"/>
                <a:cs typeface="Arial"/>
              </a:rPr>
              <a:t> </a:t>
            </a:r>
            <a:r>
              <a:rPr sz="1650" b="1" dirty="0">
                <a:solidFill>
                  <a:srgbClr val="003399"/>
                </a:solidFill>
                <a:latin typeface="Arial"/>
                <a:cs typeface="Arial"/>
              </a:rPr>
              <a:t>10</a:t>
            </a:r>
            <a:r>
              <a:rPr sz="2025" b="1" baseline="24691" dirty="0">
                <a:solidFill>
                  <a:srgbClr val="003399"/>
                </a:solidFill>
                <a:latin typeface="Arial"/>
                <a:cs typeface="Arial"/>
              </a:rPr>
              <a:t>−3</a:t>
            </a:r>
            <a:r>
              <a:rPr sz="2025" b="1" spc="127" baseline="24691" dirty="0">
                <a:solidFill>
                  <a:srgbClr val="003399"/>
                </a:solidFill>
                <a:latin typeface="Arial"/>
                <a:cs typeface="Arial"/>
              </a:rPr>
              <a:t> </a:t>
            </a:r>
            <a:r>
              <a:rPr sz="1650" b="1" spc="-25" dirty="0">
                <a:solidFill>
                  <a:srgbClr val="003399"/>
                </a:solidFill>
                <a:latin typeface="Arial"/>
                <a:cs typeface="Arial"/>
              </a:rPr>
              <a:t>mol</a:t>
            </a:r>
            <a:endParaRPr sz="1650">
              <a:latin typeface="Arial"/>
              <a:cs typeface="Arial"/>
            </a:endParaRPr>
          </a:p>
          <a:p>
            <a:pPr algn="ctr">
              <a:lnSpc>
                <a:spcPct val="100000"/>
              </a:lnSpc>
              <a:spcBef>
                <a:spcPts val="20"/>
              </a:spcBef>
            </a:pPr>
            <a:r>
              <a:rPr sz="900" b="1" dirty="0">
                <a:solidFill>
                  <a:srgbClr val="1B2433"/>
                </a:solidFill>
                <a:latin typeface="Arial"/>
                <a:cs typeface="Arial"/>
              </a:rPr>
              <a:t>moles</a:t>
            </a:r>
            <a:r>
              <a:rPr sz="900" b="1" spc="-5" dirty="0">
                <a:solidFill>
                  <a:srgbClr val="1B2433"/>
                </a:solidFill>
                <a:latin typeface="Arial"/>
                <a:cs typeface="Arial"/>
              </a:rPr>
              <a:t> </a:t>
            </a:r>
            <a:r>
              <a:rPr sz="900" b="1" dirty="0">
                <a:solidFill>
                  <a:srgbClr val="1B2433"/>
                </a:solidFill>
                <a:latin typeface="Arial"/>
                <a:cs typeface="Arial"/>
              </a:rPr>
              <a:t>of</a:t>
            </a:r>
            <a:r>
              <a:rPr sz="900" b="1" spc="-5" dirty="0">
                <a:solidFill>
                  <a:srgbClr val="1B2433"/>
                </a:solidFill>
                <a:latin typeface="Arial"/>
                <a:cs typeface="Arial"/>
              </a:rPr>
              <a:t> </a:t>
            </a:r>
            <a:r>
              <a:rPr sz="900" b="1" spc="-10" dirty="0">
                <a:solidFill>
                  <a:srgbClr val="1B2433"/>
                </a:solidFill>
                <a:latin typeface="Arial"/>
                <a:cs typeface="Arial"/>
              </a:rPr>
              <a:t>CaCO</a:t>
            </a:r>
            <a:r>
              <a:rPr sz="1125" b="1" spc="-15" baseline="-18518" dirty="0">
                <a:solidFill>
                  <a:srgbClr val="1B2433"/>
                </a:solidFill>
                <a:latin typeface="Arial"/>
                <a:cs typeface="Arial"/>
              </a:rPr>
              <a:t>3</a:t>
            </a:r>
            <a:endParaRPr sz="1125" baseline="-18518">
              <a:latin typeface="Arial"/>
              <a:cs typeface="Arial"/>
            </a:endParaRPr>
          </a:p>
        </p:txBody>
      </p:sp>
      <p:sp>
        <p:nvSpPr>
          <p:cNvPr id="44" name="object 44"/>
          <p:cNvSpPr txBox="1"/>
          <p:nvPr/>
        </p:nvSpPr>
        <p:spPr>
          <a:xfrm>
            <a:off x="9844086" y="5348287"/>
            <a:ext cx="1600200" cy="247650"/>
          </a:xfrm>
          <a:prstGeom prst="rect">
            <a:avLst/>
          </a:prstGeom>
          <a:solidFill>
            <a:srgbClr val="FFCC00"/>
          </a:solidFill>
          <a:ln w="9524">
            <a:solidFill>
              <a:srgbClr val="1B2433"/>
            </a:solidFill>
          </a:ln>
        </p:spPr>
        <p:txBody>
          <a:bodyPr vert="horz" wrap="square" lIns="0" tIns="63500" rIns="0" bIns="0" rtlCol="0">
            <a:spAutoFit/>
          </a:bodyPr>
          <a:lstStyle/>
          <a:p>
            <a:pPr marL="89535">
              <a:lnSpc>
                <a:spcPct val="100000"/>
              </a:lnSpc>
              <a:spcBef>
                <a:spcPts val="500"/>
              </a:spcBef>
            </a:pPr>
            <a:r>
              <a:rPr sz="900" b="1" dirty="0">
                <a:solidFill>
                  <a:srgbClr val="1B2433"/>
                </a:solidFill>
                <a:latin typeface="Arial"/>
                <a:cs typeface="Arial"/>
              </a:rPr>
              <a:t>×</a:t>
            </a:r>
            <a:r>
              <a:rPr sz="900" b="1" spc="65" dirty="0">
                <a:solidFill>
                  <a:srgbClr val="1B2433"/>
                </a:solidFill>
                <a:latin typeface="Arial"/>
                <a:cs typeface="Arial"/>
              </a:rPr>
              <a:t> </a:t>
            </a:r>
            <a:r>
              <a:rPr sz="900" b="1" dirty="0">
                <a:solidFill>
                  <a:srgbClr val="1B2433"/>
                </a:solidFill>
                <a:latin typeface="Arial"/>
                <a:cs typeface="Arial"/>
              </a:rPr>
              <a:t>(6.022</a:t>
            </a:r>
            <a:r>
              <a:rPr sz="900" b="1" spc="70" dirty="0">
                <a:solidFill>
                  <a:srgbClr val="1B2433"/>
                </a:solidFill>
                <a:latin typeface="Arial"/>
                <a:cs typeface="Arial"/>
              </a:rPr>
              <a:t> </a:t>
            </a:r>
            <a:r>
              <a:rPr sz="900" b="1" dirty="0">
                <a:solidFill>
                  <a:srgbClr val="1B2433"/>
                </a:solidFill>
                <a:latin typeface="Arial"/>
                <a:cs typeface="Arial"/>
              </a:rPr>
              <a:t>×</a:t>
            </a:r>
            <a:r>
              <a:rPr sz="900" b="1" spc="65" dirty="0">
                <a:solidFill>
                  <a:srgbClr val="1B2433"/>
                </a:solidFill>
                <a:latin typeface="Arial"/>
                <a:cs typeface="Arial"/>
              </a:rPr>
              <a:t> </a:t>
            </a:r>
            <a:r>
              <a:rPr sz="900" b="1" dirty="0">
                <a:solidFill>
                  <a:srgbClr val="1B2433"/>
                </a:solidFill>
                <a:latin typeface="Arial"/>
                <a:cs typeface="Arial"/>
              </a:rPr>
              <a:t>10</a:t>
            </a:r>
            <a:r>
              <a:rPr sz="1125" b="1" baseline="29629" dirty="0">
                <a:solidFill>
                  <a:srgbClr val="1B2433"/>
                </a:solidFill>
                <a:latin typeface="Arial"/>
                <a:cs typeface="Arial"/>
              </a:rPr>
              <a:t>23</a:t>
            </a:r>
            <a:r>
              <a:rPr sz="900" b="1" dirty="0">
                <a:solidFill>
                  <a:srgbClr val="1B2433"/>
                </a:solidFill>
                <a:latin typeface="Arial"/>
                <a:cs typeface="Arial"/>
              </a:rPr>
              <a:t>)</a:t>
            </a:r>
            <a:r>
              <a:rPr sz="900" b="1" spc="70" dirty="0">
                <a:solidFill>
                  <a:srgbClr val="1B2433"/>
                </a:solidFill>
                <a:latin typeface="Arial"/>
                <a:cs typeface="Arial"/>
              </a:rPr>
              <a:t> </a:t>
            </a:r>
            <a:r>
              <a:rPr sz="900" b="1" spc="-10" dirty="0">
                <a:solidFill>
                  <a:srgbClr val="1B2433"/>
                </a:solidFill>
                <a:latin typeface="Arial"/>
                <a:cs typeface="Arial"/>
              </a:rPr>
              <a:t>units/mol</a:t>
            </a:r>
            <a:endParaRPr sz="900">
              <a:latin typeface="Arial"/>
              <a:cs typeface="Arial"/>
            </a:endParaRPr>
          </a:p>
        </p:txBody>
      </p:sp>
      <p:sp>
        <p:nvSpPr>
          <p:cNvPr id="45" name="object 45"/>
          <p:cNvSpPr txBox="1"/>
          <p:nvPr/>
        </p:nvSpPr>
        <p:spPr>
          <a:xfrm>
            <a:off x="12501561" y="5148262"/>
            <a:ext cx="2333625" cy="714375"/>
          </a:xfrm>
          <a:prstGeom prst="rect">
            <a:avLst/>
          </a:prstGeom>
          <a:solidFill>
            <a:srgbClr val="F4F5F9"/>
          </a:solidFill>
          <a:ln w="28574">
            <a:solidFill>
              <a:srgbClr val="003399"/>
            </a:solidFill>
          </a:ln>
        </p:spPr>
        <p:txBody>
          <a:bodyPr vert="horz" wrap="square" lIns="0" tIns="160020" rIns="0" bIns="0" rtlCol="0">
            <a:spAutoFit/>
          </a:bodyPr>
          <a:lstStyle/>
          <a:p>
            <a:pPr marL="571500">
              <a:lnSpc>
                <a:spcPct val="100000"/>
              </a:lnSpc>
              <a:spcBef>
                <a:spcPts val="1260"/>
              </a:spcBef>
            </a:pPr>
            <a:r>
              <a:rPr sz="1650" b="1" dirty="0">
                <a:solidFill>
                  <a:srgbClr val="003399"/>
                </a:solidFill>
                <a:latin typeface="Arial"/>
                <a:cs typeface="Arial"/>
              </a:rPr>
              <a:t>1.690</a:t>
            </a:r>
            <a:r>
              <a:rPr sz="1650" b="1" spc="-10" dirty="0">
                <a:solidFill>
                  <a:srgbClr val="003399"/>
                </a:solidFill>
                <a:latin typeface="Arial"/>
                <a:cs typeface="Arial"/>
              </a:rPr>
              <a:t> </a:t>
            </a:r>
            <a:r>
              <a:rPr sz="1650" b="1" dirty="0">
                <a:solidFill>
                  <a:srgbClr val="003399"/>
                </a:solidFill>
                <a:latin typeface="Arial"/>
                <a:cs typeface="Arial"/>
              </a:rPr>
              <a:t>× </a:t>
            </a:r>
            <a:r>
              <a:rPr sz="1650" b="1" spc="-20" dirty="0">
                <a:solidFill>
                  <a:srgbClr val="003399"/>
                </a:solidFill>
                <a:latin typeface="Arial"/>
                <a:cs typeface="Arial"/>
              </a:rPr>
              <a:t>10</a:t>
            </a:r>
            <a:r>
              <a:rPr sz="2025" b="1" spc="-30" baseline="24691" dirty="0">
                <a:solidFill>
                  <a:srgbClr val="003399"/>
                </a:solidFill>
                <a:latin typeface="Arial"/>
                <a:cs typeface="Arial"/>
              </a:rPr>
              <a:t>21</a:t>
            </a:r>
            <a:endParaRPr sz="2025" baseline="24691">
              <a:latin typeface="Arial"/>
              <a:cs typeface="Arial"/>
            </a:endParaRPr>
          </a:p>
          <a:p>
            <a:pPr marL="533400">
              <a:lnSpc>
                <a:spcPct val="100000"/>
              </a:lnSpc>
              <a:spcBef>
                <a:spcPts val="20"/>
              </a:spcBef>
            </a:pPr>
            <a:r>
              <a:rPr sz="900" b="1" dirty="0">
                <a:solidFill>
                  <a:srgbClr val="1B2433"/>
                </a:solidFill>
                <a:latin typeface="Arial"/>
                <a:cs typeface="Arial"/>
              </a:rPr>
              <a:t>formula</a:t>
            </a:r>
            <a:r>
              <a:rPr sz="900" b="1" spc="-10" dirty="0">
                <a:solidFill>
                  <a:srgbClr val="1B2433"/>
                </a:solidFill>
                <a:latin typeface="Arial"/>
                <a:cs typeface="Arial"/>
              </a:rPr>
              <a:t> </a:t>
            </a:r>
            <a:r>
              <a:rPr sz="900" b="1" dirty="0">
                <a:solidFill>
                  <a:srgbClr val="1B2433"/>
                </a:solidFill>
                <a:latin typeface="Arial"/>
                <a:cs typeface="Arial"/>
              </a:rPr>
              <a:t>units</a:t>
            </a:r>
            <a:r>
              <a:rPr sz="900" b="1" spc="-15" dirty="0">
                <a:solidFill>
                  <a:srgbClr val="1B2433"/>
                </a:solidFill>
                <a:latin typeface="Arial"/>
                <a:cs typeface="Arial"/>
              </a:rPr>
              <a:t> </a:t>
            </a:r>
            <a:r>
              <a:rPr sz="900" b="1" dirty="0">
                <a:solidFill>
                  <a:srgbClr val="1B2433"/>
                </a:solidFill>
                <a:latin typeface="Arial"/>
                <a:cs typeface="Arial"/>
              </a:rPr>
              <a:t>of</a:t>
            </a:r>
            <a:r>
              <a:rPr sz="900" b="1" spc="-10" dirty="0">
                <a:solidFill>
                  <a:srgbClr val="1B2433"/>
                </a:solidFill>
                <a:latin typeface="Arial"/>
                <a:cs typeface="Arial"/>
              </a:rPr>
              <a:t> CaCO</a:t>
            </a:r>
            <a:r>
              <a:rPr sz="1125" b="1" spc="-15" baseline="-18518" dirty="0">
                <a:solidFill>
                  <a:srgbClr val="1B2433"/>
                </a:solidFill>
                <a:latin typeface="Arial"/>
                <a:cs typeface="Arial"/>
              </a:rPr>
              <a:t>3</a:t>
            </a:r>
            <a:endParaRPr sz="1125" baseline="-18518">
              <a:latin typeface="Arial"/>
              <a:cs typeface="Arial"/>
            </a:endParaRPr>
          </a:p>
        </p:txBody>
      </p:sp>
      <p:sp>
        <p:nvSpPr>
          <p:cNvPr id="46" name="object 46"/>
          <p:cNvSpPr txBox="1"/>
          <p:nvPr/>
        </p:nvSpPr>
        <p:spPr>
          <a:xfrm>
            <a:off x="242887" y="4776787"/>
            <a:ext cx="14754225" cy="1485900"/>
          </a:xfrm>
          <a:prstGeom prst="rect">
            <a:avLst/>
          </a:prstGeom>
          <a:ln w="28574">
            <a:solidFill>
              <a:srgbClr val="003399"/>
            </a:solidFill>
          </a:ln>
        </p:spPr>
        <p:txBody>
          <a:bodyPr vert="horz" wrap="square" lIns="0" tIns="118745" rIns="0" bIns="0" rtlCol="0">
            <a:spAutoFit/>
          </a:bodyPr>
          <a:lstStyle/>
          <a:p>
            <a:pPr marL="147320">
              <a:lnSpc>
                <a:spcPct val="100000"/>
              </a:lnSpc>
              <a:spcBef>
                <a:spcPts val="935"/>
              </a:spcBef>
            </a:pPr>
            <a:r>
              <a:rPr sz="1050" b="1" spc="45" dirty="0">
                <a:solidFill>
                  <a:srgbClr val="4A0D4E"/>
                </a:solidFill>
                <a:latin typeface="Arial"/>
                <a:cs typeface="Arial"/>
              </a:rPr>
              <a:t>SECTION</a:t>
            </a:r>
            <a:r>
              <a:rPr sz="1050" b="1" spc="120" dirty="0">
                <a:solidFill>
                  <a:srgbClr val="4A0D4E"/>
                </a:solidFill>
                <a:latin typeface="Arial"/>
                <a:cs typeface="Arial"/>
              </a:rPr>
              <a:t> </a:t>
            </a:r>
            <a:r>
              <a:rPr sz="1050" b="1" dirty="0">
                <a:solidFill>
                  <a:srgbClr val="4A0D4E"/>
                </a:solidFill>
                <a:latin typeface="Arial"/>
                <a:cs typeface="Arial"/>
              </a:rPr>
              <a:t>D</a:t>
            </a:r>
            <a:r>
              <a:rPr sz="1050" b="1" spc="120" dirty="0">
                <a:solidFill>
                  <a:srgbClr val="4A0D4E"/>
                </a:solidFill>
                <a:latin typeface="Arial"/>
                <a:cs typeface="Arial"/>
              </a:rPr>
              <a:t> </a:t>
            </a:r>
            <a:r>
              <a:rPr sz="1050" b="1" dirty="0">
                <a:solidFill>
                  <a:srgbClr val="003399"/>
                </a:solidFill>
                <a:latin typeface="Arial"/>
                <a:cs typeface="Arial"/>
              </a:rPr>
              <a:t>·</a:t>
            </a:r>
            <a:r>
              <a:rPr sz="1050" b="1" spc="-5" dirty="0">
                <a:solidFill>
                  <a:srgbClr val="003399"/>
                </a:solidFill>
                <a:latin typeface="Arial"/>
                <a:cs typeface="Arial"/>
              </a:rPr>
              <a:t> </a:t>
            </a:r>
            <a:r>
              <a:rPr sz="1050" b="1" dirty="0">
                <a:solidFill>
                  <a:srgbClr val="003399"/>
                </a:solidFill>
                <a:latin typeface="Arial"/>
                <a:cs typeface="Arial"/>
              </a:rPr>
              <a:t>THE MOLE</a:t>
            </a:r>
            <a:r>
              <a:rPr sz="1050" b="1" spc="-5" dirty="0">
                <a:solidFill>
                  <a:srgbClr val="003399"/>
                </a:solidFill>
                <a:latin typeface="Arial"/>
                <a:cs typeface="Arial"/>
              </a:rPr>
              <a:t> </a:t>
            </a:r>
            <a:r>
              <a:rPr sz="1050" b="1" dirty="0">
                <a:solidFill>
                  <a:srgbClr val="003399"/>
                </a:solidFill>
                <a:latin typeface="Arial"/>
                <a:cs typeface="Arial"/>
              </a:rPr>
              <a:t>MAP</a:t>
            </a:r>
            <a:r>
              <a:rPr sz="1050" b="1" spc="-20" dirty="0">
                <a:solidFill>
                  <a:srgbClr val="003399"/>
                </a:solidFill>
                <a:latin typeface="Arial"/>
                <a:cs typeface="Arial"/>
              </a:rPr>
              <a:t> </a:t>
            </a:r>
            <a:r>
              <a:rPr sz="1050" b="1" dirty="0">
                <a:solidFill>
                  <a:srgbClr val="003399"/>
                </a:solidFill>
                <a:latin typeface="Arial"/>
                <a:cs typeface="Arial"/>
              </a:rPr>
              <a:t>(200</a:t>
            </a:r>
            <a:r>
              <a:rPr sz="1050" b="1" spc="-5" dirty="0">
                <a:solidFill>
                  <a:srgbClr val="003399"/>
                </a:solidFill>
                <a:latin typeface="Arial"/>
                <a:cs typeface="Arial"/>
              </a:rPr>
              <a:t> </a:t>
            </a:r>
            <a:r>
              <a:rPr sz="1050" b="1" dirty="0">
                <a:solidFill>
                  <a:srgbClr val="003399"/>
                </a:solidFill>
                <a:latin typeface="Arial"/>
                <a:cs typeface="Arial"/>
              </a:rPr>
              <a:t>mL</a:t>
            </a:r>
            <a:r>
              <a:rPr sz="1050" b="1" spc="-20" dirty="0">
                <a:solidFill>
                  <a:srgbClr val="003399"/>
                </a:solidFill>
                <a:latin typeface="Arial"/>
                <a:cs typeface="Arial"/>
              </a:rPr>
              <a:t> </a:t>
            </a:r>
            <a:r>
              <a:rPr sz="1050" b="1" spc="-10" dirty="0">
                <a:solidFill>
                  <a:srgbClr val="003399"/>
                </a:solidFill>
                <a:latin typeface="Arial"/>
                <a:cs typeface="Arial"/>
              </a:rPr>
              <a:t>basis)</a:t>
            </a:r>
            <a:endParaRPr sz="1050">
              <a:latin typeface="Arial"/>
              <a:cs typeface="Arial"/>
            </a:endParaRPr>
          </a:p>
          <a:p>
            <a:pPr>
              <a:lnSpc>
                <a:spcPct val="100000"/>
              </a:lnSpc>
            </a:pPr>
            <a:endParaRPr sz="1050">
              <a:latin typeface="Arial"/>
              <a:cs typeface="Arial"/>
            </a:endParaRPr>
          </a:p>
          <a:p>
            <a:pPr>
              <a:lnSpc>
                <a:spcPct val="100000"/>
              </a:lnSpc>
            </a:pPr>
            <a:endParaRPr sz="1050">
              <a:latin typeface="Arial"/>
              <a:cs typeface="Arial"/>
            </a:endParaRPr>
          </a:p>
          <a:p>
            <a:pPr>
              <a:lnSpc>
                <a:spcPct val="100000"/>
              </a:lnSpc>
            </a:pPr>
            <a:endParaRPr sz="1050">
              <a:latin typeface="Arial"/>
              <a:cs typeface="Arial"/>
            </a:endParaRPr>
          </a:p>
          <a:p>
            <a:pPr>
              <a:lnSpc>
                <a:spcPct val="100000"/>
              </a:lnSpc>
            </a:pPr>
            <a:endParaRPr sz="1050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1030"/>
              </a:spcBef>
            </a:pPr>
            <a:endParaRPr sz="1050">
              <a:latin typeface="Arial"/>
              <a:cs typeface="Arial"/>
            </a:endParaRPr>
          </a:p>
          <a:p>
            <a:pPr marL="147320">
              <a:lnSpc>
                <a:spcPct val="100000"/>
              </a:lnSpc>
            </a:pPr>
            <a:r>
              <a:rPr sz="900" dirty="0">
                <a:solidFill>
                  <a:srgbClr val="3A4558"/>
                </a:solidFill>
                <a:latin typeface="Arial"/>
                <a:cs typeface="Arial"/>
              </a:rPr>
              <a:t>Always pass through moles: grams never convert straight to particles. Name the entity at every step: CaCO</a:t>
            </a:r>
            <a:r>
              <a:rPr sz="1125" baseline="-18518" dirty="0">
                <a:solidFill>
                  <a:srgbClr val="3A4558"/>
                </a:solidFill>
                <a:latin typeface="Arial"/>
                <a:cs typeface="Arial"/>
              </a:rPr>
              <a:t>3</a:t>
            </a:r>
            <a:r>
              <a:rPr sz="1125" spc="60" baseline="-18518" dirty="0">
                <a:solidFill>
                  <a:srgbClr val="3A4558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3A4558"/>
                </a:solidFill>
                <a:latin typeface="Arial"/>
                <a:cs typeface="Arial"/>
              </a:rPr>
              <a:t>is ionic, so it is counted in formula units, not </a:t>
            </a:r>
            <a:r>
              <a:rPr sz="900" spc="-10" dirty="0">
                <a:solidFill>
                  <a:srgbClr val="3A4558"/>
                </a:solidFill>
                <a:latin typeface="Arial"/>
                <a:cs typeface="Arial"/>
              </a:rPr>
              <a:t>molecules.</a:t>
            </a:r>
            <a:endParaRPr sz="900">
              <a:latin typeface="Arial"/>
              <a:cs typeface="Arial"/>
            </a:endParaRPr>
          </a:p>
        </p:txBody>
      </p:sp>
      <p:sp>
        <p:nvSpPr>
          <p:cNvPr id="130" name="object 130"/>
          <p:cNvSpPr/>
          <p:nvPr/>
        </p:nvSpPr>
        <p:spPr>
          <a:xfrm>
            <a:off x="2809862" y="5619761"/>
            <a:ext cx="9620250" cy="47625"/>
          </a:xfrm>
          <a:custGeom>
            <a:avLst/>
            <a:gdLst/>
            <a:ahLst/>
            <a:cxnLst/>
            <a:rect l="l" t="t" r="r" b="b"/>
            <a:pathLst>
              <a:path w="9620250" h="47625">
                <a:moveTo>
                  <a:pt x="3571875" y="0"/>
                </a:moveTo>
                <a:lnTo>
                  <a:pt x="0" y="0"/>
                </a:lnTo>
                <a:lnTo>
                  <a:pt x="0" y="28575"/>
                </a:lnTo>
                <a:lnTo>
                  <a:pt x="3571875" y="28575"/>
                </a:lnTo>
                <a:lnTo>
                  <a:pt x="3571875" y="0"/>
                </a:lnTo>
                <a:close/>
              </a:path>
              <a:path w="9620250" h="47625">
                <a:moveTo>
                  <a:pt x="9620250" y="19050"/>
                </a:moveTo>
                <a:lnTo>
                  <a:pt x="6048375" y="19050"/>
                </a:lnTo>
                <a:lnTo>
                  <a:pt x="6048375" y="47625"/>
                </a:lnTo>
                <a:lnTo>
                  <a:pt x="9620250" y="47625"/>
                </a:lnTo>
                <a:lnTo>
                  <a:pt x="9620250" y="19050"/>
                </a:lnTo>
                <a:close/>
              </a:path>
            </a:pathLst>
          </a:custGeom>
          <a:solidFill>
            <a:srgbClr val="003399"/>
          </a:solidFill>
        </p:spPr>
        <p:txBody>
          <a:bodyPr wrap="square" lIns="0" tIns="0" rIns="0" bIns="0" rtlCol="0"/>
          <a:lstStyle/>
          <a:p>
            <a:endParaRPr/>
          </a:p>
        </p:txBody>
      </p:sp>
      <p:grpSp>
        <p:nvGrpSpPr>
          <p:cNvPr id="47" name="object 47"/>
          <p:cNvGrpSpPr/>
          <p:nvPr/>
        </p:nvGrpSpPr>
        <p:grpSpPr>
          <a:xfrm>
            <a:off x="228599" y="6410324"/>
            <a:ext cx="14782800" cy="4000500"/>
            <a:chOff x="228599" y="6410324"/>
            <a:chExt cx="14782800" cy="4000500"/>
          </a:xfrm>
        </p:grpSpPr>
        <p:sp>
          <p:nvSpPr>
            <p:cNvPr id="48" name="object 48"/>
            <p:cNvSpPr/>
            <p:nvPr/>
          </p:nvSpPr>
          <p:spPr>
            <a:xfrm>
              <a:off x="228599" y="6410324"/>
              <a:ext cx="14782800" cy="4000500"/>
            </a:xfrm>
            <a:custGeom>
              <a:avLst/>
              <a:gdLst/>
              <a:ahLst/>
              <a:cxnLst/>
              <a:rect l="l" t="t" r="r" b="b"/>
              <a:pathLst>
                <a:path w="14782800" h="4000500">
                  <a:moveTo>
                    <a:pt x="14782798" y="4000499"/>
                  </a:moveTo>
                  <a:lnTo>
                    <a:pt x="0" y="4000499"/>
                  </a:lnTo>
                  <a:lnTo>
                    <a:pt x="0" y="0"/>
                  </a:lnTo>
                  <a:lnTo>
                    <a:pt x="14782798" y="0"/>
                  </a:lnTo>
                  <a:lnTo>
                    <a:pt x="14782798" y="4000499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9" name="object 49"/>
            <p:cNvSpPr/>
            <p:nvPr/>
          </p:nvSpPr>
          <p:spPr>
            <a:xfrm>
              <a:off x="242887" y="6424612"/>
              <a:ext cx="14754225" cy="3971925"/>
            </a:xfrm>
            <a:custGeom>
              <a:avLst/>
              <a:gdLst/>
              <a:ahLst/>
              <a:cxnLst/>
              <a:rect l="l" t="t" r="r" b="b"/>
              <a:pathLst>
                <a:path w="14754225" h="3971925">
                  <a:moveTo>
                    <a:pt x="0" y="0"/>
                  </a:moveTo>
                  <a:lnTo>
                    <a:pt x="14754223" y="0"/>
                  </a:lnTo>
                  <a:lnTo>
                    <a:pt x="14754223" y="3971924"/>
                  </a:lnTo>
                  <a:lnTo>
                    <a:pt x="0" y="3971924"/>
                  </a:lnTo>
                  <a:lnTo>
                    <a:pt x="0" y="0"/>
                  </a:lnTo>
                  <a:close/>
                </a:path>
              </a:pathLst>
            </a:custGeom>
            <a:ln w="28574">
              <a:solidFill>
                <a:srgbClr val="003399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50" name="object 50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390524" y="6791324"/>
              <a:ext cx="190500" cy="190499"/>
            </a:xfrm>
            <a:prstGeom prst="rect">
              <a:avLst/>
            </a:prstGeom>
          </p:spPr>
        </p:pic>
      </p:grpSp>
      <p:sp>
        <p:nvSpPr>
          <p:cNvPr id="51" name="object 51"/>
          <p:cNvSpPr txBox="1"/>
          <p:nvPr/>
        </p:nvSpPr>
        <p:spPr>
          <a:xfrm>
            <a:off x="390524" y="6530975"/>
            <a:ext cx="6349365" cy="6502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100"/>
              </a:spcBef>
            </a:pPr>
            <a:r>
              <a:rPr sz="1050" b="1" spc="45" dirty="0">
                <a:solidFill>
                  <a:srgbClr val="4A0D4E"/>
                </a:solidFill>
                <a:latin typeface="Arial"/>
                <a:cs typeface="Arial"/>
              </a:rPr>
              <a:t>SECTION</a:t>
            </a:r>
            <a:r>
              <a:rPr sz="1050" b="1" spc="105" dirty="0">
                <a:solidFill>
                  <a:srgbClr val="4A0D4E"/>
                </a:solidFill>
                <a:latin typeface="Arial"/>
                <a:cs typeface="Arial"/>
              </a:rPr>
              <a:t> </a:t>
            </a:r>
            <a:r>
              <a:rPr sz="1050" b="1" dirty="0">
                <a:solidFill>
                  <a:srgbClr val="4A0D4E"/>
                </a:solidFill>
                <a:latin typeface="Arial"/>
                <a:cs typeface="Arial"/>
              </a:rPr>
              <a:t>E</a:t>
            </a:r>
            <a:r>
              <a:rPr sz="1050" b="1" spc="110" dirty="0">
                <a:solidFill>
                  <a:srgbClr val="4A0D4E"/>
                </a:solidFill>
                <a:latin typeface="Arial"/>
                <a:cs typeface="Arial"/>
              </a:rPr>
              <a:t> </a:t>
            </a:r>
            <a:r>
              <a:rPr sz="1050" b="1" dirty="0">
                <a:solidFill>
                  <a:srgbClr val="003399"/>
                </a:solidFill>
                <a:latin typeface="Arial"/>
                <a:cs typeface="Arial"/>
              </a:rPr>
              <a:t>·</a:t>
            </a:r>
            <a:r>
              <a:rPr sz="1050" b="1" spc="-10" dirty="0">
                <a:solidFill>
                  <a:srgbClr val="003399"/>
                </a:solidFill>
                <a:latin typeface="Arial"/>
                <a:cs typeface="Arial"/>
              </a:rPr>
              <a:t> </a:t>
            </a:r>
            <a:r>
              <a:rPr sz="1050" b="1" dirty="0">
                <a:solidFill>
                  <a:srgbClr val="003399"/>
                </a:solidFill>
                <a:latin typeface="Arial"/>
                <a:cs typeface="Arial"/>
              </a:rPr>
              <a:t>DIMENSIONAL</a:t>
            </a:r>
            <a:r>
              <a:rPr sz="1050" b="1" spc="-70" dirty="0">
                <a:solidFill>
                  <a:srgbClr val="003399"/>
                </a:solidFill>
                <a:latin typeface="Arial"/>
                <a:cs typeface="Arial"/>
              </a:rPr>
              <a:t> </a:t>
            </a:r>
            <a:r>
              <a:rPr sz="1050" b="1" spc="-10" dirty="0">
                <a:solidFill>
                  <a:srgbClr val="003399"/>
                </a:solidFill>
                <a:latin typeface="Arial"/>
                <a:cs typeface="Arial"/>
              </a:rPr>
              <a:t>ANALYSIS </a:t>
            </a:r>
            <a:r>
              <a:rPr sz="1050" b="1" dirty="0">
                <a:solidFill>
                  <a:srgbClr val="003399"/>
                </a:solidFill>
                <a:latin typeface="Arial"/>
                <a:cs typeface="Arial"/>
              </a:rPr>
              <a:t>PROOFS</a:t>
            </a:r>
            <a:r>
              <a:rPr sz="1050" b="1" spc="-10" dirty="0">
                <a:solidFill>
                  <a:srgbClr val="003399"/>
                </a:solidFill>
                <a:latin typeface="Arial"/>
                <a:cs typeface="Arial"/>
              </a:rPr>
              <a:t> </a:t>
            </a:r>
            <a:r>
              <a:rPr sz="1050" b="1" dirty="0">
                <a:solidFill>
                  <a:srgbClr val="003399"/>
                </a:solidFill>
                <a:latin typeface="Arial"/>
                <a:cs typeface="Arial"/>
              </a:rPr>
              <a:t>(unrounded</a:t>
            </a:r>
            <a:r>
              <a:rPr sz="1050" b="1" spc="-10" dirty="0">
                <a:solidFill>
                  <a:srgbClr val="003399"/>
                </a:solidFill>
                <a:latin typeface="Arial"/>
                <a:cs typeface="Arial"/>
              </a:rPr>
              <a:t> </a:t>
            </a:r>
            <a:r>
              <a:rPr sz="1050" b="1" dirty="0">
                <a:solidFill>
                  <a:srgbClr val="003399"/>
                </a:solidFill>
                <a:latin typeface="Arial"/>
                <a:cs typeface="Arial"/>
              </a:rPr>
              <a:t>value</a:t>
            </a:r>
            <a:r>
              <a:rPr sz="1050" b="1" spc="-15" dirty="0">
                <a:solidFill>
                  <a:srgbClr val="003399"/>
                </a:solidFill>
                <a:latin typeface="Arial"/>
                <a:cs typeface="Arial"/>
              </a:rPr>
              <a:t> </a:t>
            </a:r>
            <a:r>
              <a:rPr sz="1050" b="1" dirty="0">
                <a:solidFill>
                  <a:srgbClr val="003399"/>
                </a:solidFill>
                <a:latin typeface="Arial"/>
                <a:cs typeface="Arial"/>
              </a:rPr>
              <a:t>in</a:t>
            </a:r>
            <a:r>
              <a:rPr sz="1050" b="1" spc="-10" dirty="0">
                <a:solidFill>
                  <a:srgbClr val="003399"/>
                </a:solidFill>
                <a:latin typeface="Arial"/>
                <a:cs typeface="Arial"/>
              </a:rPr>
              <a:t> </a:t>
            </a:r>
            <a:r>
              <a:rPr sz="1050" b="1" dirty="0">
                <a:solidFill>
                  <a:srgbClr val="003399"/>
                </a:solidFill>
                <a:latin typeface="Arial"/>
                <a:cs typeface="Arial"/>
              </a:rPr>
              <a:t>gray;</a:t>
            </a:r>
            <a:r>
              <a:rPr sz="1050" b="1" spc="-10" dirty="0">
                <a:solidFill>
                  <a:srgbClr val="003399"/>
                </a:solidFill>
                <a:latin typeface="Arial"/>
                <a:cs typeface="Arial"/>
              </a:rPr>
              <a:t> </a:t>
            </a:r>
            <a:r>
              <a:rPr sz="1050" b="1" dirty="0">
                <a:solidFill>
                  <a:srgbClr val="003399"/>
                </a:solidFill>
                <a:latin typeface="Arial"/>
                <a:cs typeface="Arial"/>
              </a:rPr>
              <a:t>reported</a:t>
            </a:r>
            <a:r>
              <a:rPr sz="1050" b="1" spc="-10" dirty="0">
                <a:solidFill>
                  <a:srgbClr val="003399"/>
                </a:solidFill>
                <a:latin typeface="Arial"/>
                <a:cs typeface="Arial"/>
              </a:rPr>
              <a:t> </a:t>
            </a:r>
            <a:r>
              <a:rPr sz="1050" b="1" dirty="0">
                <a:solidFill>
                  <a:srgbClr val="003399"/>
                </a:solidFill>
                <a:latin typeface="Arial"/>
                <a:cs typeface="Arial"/>
              </a:rPr>
              <a:t>answer</a:t>
            </a:r>
            <a:r>
              <a:rPr sz="1050" b="1" spc="-15" dirty="0">
                <a:solidFill>
                  <a:srgbClr val="003399"/>
                </a:solidFill>
                <a:latin typeface="Arial"/>
                <a:cs typeface="Arial"/>
              </a:rPr>
              <a:t> </a:t>
            </a:r>
            <a:r>
              <a:rPr sz="1050" b="1" dirty="0">
                <a:solidFill>
                  <a:srgbClr val="003399"/>
                </a:solidFill>
                <a:latin typeface="Arial"/>
                <a:cs typeface="Arial"/>
              </a:rPr>
              <a:t>in</a:t>
            </a:r>
            <a:r>
              <a:rPr sz="1050" b="1" spc="-10" dirty="0">
                <a:solidFill>
                  <a:srgbClr val="003399"/>
                </a:solidFill>
                <a:latin typeface="Arial"/>
                <a:cs typeface="Arial"/>
              </a:rPr>
              <a:t> </a:t>
            </a:r>
            <a:r>
              <a:rPr sz="1050" b="1" spc="-20" dirty="0">
                <a:solidFill>
                  <a:srgbClr val="003399"/>
                </a:solidFill>
                <a:latin typeface="Arial"/>
                <a:cs typeface="Arial"/>
              </a:rPr>
              <a:t>red)</a:t>
            </a:r>
            <a:endParaRPr sz="1050">
              <a:latin typeface="Arial"/>
              <a:cs typeface="Arial"/>
            </a:endParaRPr>
          </a:p>
          <a:p>
            <a:pPr marL="62865">
              <a:lnSpc>
                <a:spcPct val="100000"/>
              </a:lnSpc>
              <a:spcBef>
                <a:spcPts val="790"/>
              </a:spcBef>
            </a:pPr>
            <a:r>
              <a:rPr sz="900" b="1" dirty="0">
                <a:solidFill>
                  <a:srgbClr val="FFFFFF"/>
                </a:solidFill>
                <a:latin typeface="Arial"/>
                <a:cs typeface="Arial"/>
              </a:rPr>
              <a:t>1</a:t>
            </a:r>
            <a:r>
              <a:rPr sz="900" b="1" spc="240" dirty="0">
                <a:solidFill>
                  <a:srgbClr val="FFFFFF"/>
                </a:solidFill>
                <a:latin typeface="Arial"/>
                <a:cs typeface="Arial"/>
              </a:rPr>
              <a:t>  </a:t>
            </a:r>
            <a:r>
              <a:rPr sz="950" b="1" dirty="0">
                <a:solidFill>
                  <a:srgbClr val="4A0D4E"/>
                </a:solidFill>
                <a:latin typeface="Arial"/>
                <a:cs typeface="Arial"/>
              </a:rPr>
              <a:t>Molar</a:t>
            </a:r>
            <a:r>
              <a:rPr sz="950" b="1" spc="25" dirty="0">
                <a:solidFill>
                  <a:srgbClr val="4A0D4E"/>
                </a:solidFill>
                <a:latin typeface="Arial"/>
                <a:cs typeface="Arial"/>
              </a:rPr>
              <a:t> </a:t>
            </a:r>
            <a:r>
              <a:rPr sz="950" b="1" spc="-20" dirty="0">
                <a:solidFill>
                  <a:srgbClr val="4A0D4E"/>
                </a:solidFill>
                <a:latin typeface="Arial"/>
                <a:cs typeface="Arial"/>
              </a:rPr>
              <a:t>mass</a:t>
            </a:r>
            <a:endParaRPr sz="950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585"/>
              </a:spcBef>
            </a:pPr>
            <a:r>
              <a:rPr sz="950" dirty="0">
                <a:solidFill>
                  <a:srgbClr val="1B2433"/>
                </a:solidFill>
                <a:latin typeface="Arial"/>
                <a:cs typeface="Arial"/>
              </a:rPr>
              <a:t>M</a:t>
            </a:r>
            <a:r>
              <a:rPr sz="950" spc="45" dirty="0">
                <a:solidFill>
                  <a:srgbClr val="1B2433"/>
                </a:solidFill>
                <a:latin typeface="Arial"/>
                <a:cs typeface="Arial"/>
              </a:rPr>
              <a:t> </a:t>
            </a:r>
            <a:r>
              <a:rPr sz="950" dirty="0">
                <a:solidFill>
                  <a:srgbClr val="1B2433"/>
                </a:solidFill>
                <a:latin typeface="Arial"/>
                <a:cs typeface="Arial"/>
              </a:rPr>
              <a:t>=</a:t>
            </a:r>
            <a:r>
              <a:rPr sz="950" spc="50" dirty="0">
                <a:solidFill>
                  <a:srgbClr val="1B2433"/>
                </a:solidFill>
                <a:latin typeface="Arial"/>
                <a:cs typeface="Arial"/>
              </a:rPr>
              <a:t> </a:t>
            </a:r>
            <a:r>
              <a:rPr sz="950" dirty="0">
                <a:solidFill>
                  <a:srgbClr val="1B2433"/>
                </a:solidFill>
                <a:latin typeface="Arial"/>
                <a:cs typeface="Arial"/>
              </a:rPr>
              <a:t>40.078</a:t>
            </a:r>
            <a:r>
              <a:rPr sz="950" spc="45" dirty="0">
                <a:solidFill>
                  <a:srgbClr val="1B2433"/>
                </a:solidFill>
                <a:latin typeface="Arial"/>
                <a:cs typeface="Arial"/>
              </a:rPr>
              <a:t> </a:t>
            </a:r>
            <a:r>
              <a:rPr sz="950" dirty="0">
                <a:solidFill>
                  <a:srgbClr val="1B2433"/>
                </a:solidFill>
                <a:latin typeface="Arial"/>
                <a:cs typeface="Arial"/>
              </a:rPr>
              <a:t>+</a:t>
            </a:r>
            <a:r>
              <a:rPr sz="950" spc="50" dirty="0">
                <a:solidFill>
                  <a:srgbClr val="1B2433"/>
                </a:solidFill>
                <a:latin typeface="Arial"/>
                <a:cs typeface="Arial"/>
              </a:rPr>
              <a:t> </a:t>
            </a:r>
            <a:r>
              <a:rPr sz="950" dirty="0">
                <a:solidFill>
                  <a:srgbClr val="1B2433"/>
                </a:solidFill>
                <a:latin typeface="Arial"/>
                <a:cs typeface="Arial"/>
              </a:rPr>
              <a:t>12.011</a:t>
            </a:r>
            <a:r>
              <a:rPr sz="950" spc="50" dirty="0">
                <a:solidFill>
                  <a:srgbClr val="1B2433"/>
                </a:solidFill>
                <a:latin typeface="Arial"/>
                <a:cs typeface="Arial"/>
              </a:rPr>
              <a:t> </a:t>
            </a:r>
            <a:r>
              <a:rPr sz="950" dirty="0">
                <a:solidFill>
                  <a:srgbClr val="1B2433"/>
                </a:solidFill>
                <a:latin typeface="Arial"/>
                <a:cs typeface="Arial"/>
              </a:rPr>
              <a:t>+</a:t>
            </a:r>
            <a:r>
              <a:rPr sz="950" spc="45" dirty="0">
                <a:solidFill>
                  <a:srgbClr val="1B2433"/>
                </a:solidFill>
                <a:latin typeface="Arial"/>
                <a:cs typeface="Arial"/>
              </a:rPr>
              <a:t> </a:t>
            </a:r>
            <a:r>
              <a:rPr sz="950" dirty="0">
                <a:solidFill>
                  <a:srgbClr val="1B2433"/>
                </a:solidFill>
                <a:latin typeface="Arial"/>
                <a:cs typeface="Arial"/>
              </a:rPr>
              <a:t>3(15.999)</a:t>
            </a:r>
            <a:r>
              <a:rPr sz="950" spc="50" dirty="0">
                <a:solidFill>
                  <a:srgbClr val="1B2433"/>
                </a:solidFill>
                <a:latin typeface="Arial"/>
                <a:cs typeface="Arial"/>
              </a:rPr>
              <a:t> </a:t>
            </a:r>
            <a:r>
              <a:rPr sz="950" dirty="0">
                <a:solidFill>
                  <a:srgbClr val="1B2433"/>
                </a:solidFill>
                <a:latin typeface="Arial"/>
                <a:cs typeface="Arial"/>
              </a:rPr>
              <a:t>=</a:t>
            </a:r>
            <a:r>
              <a:rPr sz="950" spc="45" dirty="0">
                <a:solidFill>
                  <a:srgbClr val="1B2433"/>
                </a:solidFill>
                <a:latin typeface="Arial"/>
                <a:cs typeface="Arial"/>
              </a:rPr>
              <a:t> </a:t>
            </a:r>
            <a:r>
              <a:rPr sz="950" dirty="0">
                <a:solidFill>
                  <a:srgbClr val="1B2433"/>
                </a:solidFill>
                <a:latin typeface="Arial"/>
                <a:cs typeface="Arial"/>
              </a:rPr>
              <a:t>40.078</a:t>
            </a:r>
            <a:r>
              <a:rPr sz="950" spc="50" dirty="0">
                <a:solidFill>
                  <a:srgbClr val="1B2433"/>
                </a:solidFill>
                <a:latin typeface="Arial"/>
                <a:cs typeface="Arial"/>
              </a:rPr>
              <a:t> </a:t>
            </a:r>
            <a:r>
              <a:rPr sz="950" dirty="0">
                <a:solidFill>
                  <a:srgbClr val="1B2433"/>
                </a:solidFill>
                <a:latin typeface="Arial"/>
                <a:cs typeface="Arial"/>
              </a:rPr>
              <a:t>+</a:t>
            </a:r>
            <a:r>
              <a:rPr sz="950" spc="50" dirty="0">
                <a:solidFill>
                  <a:srgbClr val="1B2433"/>
                </a:solidFill>
                <a:latin typeface="Arial"/>
                <a:cs typeface="Arial"/>
              </a:rPr>
              <a:t> </a:t>
            </a:r>
            <a:r>
              <a:rPr sz="950" dirty="0">
                <a:solidFill>
                  <a:srgbClr val="1B2433"/>
                </a:solidFill>
                <a:latin typeface="Arial"/>
                <a:cs typeface="Arial"/>
              </a:rPr>
              <a:t>12.011</a:t>
            </a:r>
            <a:r>
              <a:rPr sz="950" spc="45" dirty="0">
                <a:solidFill>
                  <a:srgbClr val="1B2433"/>
                </a:solidFill>
                <a:latin typeface="Arial"/>
                <a:cs typeface="Arial"/>
              </a:rPr>
              <a:t> </a:t>
            </a:r>
            <a:r>
              <a:rPr sz="950" dirty="0">
                <a:solidFill>
                  <a:srgbClr val="1B2433"/>
                </a:solidFill>
                <a:latin typeface="Arial"/>
                <a:cs typeface="Arial"/>
              </a:rPr>
              <a:t>+</a:t>
            </a:r>
            <a:r>
              <a:rPr sz="950" spc="50" dirty="0">
                <a:solidFill>
                  <a:srgbClr val="1B2433"/>
                </a:solidFill>
                <a:latin typeface="Arial"/>
                <a:cs typeface="Arial"/>
              </a:rPr>
              <a:t> </a:t>
            </a:r>
            <a:r>
              <a:rPr sz="950" dirty="0">
                <a:solidFill>
                  <a:srgbClr val="1B2433"/>
                </a:solidFill>
                <a:latin typeface="Arial"/>
                <a:cs typeface="Arial"/>
              </a:rPr>
              <a:t>47.997</a:t>
            </a:r>
            <a:r>
              <a:rPr sz="950" spc="45" dirty="0">
                <a:solidFill>
                  <a:srgbClr val="1B2433"/>
                </a:solidFill>
                <a:latin typeface="Arial"/>
                <a:cs typeface="Arial"/>
              </a:rPr>
              <a:t> </a:t>
            </a:r>
            <a:r>
              <a:rPr sz="950" dirty="0">
                <a:solidFill>
                  <a:srgbClr val="1B2433"/>
                </a:solidFill>
                <a:latin typeface="Arial"/>
                <a:cs typeface="Arial"/>
              </a:rPr>
              <a:t>=</a:t>
            </a:r>
            <a:r>
              <a:rPr sz="950" spc="50" dirty="0">
                <a:solidFill>
                  <a:srgbClr val="1B2433"/>
                </a:solidFill>
                <a:latin typeface="Arial"/>
                <a:cs typeface="Arial"/>
              </a:rPr>
              <a:t> </a:t>
            </a:r>
            <a:r>
              <a:rPr sz="950" b="1" dirty="0">
                <a:solidFill>
                  <a:srgbClr val="D32E2E"/>
                </a:solidFill>
                <a:latin typeface="Arial"/>
                <a:cs typeface="Arial"/>
              </a:rPr>
              <a:t>100.086</a:t>
            </a:r>
            <a:r>
              <a:rPr sz="950" b="1" spc="50" dirty="0">
                <a:solidFill>
                  <a:srgbClr val="D32E2E"/>
                </a:solidFill>
                <a:latin typeface="Arial"/>
                <a:cs typeface="Arial"/>
              </a:rPr>
              <a:t> </a:t>
            </a:r>
            <a:r>
              <a:rPr sz="950" b="1" spc="-10" dirty="0">
                <a:solidFill>
                  <a:srgbClr val="D32E2E"/>
                </a:solidFill>
                <a:latin typeface="Arial"/>
                <a:cs typeface="Arial"/>
              </a:rPr>
              <a:t>g/mol</a:t>
            </a:r>
            <a:endParaRPr sz="950">
              <a:latin typeface="Arial"/>
              <a:cs typeface="Arial"/>
            </a:endParaRPr>
          </a:p>
        </p:txBody>
      </p:sp>
      <p:grpSp>
        <p:nvGrpSpPr>
          <p:cNvPr id="81" name="object 81"/>
          <p:cNvGrpSpPr/>
          <p:nvPr/>
        </p:nvGrpSpPr>
        <p:grpSpPr>
          <a:xfrm>
            <a:off x="7791448" y="6791324"/>
            <a:ext cx="1068705" cy="438150"/>
            <a:chOff x="7791448" y="6791324"/>
            <a:chExt cx="1068705" cy="438150"/>
          </a:xfrm>
        </p:grpSpPr>
        <p:pic>
          <p:nvPicPr>
            <p:cNvPr id="82" name="object 82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7791448" y="6791324"/>
              <a:ext cx="190500" cy="190499"/>
            </a:xfrm>
            <a:prstGeom prst="rect">
              <a:avLst/>
            </a:prstGeom>
          </p:spPr>
        </p:pic>
        <p:sp>
          <p:nvSpPr>
            <p:cNvPr id="83" name="object 83"/>
            <p:cNvSpPr/>
            <p:nvPr/>
          </p:nvSpPr>
          <p:spPr>
            <a:xfrm>
              <a:off x="8598395" y="7210424"/>
              <a:ext cx="262255" cy="19050"/>
            </a:xfrm>
            <a:custGeom>
              <a:avLst/>
              <a:gdLst/>
              <a:ahLst/>
              <a:cxnLst/>
              <a:rect l="l" t="t" r="r" b="b"/>
              <a:pathLst>
                <a:path w="262254" h="19050">
                  <a:moveTo>
                    <a:pt x="261639" y="19049"/>
                  </a:moveTo>
                  <a:lnTo>
                    <a:pt x="0" y="19049"/>
                  </a:lnTo>
                  <a:lnTo>
                    <a:pt x="0" y="0"/>
                  </a:lnTo>
                  <a:lnTo>
                    <a:pt x="261639" y="0"/>
                  </a:lnTo>
                  <a:lnTo>
                    <a:pt x="261639" y="19049"/>
                  </a:lnTo>
                  <a:close/>
                </a:path>
              </a:pathLst>
            </a:custGeom>
            <a:solidFill>
              <a:srgbClr val="D32E2E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84" name="object 84"/>
          <p:cNvSpPr txBox="1"/>
          <p:nvPr/>
        </p:nvSpPr>
        <p:spPr>
          <a:xfrm>
            <a:off x="7766050" y="6788150"/>
            <a:ext cx="2059305" cy="504825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88265">
              <a:lnSpc>
                <a:spcPct val="100000"/>
              </a:lnSpc>
              <a:spcBef>
                <a:spcPts val="125"/>
              </a:spcBef>
            </a:pPr>
            <a:r>
              <a:rPr sz="900" b="1" dirty="0">
                <a:solidFill>
                  <a:srgbClr val="FFFFFF"/>
                </a:solidFill>
                <a:latin typeface="Arial"/>
                <a:cs typeface="Arial"/>
              </a:rPr>
              <a:t>5</a:t>
            </a:r>
            <a:r>
              <a:rPr sz="900" b="1" spc="295" dirty="0">
                <a:solidFill>
                  <a:srgbClr val="FFFFFF"/>
                </a:solidFill>
                <a:latin typeface="Arial"/>
                <a:cs typeface="Arial"/>
              </a:rPr>
              <a:t>  </a:t>
            </a:r>
            <a:r>
              <a:rPr sz="950" b="1" dirty="0">
                <a:solidFill>
                  <a:srgbClr val="4A0D4E"/>
                </a:solidFill>
                <a:latin typeface="Arial"/>
                <a:cs typeface="Arial"/>
              </a:rPr>
              <a:t>Oxygen</a:t>
            </a:r>
            <a:r>
              <a:rPr sz="950" b="1" spc="45" dirty="0">
                <a:solidFill>
                  <a:srgbClr val="4A0D4E"/>
                </a:solidFill>
                <a:latin typeface="Arial"/>
                <a:cs typeface="Arial"/>
              </a:rPr>
              <a:t> </a:t>
            </a:r>
            <a:r>
              <a:rPr sz="950" b="1" dirty="0">
                <a:solidFill>
                  <a:srgbClr val="4A0D4E"/>
                </a:solidFill>
                <a:latin typeface="Arial"/>
                <a:cs typeface="Arial"/>
              </a:rPr>
              <a:t>atoms</a:t>
            </a:r>
            <a:r>
              <a:rPr sz="950" b="1" spc="45" dirty="0">
                <a:solidFill>
                  <a:srgbClr val="4A0D4E"/>
                </a:solidFill>
                <a:latin typeface="Arial"/>
                <a:cs typeface="Arial"/>
              </a:rPr>
              <a:t> </a:t>
            </a:r>
            <a:r>
              <a:rPr sz="950" dirty="0">
                <a:solidFill>
                  <a:srgbClr val="1B2433"/>
                </a:solidFill>
                <a:latin typeface="Arial"/>
                <a:cs typeface="Arial"/>
              </a:rPr>
              <a:t>(3:1</a:t>
            </a:r>
            <a:r>
              <a:rPr sz="950" spc="45" dirty="0">
                <a:solidFill>
                  <a:srgbClr val="1B2433"/>
                </a:solidFill>
                <a:latin typeface="Arial"/>
                <a:cs typeface="Arial"/>
              </a:rPr>
              <a:t> </a:t>
            </a:r>
            <a:r>
              <a:rPr sz="950" dirty="0">
                <a:solidFill>
                  <a:srgbClr val="1B2433"/>
                </a:solidFill>
                <a:latin typeface="Arial"/>
                <a:cs typeface="Arial"/>
              </a:rPr>
              <a:t>exact</a:t>
            </a:r>
            <a:r>
              <a:rPr sz="950" spc="45" dirty="0">
                <a:solidFill>
                  <a:srgbClr val="1B2433"/>
                </a:solidFill>
                <a:latin typeface="Arial"/>
                <a:cs typeface="Arial"/>
              </a:rPr>
              <a:t> </a:t>
            </a:r>
            <a:r>
              <a:rPr sz="950" spc="-10" dirty="0">
                <a:solidFill>
                  <a:srgbClr val="1B2433"/>
                </a:solidFill>
                <a:latin typeface="Arial"/>
                <a:cs typeface="Arial"/>
              </a:rPr>
              <a:t>ratio)</a:t>
            </a:r>
            <a:endParaRPr sz="950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365"/>
              </a:spcBef>
            </a:pPr>
            <a:endParaRPr sz="950">
              <a:latin typeface="Arial"/>
              <a:cs typeface="Arial"/>
            </a:endParaRPr>
          </a:p>
          <a:p>
            <a:pPr marL="25400">
              <a:lnSpc>
                <a:spcPct val="100000"/>
              </a:lnSpc>
              <a:spcBef>
                <a:spcPts val="5"/>
              </a:spcBef>
            </a:pPr>
            <a:r>
              <a:rPr sz="950" dirty="0">
                <a:solidFill>
                  <a:srgbClr val="1B2433"/>
                </a:solidFill>
                <a:latin typeface="Arial"/>
                <a:cs typeface="Arial"/>
              </a:rPr>
              <a:t>1.6904</a:t>
            </a:r>
            <a:r>
              <a:rPr sz="950" spc="45" dirty="0">
                <a:solidFill>
                  <a:srgbClr val="1B2433"/>
                </a:solidFill>
                <a:latin typeface="Arial"/>
                <a:cs typeface="Arial"/>
              </a:rPr>
              <a:t> </a:t>
            </a:r>
            <a:r>
              <a:rPr sz="950" dirty="0">
                <a:solidFill>
                  <a:srgbClr val="1B2433"/>
                </a:solidFill>
                <a:latin typeface="Arial"/>
                <a:cs typeface="Arial"/>
              </a:rPr>
              <a:t>×</a:t>
            </a:r>
            <a:r>
              <a:rPr sz="950" spc="45" dirty="0">
                <a:solidFill>
                  <a:srgbClr val="1B2433"/>
                </a:solidFill>
                <a:latin typeface="Arial"/>
                <a:cs typeface="Arial"/>
              </a:rPr>
              <a:t> </a:t>
            </a:r>
            <a:r>
              <a:rPr sz="950" dirty="0">
                <a:solidFill>
                  <a:srgbClr val="1B2433"/>
                </a:solidFill>
                <a:latin typeface="Arial"/>
                <a:cs typeface="Arial"/>
              </a:rPr>
              <a:t>10</a:t>
            </a:r>
            <a:r>
              <a:rPr sz="1200" baseline="27777" dirty="0">
                <a:solidFill>
                  <a:srgbClr val="1B2433"/>
                </a:solidFill>
                <a:latin typeface="Arial"/>
                <a:cs typeface="Arial"/>
              </a:rPr>
              <a:t>21</a:t>
            </a:r>
            <a:r>
              <a:rPr sz="1200" spc="135" baseline="27777" dirty="0">
                <a:solidFill>
                  <a:srgbClr val="1B2433"/>
                </a:solidFill>
                <a:latin typeface="Arial"/>
                <a:cs typeface="Arial"/>
              </a:rPr>
              <a:t> </a:t>
            </a:r>
            <a:r>
              <a:rPr sz="950" dirty="0">
                <a:solidFill>
                  <a:srgbClr val="1B2433"/>
                </a:solidFill>
                <a:latin typeface="Arial"/>
                <a:cs typeface="Arial"/>
              </a:rPr>
              <a:t>units</a:t>
            </a:r>
            <a:r>
              <a:rPr sz="950" spc="45" dirty="0">
                <a:solidFill>
                  <a:srgbClr val="1B2433"/>
                </a:solidFill>
                <a:latin typeface="Arial"/>
                <a:cs typeface="Arial"/>
              </a:rPr>
              <a:t> </a:t>
            </a:r>
            <a:r>
              <a:rPr sz="950" spc="-50" dirty="0">
                <a:solidFill>
                  <a:srgbClr val="1B2433"/>
                </a:solidFill>
                <a:latin typeface="Arial"/>
                <a:cs typeface="Arial"/>
              </a:rPr>
              <a:t>×</a:t>
            </a:r>
            <a:endParaRPr sz="950">
              <a:latin typeface="Arial"/>
              <a:cs typeface="Arial"/>
            </a:endParaRPr>
          </a:p>
        </p:txBody>
      </p:sp>
      <p:grpSp>
        <p:nvGrpSpPr>
          <p:cNvPr id="85" name="object 85"/>
          <p:cNvGrpSpPr/>
          <p:nvPr/>
        </p:nvGrpSpPr>
        <p:grpSpPr>
          <a:xfrm>
            <a:off x="9020174" y="7210424"/>
            <a:ext cx="628650" cy="123825"/>
            <a:chOff x="9020174" y="7210424"/>
            <a:chExt cx="628650" cy="123825"/>
          </a:xfrm>
        </p:grpSpPr>
        <p:sp>
          <p:nvSpPr>
            <p:cNvPr id="86" name="object 86"/>
            <p:cNvSpPr/>
            <p:nvPr/>
          </p:nvSpPr>
          <p:spPr>
            <a:xfrm>
              <a:off x="9020174" y="7210424"/>
              <a:ext cx="628650" cy="9525"/>
            </a:xfrm>
            <a:custGeom>
              <a:avLst/>
              <a:gdLst/>
              <a:ahLst/>
              <a:cxnLst/>
              <a:rect l="l" t="t" r="r" b="b"/>
              <a:pathLst>
                <a:path w="628650" h="9525">
                  <a:moveTo>
                    <a:pt x="628649" y="9524"/>
                  </a:moveTo>
                  <a:lnTo>
                    <a:pt x="0" y="9524"/>
                  </a:lnTo>
                  <a:lnTo>
                    <a:pt x="0" y="0"/>
                  </a:lnTo>
                  <a:lnTo>
                    <a:pt x="628649" y="0"/>
                  </a:lnTo>
                  <a:lnTo>
                    <a:pt x="628649" y="9524"/>
                  </a:lnTo>
                  <a:close/>
                </a:path>
              </a:pathLst>
            </a:custGeom>
            <a:solidFill>
              <a:srgbClr val="1B2433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87" name="object 87"/>
            <p:cNvSpPr/>
            <p:nvPr/>
          </p:nvSpPr>
          <p:spPr>
            <a:xfrm>
              <a:off x="9286278" y="7315199"/>
              <a:ext cx="200025" cy="19050"/>
            </a:xfrm>
            <a:custGeom>
              <a:avLst/>
              <a:gdLst/>
              <a:ahLst/>
              <a:cxnLst/>
              <a:rect l="l" t="t" r="r" b="b"/>
              <a:pathLst>
                <a:path w="200025" h="19050">
                  <a:moveTo>
                    <a:pt x="199727" y="19049"/>
                  </a:moveTo>
                  <a:lnTo>
                    <a:pt x="0" y="19049"/>
                  </a:lnTo>
                  <a:lnTo>
                    <a:pt x="0" y="0"/>
                  </a:lnTo>
                  <a:lnTo>
                    <a:pt x="199727" y="0"/>
                  </a:lnTo>
                  <a:lnTo>
                    <a:pt x="199727" y="19049"/>
                  </a:lnTo>
                  <a:close/>
                </a:path>
              </a:pathLst>
            </a:custGeom>
            <a:solidFill>
              <a:srgbClr val="D32E2E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88" name="object 88"/>
          <p:cNvSpPr txBox="1"/>
          <p:nvPr/>
        </p:nvSpPr>
        <p:spPr>
          <a:xfrm>
            <a:off x="9023498" y="7007225"/>
            <a:ext cx="3022600" cy="393065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R="2392045" algn="ctr">
              <a:lnSpc>
                <a:spcPts val="1010"/>
              </a:lnSpc>
              <a:spcBef>
                <a:spcPts val="125"/>
              </a:spcBef>
            </a:pPr>
            <a:r>
              <a:rPr sz="950" dirty="0">
                <a:solidFill>
                  <a:srgbClr val="1B2433"/>
                </a:solidFill>
                <a:latin typeface="Arial"/>
                <a:cs typeface="Arial"/>
              </a:rPr>
              <a:t>3</a:t>
            </a:r>
            <a:r>
              <a:rPr sz="950" spc="20" dirty="0">
                <a:solidFill>
                  <a:srgbClr val="1B2433"/>
                </a:solidFill>
                <a:latin typeface="Arial"/>
                <a:cs typeface="Arial"/>
              </a:rPr>
              <a:t> </a:t>
            </a:r>
            <a:r>
              <a:rPr sz="950" dirty="0">
                <a:solidFill>
                  <a:srgbClr val="1B2433"/>
                </a:solidFill>
                <a:latin typeface="Arial"/>
                <a:cs typeface="Arial"/>
              </a:rPr>
              <a:t>O</a:t>
            </a:r>
            <a:r>
              <a:rPr sz="950" spc="20" dirty="0">
                <a:solidFill>
                  <a:srgbClr val="1B2433"/>
                </a:solidFill>
                <a:latin typeface="Arial"/>
                <a:cs typeface="Arial"/>
              </a:rPr>
              <a:t> </a:t>
            </a:r>
            <a:r>
              <a:rPr sz="950" spc="-10" dirty="0">
                <a:solidFill>
                  <a:srgbClr val="1B2433"/>
                </a:solidFill>
                <a:latin typeface="Arial"/>
                <a:cs typeface="Arial"/>
              </a:rPr>
              <a:t>atoms</a:t>
            </a:r>
            <a:endParaRPr sz="950">
              <a:latin typeface="Arial"/>
              <a:cs typeface="Arial"/>
            </a:endParaRPr>
          </a:p>
          <a:p>
            <a:pPr marL="678180">
              <a:lnSpc>
                <a:spcPts val="865"/>
              </a:lnSpc>
            </a:pPr>
            <a:r>
              <a:rPr sz="950" dirty="0">
                <a:solidFill>
                  <a:srgbClr val="1B2433"/>
                </a:solidFill>
                <a:latin typeface="Arial"/>
                <a:cs typeface="Arial"/>
              </a:rPr>
              <a:t>=</a:t>
            </a:r>
            <a:r>
              <a:rPr sz="950" spc="35" dirty="0">
                <a:solidFill>
                  <a:srgbClr val="1B2433"/>
                </a:solidFill>
                <a:latin typeface="Arial"/>
                <a:cs typeface="Arial"/>
              </a:rPr>
              <a:t> </a:t>
            </a:r>
            <a:r>
              <a:rPr sz="1425" baseline="2923" dirty="0">
                <a:solidFill>
                  <a:srgbClr val="596474"/>
                </a:solidFill>
                <a:latin typeface="Arial"/>
                <a:cs typeface="Arial"/>
              </a:rPr>
              <a:t>5.0713</a:t>
            </a:r>
            <a:r>
              <a:rPr sz="1425" spc="60" baseline="2923" dirty="0">
                <a:solidFill>
                  <a:srgbClr val="596474"/>
                </a:solidFill>
                <a:latin typeface="Arial"/>
                <a:cs typeface="Arial"/>
              </a:rPr>
              <a:t> </a:t>
            </a:r>
            <a:r>
              <a:rPr sz="1425" baseline="2923" dirty="0">
                <a:solidFill>
                  <a:srgbClr val="596474"/>
                </a:solidFill>
                <a:latin typeface="Arial"/>
                <a:cs typeface="Arial"/>
              </a:rPr>
              <a:t>×</a:t>
            </a:r>
            <a:r>
              <a:rPr sz="1425" spc="52" baseline="2923" dirty="0">
                <a:solidFill>
                  <a:srgbClr val="596474"/>
                </a:solidFill>
                <a:latin typeface="Arial"/>
                <a:cs typeface="Arial"/>
              </a:rPr>
              <a:t> </a:t>
            </a:r>
            <a:r>
              <a:rPr sz="1425" baseline="2923" dirty="0">
                <a:solidFill>
                  <a:srgbClr val="596474"/>
                </a:solidFill>
                <a:latin typeface="Arial"/>
                <a:cs typeface="Arial"/>
              </a:rPr>
              <a:t>10</a:t>
            </a:r>
            <a:r>
              <a:rPr sz="1200" baseline="31250" dirty="0">
                <a:solidFill>
                  <a:srgbClr val="596474"/>
                </a:solidFill>
                <a:latin typeface="Arial"/>
                <a:cs typeface="Arial"/>
              </a:rPr>
              <a:t>21</a:t>
            </a:r>
            <a:r>
              <a:rPr sz="1200" spc="120" baseline="31250" dirty="0">
                <a:solidFill>
                  <a:srgbClr val="596474"/>
                </a:solidFill>
                <a:latin typeface="Arial"/>
                <a:cs typeface="Arial"/>
              </a:rPr>
              <a:t> </a:t>
            </a:r>
            <a:r>
              <a:rPr sz="950" dirty="0">
                <a:solidFill>
                  <a:srgbClr val="1B2433"/>
                </a:solidFill>
                <a:latin typeface="Arial"/>
                <a:cs typeface="Arial"/>
              </a:rPr>
              <a:t>→</a:t>
            </a:r>
            <a:r>
              <a:rPr sz="950" spc="35" dirty="0">
                <a:solidFill>
                  <a:srgbClr val="1B2433"/>
                </a:solidFill>
                <a:latin typeface="Arial"/>
                <a:cs typeface="Arial"/>
              </a:rPr>
              <a:t> </a:t>
            </a:r>
            <a:r>
              <a:rPr sz="1425" b="1" baseline="2923" dirty="0">
                <a:solidFill>
                  <a:srgbClr val="D32E2E"/>
                </a:solidFill>
                <a:latin typeface="Arial"/>
                <a:cs typeface="Arial"/>
              </a:rPr>
              <a:t>5.071</a:t>
            </a:r>
            <a:r>
              <a:rPr sz="1425" b="1" spc="60" baseline="2923" dirty="0">
                <a:solidFill>
                  <a:srgbClr val="D32E2E"/>
                </a:solidFill>
                <a:latin typeface="Arial"/>
                <a:cs typeface="Arial"/>
              </a:rPr>
              <a:t> </a:t>
            </a:r>
            <a:r>
              <a:rPr sz="1425" b="1" baseline="2923" dirty="0">
                <a:solidFill>
                  <a:srgbClr val="D32E2E"/>
                </a:solidFill>
                <a:latin typeface="Arial"/>
                <a:cs typeface="Arial"/>
              </a:rPr>
              <a:t>×</a:t>
            </a:r>
            <a:r>
              <a:rPr sz="1425" b="1" spc="52" baseline="2923" dirty="0">
                <a:solidFill>
                  <a:srgbClr val="D32E2E"/>
                </a:solidFill>
                <a:latin typeface="Arial"/>
                <a:cs typeface="Arial"/>
              </a:rPr>
              <a:t> </a:t>
            </a:r>
            <a:r>
              <a:rPr sz="1425" b="1" baseline="2923" dirty="0">
                <a:solidFill>
                  <a:srgbClr val="D32E2E"/>
                </a:solidFill>
                <a:latin typeface="Arial"/>
                <a:cs typeface="Arial"/>
              </a:rPr>
              <a:t>10</a:t>
            </a:r>
            <a:r>
              <a:rPr sz="1200" b="1" baseline="31250" dirty="0">
                <a:solidFill>
                  <a:srgbClr val="D32E2E"/>
                </a:solidFill>
                <a:latin typeface="Arial"/>
                <a:cs typeface="Arial"/>
              </a:rPr>
              <a:t>21</a:t>
            </a:r>
            <a:r>
              <a:rPr sz="1200" b="1" spc="120" baseline="31250" dirty="0">
                <a:solidFill>
                  <a:srgbClr val="D32E2E"/>
                </a:solidFill>
                <a:latin typeface="Arial"/>
                <a:cs typeface="Arial"/>
              </a:rPr>
              <a:t> </a:t>
            </a:r>
            <a:r>
              <a:rPr sz="1425" b="1" baseline="2923" dirty="0">
                <a:solidFill>
                  <a:srgbClr val="D32E2E"/>
                </a:solidFill>
                <a:latin typeface="Arial"/>
                <a:cs typeface="Arial"/>
              </a:rPr>
              <a:t>O</a:t>
            </a:r>
            <a:r>
              <a:rPr sz="1425" b="1" spc="52" baseline="2923" dirty="0">
                <a:solidFill>
                  <a:srgbClr val="D32E2E"/>
                </a:solidFill>
                <a:latin typeface="Arial"/>
                <a:cs typeface="Arial"/>
              </a:rPr>
              <a:t> </a:t>
            </a:r>
            <a:r>
              <a:rPr sz="1425" b="1" spc="-15" baseline="2923" dirty="0">
                <a:solidFill>
                  <a:srgbClr val="D32E2E"/>
                </a:solidFill>
                <a:latin typeface="Arial"/>
                <a:cs typeface="Arial"/>
              </a:rPr>
              <a:t>atoms</a:t>
            </a:r>
            <a:endParaRPr sz="1425" baseline="2923">
              <a:latin typeface="Arial"/>
              <a:cs typeface="Arial"/>
            </a:endParaRPr>
          </a:p>
          <a:p>
            <a:pPr marR="2392045" algn="ctr">
              <a:lnSpc>
                <a:spcPts val="994"/>
              </a:lnSpc>
            </a:pPr>
            <a:r>
              <a:rPr sz="950" dirty="0">
                <a:solidFill>
                  <a:srgbClr val="1B2433"/>
                </a:solidFill>
                <a:latin typeface="Arial"/>
                <a:cs typeface="Arial"/>
              </a:rPr>
              <a:t>1</a:t>
            </a:r>
            <a:r>
              <a:rPr sz="950" spc="20" dirty="0">
                <a:solidFill>
                  <a:srgbClr val="1B2433"/>
                </a:solidFill>
                <a:latin typeface="Arial"/>
                <a:cs typeface="Arial"/>
              </a:rPr>
              <a:t> </a:t>
            </a:r>
            <a:r>
              <a:rPr sz="950" spc="-20" dirty="0">
                <a:solidFill>
                  <a:srgbClr val="1B2433"/>
                </a:solidFill>
                <a:latin typeface="Arial"/>
                <a:cs typeface="Arial"/>
              </a:rPr>
              <a:t>unit</a:t>
            </a:r>
            <a:endParaRPr sz="950">
              <a:latin typeface="Arial"/>
              <a:cs typeface="Arial"/>
            </a:endParaRPr>
          </a:p>
        </p:txBody>
      </p:sp>
      <p:pic>
        <p:nvPicPr>
          <p:cNvPr id="52" name="object 52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390524" y="7305674"/>
            <a:ext cx="190500" cy="190499"/>
          </a:xfrm>
          <a:prstGeom prst="rect">
            <a:avLst/>
          </a:prstGeom>
        </p:spPr>
      </p:pic>
      <p:sp>
        <p:nvSpPr>
          <p:cNvPr id="53" name="object 53"/>
          <p:cNvSpPr txBox="1"/>
          <p:nvPr/>
        </p:nvSpPr>
        <p:spPr>
          <a:xfrm>
            <a:off x="428525" y="7302500"/>
            <a:ext cx="2135505" cy="173990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25400">
              <a:lnSpc>
                <a:spcPct val="100000"/>
              </a:lnSpc>
              <a:spcBef>
                <a:spcPts val="125"/>
              </a:spcBef>
            </a:pPr>
            <a:r>
              <a:rPr sz="900" b="1" dirty="0">
                <a:solidFill>
                  <a:srgbClr val="FFFFFF"/>
                </a:solidFill>
                <a:latin typeface="Arial"/>
                <a:cs typeface="Arial"/>
              </a:rPr>
              <a:t>2</a:t>
            </a:r>
            <a:r>
              <a:rPr sz="900" b="1" spc="280" dirty="0">
                <a:solidFill>
                  <a:srgbClr val="FFFFFF"/>
                </a:solidFill>
                <a:latin typeface="Arial"/>
                <a:cs typeface="Arial"/>
              </a:rPr>
              <a:t>  </a:t>
            </a:r>
            <a:r>
              <a:rPr sz="950" b="1" dirty="0">
                <a:solidFill>
                  <a:srgbClr val="4A0D4E"/>
                </a:solidFill>
                <a:latin typeface="Arial"/>
                <a:cs typeface="Arial"/>
              </a:rPr>
              <a:t>Label</a:t>
            </a:r>
            <a:r>
              <a:rPr sz="950" b="1" spc="35" dirty="0">
                <a:solidFill>
                  <a:srgbClr val="4A0D4E"/>
                </a:solidFill>
                <a:latin typeface="Arial"/>
                <a:cs typeface="Arial"/>
              </a:rPr>
              <a:t> </a:t>
            </a:r>
            <a:r>
              <a:rPr sz="950" b="1" dirty="0">
                <a:solidFill>
                  <a:srgbClr val="4A0D4E"/>
                </a:solidFill>
                <a:latin typeface="Arial"/>
                <a:cs typeface="Arial"/>
              </a:rPr>
              <a:t>bridge</a:t>
            </a:r>
            <a:r>
              <a:rPr sz="950" b="1" spc="35" dirty="0">
                <a:solidFill>
                  <a:srgbClr val="4A0D4E"/>
                </a:solidFill>
                <a:latin typeface="Arial"/>
                <a:cs typeface="Arial"/>
              </a:rPr>
              <a:t> </a:t>
            </a:r>
            <a:r>
              <a:rPr sz="950" dirty="0">
                <a:solidFill>
                  <a:srgbClr val="1B2433"/>
                </a:solidFill>
                <a:latin typeface="Arial"/>
                <a:cs typeface="Arial"/>
              </a:rPr>
              <a:t>(all</a:t>
            </a:r>
            <a:r>
              <a:rPr sz="950" spc="35" dirty="0">
                <a:solidFill>
                  <a:srgbClr val="1B2433"/>
                </a:solidFill>
                <a:latin typeface="Arial"/>
                <a:cs typeface="Arial"/>
              </a:rPr>
              <a:t> </a:t>
            </a:r>
            <a:r>
              <a:rPr sz="950" dirty="0">
                <a:solidFill>
                  <a:srgbClr val="1B2433"/>
                </a:solidFill>
                <a:latin typeface="Arial"/>
                <a:cs typeface="Arial"/>
              </a:rPr>
              <a:t>Ca</a:t>
            </a:r>
            <a:r>
              <a:rPr sz="950" spc="40" dirty="0">
                <a:solidFill>
                  <a:srgbClr val="1B2433"/>
                </a:solidFill>
                <a:latin typeface="Arial"/>
                <a:cs typeface="Arial"/>
              </a:rPr>
              <a:t> </a:t>
            </a:r>
            <a:r>
              <a:rPr sz="950" dirty="0">
                <a:solidFill>
                  <a:srgbClr val="1B2433"/>
                </a:solidFill>
                <a:latin typeface="Arial"/>
                <a:cs typeface="Arial"/>
              </a:rPr>
              <a:t>from</a:t>
            </a:r>
            <a:r>
              <a:rPr sz="950" spc="35" dirty="0">
                <a:solidFill>
                  <a:srgbClr val="1B2433"/>
                </a:solidFill>
                <a:latin typeface="Arial"/>
                <a:cs typeface="Arial"/>
              </a:rPr>
              <a:t> </a:t>
            </a:r>
            <a:r>
              <a:rPr sz="950" spc="-10" dirty="0">
                <a:solidFill>
                  <a:srgbClr val="1B2433"/>
                </a:solidFill>
                <a:latin typeface="Arial"/>
                <a:cs typeface="Arial"/>
              </a:rPr>
              <a:t>CaCO</a:t>
            </a:r>
            <a:r>
              <a:rPr sz="1200" spc="-15" baseline="-17361" dirty="0">
                <a:solidFill>
                  <a:srgbClr val="1B2433"/>
                </a:solidFill>
                <a:latin typeface="Arial"/>
                <a:cs typeface="Arial"/>
              </a:rPr>
              <a:t>3</a:t>
            </a:r>
            <a:r>
              <a:rPr sz="950" spc="-10" dirty="0">
                <a:solidFill>
                  <a:srgbClr val="1B2433"/>
                </a:solidFill>
                <a:latin typeface="Arial"/>
                <a:cs typeface="Arial"/>
              </a:rPr>
              <a:t>)</a:t>
            </a:r>
            <a:endParaRPr sz="950">
              <a:latin typeface="Arial"/>
              <a:cs typeface="Arial"/>
            </a:endParaRPr>
          </a:p>
        </p:txBody>
      </p:sp>
      <p:sp>
        <p:nvSpPr>
          <p:cNvPr id="54" name="object 54"/>
          <p:cNvSpPr/>
          <p:nvPr/>
        </p:nvSpPr>
        <p:spPr>
          <a:xfrm>
            <a:off x="725685" y="7753349"/>
            <a:ext cx="172085" cy="19050"/>
          </a:xfrm>
          <a:custGeom>
            <a:avLst/>
            <a:gdLst/>
            <a:ahLst/>
            <a:cxnLst/>
            <a:rect l="l" t="t" r="r" b="b"/>
            <a:pathLst>
              <a:path w="172084" h="19050">
                <a:moveTo>
                  <a:pt x="172045" y="19049"/>
                </a:moveTo>
                <a:lnTo>
                  <a:pt x="0" y="19049"/>
                </a:lnTo>
                <a:lnTo>
                  <a:pt x="0" y="0"/>
                </a:lnTo>
                <a:lnTo>
                  <a:pt x="172045" y="0"/>
                </a:lnTo>
                <a:lnTo>
                  <a:pt x="172045" y="19049"/>
                </a:lnTo>
                <a:close/>
              </a:path>
            </a:pathLst>
          </a:custGeom>
          <a:solidFill>
            <a:srgbClr val="D32E2E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5" name="object 55"/>
          <p:cNvSpPr txBox="1"/>
          <p:nvPr/>
        </p:nvSpPr>
        <p:spPr>
          <a:xfrm>
            <a:off x="390524" y="7660431"/>
            <a:ext cx="819785" cy="173990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125"/>
              </a:spcBef>
            </a:pPr>
            <a:r>
              <a:rPr sz="950" dirty="0">
                <a:solidFill>
                  <a:srgbClr val="1B2433"/>
                </a:solidFill>
                <a:latin typeface="Arial"/>
                <a:cs typeface="Arial"/>
              </a:rPr>
              <a:t>112.5</a:t>
            </a:r>
            <a:r>
              <a:rPr sz="950" spc="20" dirty="0">
                <a:solidFill>
                  <a:srgbClr val="1B2433"/>
                </a:solidFill>
                <a:latin typeface="Arial"/>
                <a:cs typeface="Arial"/>
              </a:rPr>
              <a:t> </a:t>
            </a:r>
            <a:r>
              <a:rPr sz="950" dirty="0">
                <a:solidFill>
                  <a:srgbClr val="1B2433"/>
                </a:solidFill>
                <a:latin typeface="Arial"/>
                <a:cs typeface="Arial"/>
              </a:rPr>
              <a:t>mg</a:t>
            </a:r>
            <a:r>
              <a:rPr sz="950" spc="25" dirty="0">
                <a:solidFill>
                  <a:srgbClr val="1B2433"/>
                </a:solidFill>
                <a:latin typeface="Arial"/>
                <a:cs typeface="Arial"/>
              </a:rPr>
              <a:t> </a:t>
            </a:r>
            <a:r>
              <a:rPr sz="950" dirty="0">
                <a:solidFill>
                  <a:srgbClr val="1B2433"/>
                </a:solidFill>
                <a:latin typeface="Arial"/>
                <a:cs typeface="Arial"/>
              </a:rPr>
              <a:t>Ca</a:t>
            </a:r>
            <a:r>
              <a:rPr sz="950" spc="25" dirty="0">
                <a:solidFill>
                  <a:srgbClr val="1B2433"/>
                </a:solidFill>
                <a:latin typeface="Arial"/>
                <a:cs typeface="Arial"/>
              </a:rPr>
              <a:t> </a:t>
            </a:r>
            <a:r>
              <a:rPr sz="950" spc="-50" dirty="0">
                <a:solidFill>
                  <a:srgbClr val="1B2433"/>
                </a:solidFill>
                <a:latin typeface="Arial"/>
                <a:cs typeface="Arial"/>
              </a:rPr>
              <a:t>×</a:t>
            </a:r>
            <a:endParaRPr sz="950">
              <a:latin typeface="Arial"/>
              <a:cs typeface="Arial"/>
            </a:endParaRPr>
          </a:p>
        </p:txBody>
      </p:sp>
      <p:grpSp>
        <p:nvGrpSpPr>
          <p:cNvPr id="56" name="object 56"/>
          <p:cNvGrpSpPr/>
          <p:nvPr/>
        </p:nvGrpSpPr>
        <p:grpSpPr>
          <a:xfrm>
            <a:off x="1247774" y="7639049"/>
            <a:ext cx="542925" cy="133350"/>
            <a:chOff x="1247774" y="7639049"/>
            <a:chExt cx="542925" cy="133350"/>
          </a:xfrm>
        </p:grpSpPr>
        <p:sp>
          <p:nvSpPr>
            <p:cNvPr id="57" name="object 57"/>
            <p:cNvSpPr/>
            <p:nvPr/>
          </p:nvSpPr>
          <p:spPr>
            <a:xfrm>
              <a:off x="1247774" y="7762874"/>
              <a:ext cx="542925" cy="9525"/>
            </a:xfrm>
            <a:custGeom>
              <a:avLst/>
              <a:gdLst/>
              <a:ahLst/>
              <a:cxnLst/>
              <a:rect l="l" t="t" r="r" b="b"/>
              <a:pathLst>
                <a:path w="542925" h="9525">
                  <a:moveTo>
                    <a:pt x="542924" y="9524"/>
                  </a:moveTo>
                  <a:lnTo>
                    <a:pt x="0" y="9524"/>
                  </a:lnTo>
                  <a:lnTo>
                    <a:pt x="0" y="0"/>
                  </a:lnTo>
                  <a:lnTo>
                    <a:pt x="542924" y="0"/>
                  </a:lnTo>
                  <a:lnTo>
                    <a:pt x="542924" y="9524"/>
                  </a:lnTo>
                  <a:close/>
                </a:path>
              </a:pathLst>
            </a:custGeom>
            <a:solidFill>
              <a:srgbClr val="1B2433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8" name="object 58"/>
            <p:cNvSpPr/>
            <p:nvPr/>
          </p:nvSpPr>
          <p:spPr>
            <a:xfrm>
              <a:off x="1537394" y="7639049"/>
              <a:ext cx="69215" cy="19050"/>
            </a:xfrm>
            <a:custGeom>
              <a:avLst/>
              <a:gdLst/>
              <a:ahLst/>
              <a:cxnLst/>
              <a:rect l="l" t="t" r="r" b="b"/>
              <a:pathLst>
                <a:path w="69215" h="19050">
                  <a:moveTo>
                    <a:pt x="68907" y="19049"/>
                  </a:moveTo>
                  <a:lnTo>
                    <a:pt x="0" y="19049"/>
                  </a:lnTo>
                  <a:lnTo>
                    <a:pt x="0" y="0"/>
                  </a:lnTo>
                  <a:lnTo>
                    <a:pt x="68907" y="0"/>
                  </a:lnTo>
                  <a:lnTo>
                    <a:pt x="68907" y="19049"/>
                  </a:lnTo>
                  <a:close/>
                </a:path>
              </a:pathLst>
            </a:custGeom>
            <a:solidFill>
              <a:srgbClr val="D32E2E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59" name="object 59"/>
          <p:cNvSpPr txBox="1"/>
          <p:nvPr/>
        </p:nvSpPr>
        <p:spPr>
          <a:xfrm>
            <a:off x="1279177" y="7470140"/>
            <a:ext cx="495300" cy="482600"/>
          </a:xfrm>
          <a:prstGeom prst="rect">
            <a:avLst/>
          </a:prstGeom>
        </p:spPr>
        <p:txBody>
          <a:bodyPr vert="horz" wrap="square" lIns="0" tIns="95885" rIns="0" bIns="0" rtlCol="0">
            <a:spAutoFit/>
          </a:bodyPr>
          <a:lstStyle/>
          <a:p>
            <a:pPr marR="5080" algn="ctr">
              <a:lnSpc>
                <a:spcPct val="100000"/>
              </a:lnSpc>
              <a:spcBef>
                <a:spcPts val="755"/>
              </a:spcBef>
            </a:pPr>
            <a:r>
              <a:rPr sz="950" dirty="0">
                <a:solidFill>
                  <a:srgbClr val="1B2433"/>
                </a:solidFill>
                <a:latin typeface="Arial"/>
                <a:cs typeface="Arial"/>
              </a:rPr>
              <a:t>1</a:t>
            </a:r>
            <a:r>
              <a:rPr sz="950" spc="20" dirty="0">
                <a:solidFill>
                  <a:srgbClr val="1B2433"/>
                </a:solidFill>
                <a:latin typeface="Arial"/>
                <a:cs typeface="Arial"/>
              </a:rPr>
              <a:t> </a:t>
            </a:r>
            <a:r>
              <a:rPr sz="950" spc="-50" dirty="0">
                <a:solidFill>
                  <a:srgbClr val="1B2433"/>
                </a:solidFill>
                <a:latin typeface="Arial"/>
                <a:cs typeface="Arial"/>
              </a:rPr>
              <a:t>g</a:t>
            </a:r>
            <a:endParaRPr sz="950">
              <a:latin typeface="Arial"/>
              <a:cs typeface="Arial"/>
            </a:endParaRPr>
          </a:p>
          <a:p>
            <a:pPr marR="5080" algn="ctr">
              <a:lnSpc>
                <a:spcPct val="100000"/>
              </a:lnSpc>
              <a:spcBef>
                <a:spcPts val="660"/>
              </a:spcBef>
            </a:pPr>
            <a:r>
              <a:rPr sz="950" dirty="0">
                <a:solidFill>
                  <a:srgbClr val="1B2433"/>
                </a:solidFill>
                <a:latin typeface="Arial"/>
                <a:cs typeface="Arial"/>
              </a:rPr>
              <a:t>1000</a:t>
            </a:r>
            <a:r>
              <a:rPr sz="950" spc="65" dirty="0">
                <a:solidFill>
                  <a:srgbClr val="1B2433"/>
                </a:solidFill>
                <a:latin typeface="Arial"/>
                <a:cs typeface="Arial"/>
              </a:rPr>
              <a:t> </a:t>
            </a:r>
            <a:r>
              <a:rPr sz="950" spc="-25" dirty="0">
                <a:solidFill>
                  <a:srgbClr val="1B2433"/>
                </a:solidFill>
                <a:latin typeface="Arial"/>
                <a:cs typeface="Arial"/>
              </a:rPr>
              <a:t>mg</a:t>
            </a:r>
            <a:endParaRPr sz="950">
              <a:latin typeface="Arial"/>
              <a:cs typeface="Arial"/>
            </a:endParaRPr>
          </a:p>
        </p:txBody>
      </p:sp>
      <p:grpSp>
        <p:nvGrpSpPr>
          <p:cNvPr id="60" name="object 60"/>
          <p:cNvGrpSpPr/>
          <p:nvPr/>
        </p:nvGrpSpPr>
        <p:grpSpPr>
          <a:xfrm>
            <a:off x="1589186" y="7762874"/>
            <a:ext cx="1421130" cy="123825"/>
            <a:chOff x="1589186" y="7762874"/>
            <a:chExt cx="1421130" cy="123825"/>
          </a:xfrm>
        </p:grpSpPr>
        <p:sp>
          <p:nvSpPr>
            <p:cNvPr id="61" name="object 61"/>
            <p:cNvSpPr/>
            <p:nvPr/>
          </p:nvSpPr>
          <p:spPr>
            <a:xfrm>
              <a:off x="1589186" y="7867649"/>
              <a:ext cx="172085" cy="19050"/>
            </a:xfrm>
            <a:custGeom>
              <a:avLst/>
              <a:gdLst/>
              <a:ahLst/>
              <a:cxnLst/>
              <a:rect l="l" t="t" r="r" b="b"/>
              <a:pathLst>
                <a:path w="172085" h="19050">
                  <a:moveTo>
                    <a:pt x="172045" y="19049"/>
                  </a:moveTo>
                  <a:lnTo>
                    <a:pt x="0" y="19049"/>
                  </a:lnTo>
                  <a:lnTo>
                    <a:pt x="0" y="0"/>
                  </a:lnTo>
                  <a:lnTo>
                    <a:pt x="172045" y="0"/>
                  </a:lnTo>
                  <a:lnTo>
                    <a:pt x="172045" y="19049"/>
                  </a:lnTo>
                  <a:close/>
                </a:path>
              </a:pathLst>
            </a:custGeom>
            <a:solidFill>
              <a:srgbClr val="D32E2E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2" name="object 62"/>
            <p:cNvSpPr/>
            <p:nvPr/>
          </p:nvSpPr>
          <p:spPr>
            <a:xfrm>
              <a:off x="1971674" y="7762874"/>
              <a:ext cx="1038225" cy="9525"/>
            </a:xfrm>
            <a:custGeom>
              <a:avLst/>
              <a:gdLst/>
              <a:ahLst/>
              <a:cxnLst/>
              <a:rect l="l" t="t" r="r" b="b"/>
              <a:pathLst>
                <a:path w="1038225" h="9525">
                  <a:moveTo>
                    <a:pt x="1038224" y="9524"/>
                  </a:moveTo>
                  <a:lnTo>
                    <a:pt x="0" y="9524"/>
                  </a:lnTo>
                  <a:lnTo>
                    <a:pt x="0" y="0"/>
                  </a:lnTo>
                  <a:lnTo>
                    <a:pt x="1038224" y="0"/>
                  </a:lnTo>
                  <a:lnTo>
                    <a:pt x="1038224" y="9524"/>
                  </a:lnTo>
                  <a:close/>
                </a:path>
              </a:pathLst>
            </a:custGeom>
            <a:solidFill>
              <a:srgbClr val="1B2433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3" name="object 63"/>
            <p:cNvSpPr/>
            <p:nvPr/>
          </p:nvSpPr>
          <p:spPr>
            <a:xfrm>
              <a:off x="2566838" y="7867649"/>
              <a:ext cx="69215" cy="19050"/>
            </a:xfrm>
            <a:custGeom>
              <a:avLst/>
              <a:gdLst/>
              <a:ahLst/>
              <a:cxnLst/>
              <a:rect l="l" t="t" r="r" b="b"/>
              <a:pathLst>
                <a:path w="69214" h="19050">
                  <a:moveTo>
                    <a:pt x="68907" y="19049"/>
                  </a:moveTo>
                  <a:lnTo>
                    <a:pt x="0" y="19049"/>
                  </a:lnTo>
                  <a:lnTo>
                    <a:pt x="0" y="0"/>
                  </a:lnTo>
                  <a:lnTo>
                    <a:pt x="68907" y="0"/>
                  </a:lnTo>
                  <a:lnTo>
                    <a:pt x="68907" y="19049"/>
                  </a:lnTo>
                  <a:close/>
                </a:path>
              </a:pathLst>
            </a:custGeom>
            <a:solidFill>
              <a:srgbClr val="D32E2E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64" name="object 64"/>
          <p:cNvSpPr txBox="1"/>
          <p:nvPr/>
        </p:nvSpPr>
        <p:spPr>
          <a:xfrm>
            <a:off x="1843259" y="7660431"/>
            <a:ext cx="85090" cy="173990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125"/>
              </a:spcBef>
            </a:pPr>
            <a:r>
              <a:rPr sz="950" spc="-50" dirty="0">
                <a:solidFill>
                  <a:srgbClr val="1B2433"/>
                </a:solidFill>
                <a:latin typeface="Arial"/>
                <a:cs typeface="Arial"/>
              </a:rPr>
              <a:t>×</a:t>
            </a:r>
            <a:endParaRPr sz="950">
              <a:latin typeface="Arial"/>
              <a:cs typeface="Arial"/>
            </a:endParaRPr>
          </a:p>
        </p:txBody>
      </p:sp>
      <p:sp>
        <p:nvSpPr>
          <p:cNvPr id="65" name="object 65"/>
          <p:cNvSpPr txBox="1"/>
          <p:nvPr/>
        </p:nvSpPr>
        <p:spPr>
          <a:xfrm>
            <a:off x="1972319" y="7540625"/>
            <a:ext cx="1050925" cy="412115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25400">
              <a:lnSpc>
                <a:spcPct val="100000"/>
              </a:lnSpc>
              <a:spcBef>
                <a:spcPts val="125"/>
              </a:spcBef>
            </a:pPr>
            <a:r>
              <a:rPr sz="950" dirty="0">
                <a:solidFill>
                  <a:srgbClr val="1B2433"/>
                </a:solidFill>
                <a:latin typeface="Arial"/>
                <a:cs typeface="Arial"/>
              </a:rPr>
              <a:t>100.086</a:t>
            </a:r>
            <a:r>
              <a:rPr sz="950" spc="60" dirty="0">
                <a:solidFill>
                  <a:srgbClr val="1B2433"/>
                </a:solidFill>
                <a:latin typeface="Arial"/>
                <a:cs typeface="Arial"/>
              </a:rPr>
              <a:t> </a:t>
            </a:r>
            <a:r>
              <a:rPr sz="950" dirty="0">
                <a:solidFill>
                  <a:srgbClr val="1B2433"/>
                </a:solidFill>
                <a:latin typeface="Arial"/>
                <a:cs typeface="Arial"/>
              </a:rPr>
              <a:t>g</a:t>
            </a:r>
            <a:r>
              <a:rPr sz="950" spc="65" dirty="0">
                <a:solidFill>
                  <a:srgbClr val="1B2433"/>
                </a:solidFill>
                <a:latin typeface="Arial"/>
                <a:cs typeface="Arial"/>
              </a:rPr>
              <a:t> </a:t>
            </a:r>
            <a:r>
              <a:rPr sz="950" spc="-10" dirty="0">
                <a:solidFill>
                  <a:srgbClr val="1B2433"/>
                </a:solidFill>
                <a:latin typeface="Arial"/>
                <a:cs typeface="Arial"/>
              </a:rPr>
              <a:t>CaCO</a:t>
            </a:r>
            <a:r>
              <a:rPr sz="1200" spc="-15" baseline="-17361" dirty="0">
                <a:solidFill>
                  <a:srgbClr val="1B2433"/>
                </a:solidFill>
                <a:latin typeface="Arial"/>
                <a:cs typeface="Arial"/>
              </a:rPr>
              <a:t>3</a:t>
            </a:r>
            <a:endParaRPr sz="1200" baseline="-17361">
              <a:latin typeface="Arial"/>
              <a:cs typeface="Arial"/>
            </a:endParaRPr>
          </a:p>
          <a:p>
            <a:pPr marL="180975">
              <a:lnSpc>
                <a:spcPct val="100000"/>
              </a:lnSpc>
              <a:spcBef>
                <a:spcPts val="735"/>
              </a:spcBef>
            </a:pPr>
            <a:r>
              <a:rPr sz="950" dirty="0">
                <a:solidFill>
                  <a:srgbClr val="1B2433"/>
                </a:solidFill>
                <a:latin typeface="Arial"/>
                <a:cs typeface="Arial"/>
              </a:rPr>
              <a:t>40.078</a:t>
            </a:r>
            <a:r>
              <a:rPr sz="950" spc="55" dirty="0">
                <a:solidFill>
                  <a:srgbClr val="1B2433"/>
                </a:solidFill>
                <a:latin typeface="Arial"/>
                <a:cs typeface="Arial"/>
              </a:rPr>
              <a:t> </a:t>
            </a:r>
            <a:r>
              <a:rPr sz="950" dirty="0">
                <a:solidFill>
                  <a:srgbClr val="1B2433"/>
                </a:solidFill>
                <a:latin typeface="Arial"/>
                <a:cs typeface="Arial"/>
              </a:rPr>
              <a:t>g</a:t>
            </a:r>
            <a:r>
              <a:rPr sz="950" spc="55" dirty="0">
                <a:solidFill>
                  <a:srgbClr val="1B2433"/>
                </a:solidFill>
                <a:latin typeface="Arial"/>
                <a:cs typeface="Arial"/>
              </a:rPr>
              <a:t> </a:t>
            </a:r>
            <a:r>
              <a:rPr sz="950" spc="-25" dirty="0">
                <a:solidFill>
                  <a:srgbClr val="1B2433"/>
                </a:solidFill>
                <a:latin typeface="Arial"/>
                <a:cs typeface="Arial"/>
              </a:rPr>
              <a:t>Ca</a:t>
            </a:r>
            <a:endParaRPr sz="950">
              <a:latin typeface="Arial"/>
              <a:cs typeface="Arial"/>
            </a:endParaRPr>
          </a:p>
        </p:txBody>
      </p:sp>
      <p:sp>
        <p:nvSpPr>
          <p:cNvPr id="66" name="object 66"/>
          <p:cNvSpPr txBox="1"/>
          <p:nvPr/>
        </p:nvSpPr>
        <p:spPr>
          <a:xfrm>
            <a:off x="3041226" y="7664450"/>
            <a:ext cx="2200910" cy="173990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25400">
              <a:lnSpc>
                <a:spcPct val="100000"/>
              </a:lnSpc>
              <a:spcBef>
                <a:spcPts val="125"/>
              </a:spcBef>
            </a:pPr>
            <a:r>
              <a:rPr sz="1425" baseline="2923" dirty="0">
                <a:solidFill>
                  <a:srgbClr val="1B2433"/>
                </a:solidFill>
                <a:latin typeface="Arial"/>
                <a:cs typeface="Arial"/>
              </a:rPr>
              <a:t>=</a:t>
            </a:r>
            <a:r>
              <a:rPr sz="1425" spc="52" baseline="2923" dirty="0">
                <a:solidFill>
                  <a:srgbClr val="1B2433"/>
                </a:solidFill>
                <a:latin typeface="Arial"/>
                <a:cs typeface="Arial"/>
              </a:rPr>
              <a:t> </a:t>
            </a:r>
            <a:r>
              <a:rPr sz="1425" baseline="2923" dirty="0">
                <a:solidFill>
                  <a:srgbClr val="596474"/>
                </a:solidFill>
                <a:latin typeface="Arial"/>
                <a:cs typeface="Arial"/>
              </a:rPr>
              <a:t>0.280</a:t>
            </a:r>
            <a:r>
              <a:rPr sz="1425" spc="60" baseline="2923" dirty="0">
                <a:solidFill>
                  <a:srgbClr val="596474"/>
                </a:solidFill>
                <a:latin typeface="Arial"/>
                <a:cs typeface="Arial"/>
              </a:rPr>
              <a:t> </a:t>
            </a:r>
            <a:r>
              <a:rPr sz="1425" baseline="2923" dirty="0">
                <a:solidFill>
                  <a:srgbClr val="596474"/>
                </a:solidFill>
                <a:latin typeface="Arial"/>
                <a:cs typeface="Arial"/>
              </a:rPr>
              <a:t>94</a:t>
            </a:r>
            <a:r>
              <a:rPr sz="1425" spc="52" baseline="2923" dirty="0">
                <a:solidFill>
                  <a:srgbClr val="596474"/>
                </a:solidFill>
                <a:latin typeface="Arial"/>
                <a:cs typeface="Arial"/>
              </a:rPr>
              <a:t> </a:t>
            </a:r>
            <a:r>
              <a:rPr sz="1425" baseline="2923" dirty="0">
                <a:solidFill>
                  <a:srgbClr val="596474"/>
                </a:solidFill>
                <a:latin typeface="Arial"/>
                <a:cs typeface="Arial"/>
              </a:rPr>
              <a:t>g</a:t>
            </a:r>
            <a:r>
              <a:rPr sz="1425" spc="60" baseline="2923" dirty="0">
                <a:solidFill>
                  <a:srgbClr val="596474"/>
                </a:solidFill>
                <a:latin typeface="Arial"/>
                <a:cs typeface="Arial"/>
              </a:rPr>
              <a:t> </a:t>
            </a:r>
            <a:r>
              <a:rPr sz="1425" baseline="2923" dirty="0">
                <a:solidFill>
                  <a:srgbClr val="1B2433"/>
                </a:solidFill>
                <a:latin typeface="Arial"/>
                <a:cs typeface="Arial"/>
              </a:rPr>
              <a:t>→</a:t>
            </a:r>
            <a:r>
              <a:rPr sz="1425" spc="52" baseline="2923" dirty="0">
                <a:solidFill>
                  <a:srgbClr val="1B2433"/>
                </a:solidFill>
                <a:latin typeface="Arial"/>
                <a:cs typeface="Arial"/>
              </a:rPr>
              <a:t> </a:t>
            </a:r>
            <a:r>
              <a:rPr sz="950" b="1" dirty="0">
                <a:solidFill>
                  <a:srgbClr val="D32E2E"/>
                </a:solidFill>
                <a:latin typeface="Arial"/>
                <a:cs typeface="Arial"/>
              </a:rPr>
              <a:t>2.809</a:t>
            </a:r>
            <a:r>
              <a:rPr sz="950" b="1" spc="40" dirty="0">
                <a:solidFill>
                  <a:srgbClr val="D32E2E"/>
                </a:solidFill>
                <a:latin typeface="Arial"/>
                <a:cs typeface="Arial"/>
              </a:rPr>
              <a:t> </a:t>
            </a:r>
            <a:r>
              <a:rPr sz="950" b="1" dirty="0">
                <a:solidFill>
                  <a:srgbClr val="D32E2E"/>
                </a:solidFill>
                <a:latin typeface="Arial"/>
                <a:cs typeface="Arial"/>
              </a:rPr>
              <a:t>×</a:t>
            </a:r>
            <a:r>
              <a:rPr sz="950" b="1" spc="35" dirty="0">
                <a:solidFill>
                  <a:srgbClr val="D32E2E"/>
                </a:solidFill>
                <a:latin typeface="Arial"/>
                <a:cs typeface="Arial"/>
              </a:rPr>
              <a:t> </a:t>
            </a:r>
            <a:r>
              <a:rPr sz="950" b="1" dirty="0">
                <a:solidFill>
                  <a:srgbClr val="D32E2E"/>
                </a:solidFill>
                <a:latin typeface="Arial"/>
                <a:cs typeface="Arial"/>
              </a:rPr>
              <a:t>10</a:t>
            </a:r>
            <a:r>
              <a:rPr sz="1200" b="1" baseline="27777" dirty="0">
                <a:solidFill>
                  <a:srgbClr val="D32E2E"/>
                </a:solidFill>
                <a:latin typeface="Arial"/>
                <a:cs typeface="Arial"/>
              </a:rPr>
              <a:t>−1</a:t>
            </a:r>
            <a:r>
              <a:rPr sz="1200" b="1" spc="120" baseline="27777" dirty="0">
                <a:solidFill>
                  <a:srgbClr val="D32E2E"/>
                </a:solidFill>
                <a:latin typeface="Arial"/>
                <a:cs typeface="Arial"/>
              </a:rPr>
              <a:t> </a:t>
            </a:r>
            <a:r>
              <a:rPr sz="950" b="1" dirty="0">
                <a:solidFill>
                  <a:srgbClr val="D32E2E"/>
                </a:solidFill>
                <a:latin typeface="Arial"/>
                <a:cs typeface="Arial"/>
              </a:rPr>
              <a:t>g</a:t>
            </a:r>
            <a:r>
              <a:rPr sz="950" b="1" spc="35" dirty="0">
                <a:solidFill>
                  <a:srgbClr val="D32E2E"/>
                </a:solidFill>
                <a:latin typeface="Arial"/>
                <a:cs typeface="Arial"/>
              </a:rPr>
              <a:t> </a:t>
            </a:r>
            <a:r>
              <a:rPr sz="950" b="1" spc="-10" dirty="0">
                <a:solidFill>
                  <a:srgbClr val="D32E2E"/>
                </a:solidFill>
                <a:latin typeface="Arial"/>
                <a:cs typeface="Arial"/>
              </a:rPr>
              <a:t>CaCO</a:t>
            </a:r>
            <a:r>
              <a:rPr sz="1200" b="1" spc="-15" baseline="-17361" dirty="0">
                <a:solidFill>
                  <a:srgbClr val="D32E2E"/>
                </a:solidFill>
                <a:latin typeface="Arial"/>
                <a:cs typeface="Arial"/>
              </a:rPr>
              <a:t>3</a:t>
            </a:r>
            <a:endParaRPr sz="1200" baseline="-17361">
              <a:latin typeface="Arial"/>
              <a:cs typeface="Arial"/>
            </a:endParaRPr>
          </a:p>
        </p:txBody>
      </p:sp>
      <p:pic>
        <p:nvPicPr>
          <p:cNvPr id="67" name="object 67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390524" y="8086724"/>
            <a:ext cx="190500" cy="190499"/>
          </a:xfrm>
          <a:prstGeom prst="rect">
            <a:avLst/>
          </a:prstGeom>
        </p:spPr>
      </p:pic>
      <p:sp>
        <p:nvSpPr>
          <p:cNvPr id="68" name="object 68"/>
          <p:cNvSpPr txBox="1"/>
          <p:nvPr/>
        </p:nvSpPr>
        <p:spPr>
          <a:xfrm>
            <a:off x="453925" y="8083550"/>
            <a:ext cx="1057275" cy="173990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125"/>
              </a:spcBef>
            </a:pPr>
            <a:r>
              <a:rPr sz="900" b="1" dirty="0">
                <a:solidFill>
                  <a:srgbClr val="FFFFFF"/>
                </a:solidFill>
                <a:latin typeface="Arial"/>
                <a:cs typeface="Arial"/>
              </a:rPr>
              <a:t>3</a:t>
            </a:r>
            <a:r>
              <a:rPr sz="900" b="1" spc="250" dirty="0">
                <a:solidFill>
                  <a:srgbClr val="FFFFFF"/>
                </a:solidFill>
                <a:latin typeface="Arial"/>
                <a:cs typeface="Arial"/>
              </a:rPr>
              <a:t>  </a:t>
            </a:r>
            <a:r>
              <a:rPr sz="950" b="1" dirty="0">
                <a:solidFill>
                  <a:srgbClr val="4A0D4E"/>
                </a:solidFill>
                <a:latin typeface="Arial"/>
                <a:cs typeface="Arial"/>
              </a:rPr>
              <a:t>Mass</a:t>
            </a:r>
            <a:r>
              <a:rPr sz="950" b="1" spc="25" dirty="0">
                <a:solidFill>
                  <a:srgbClr val="4A0D4E"/>
                </a:solidFill>
                <a:latin typeface="Arial"/>
                <a:cs typeface="Arial"/>
              </a:rPr>
              <a:t> </a:t>
            </a:r>
            <a:r>
              <a:rPr sz="950" b="1" dirty="0">
                <a:solidFill>
                  <a:srgbClr val="4A0D4E"/>
                </a:solidFill>
                <a:latin typeface="Arial"/>
                <a:cs typeface="Arial"/>
              </a:rPr>
              <a:t>→</a:t>
            </a:r>
            <a:r>
              <a:rPr sz="950" b="1" spc="20" dirty="0">
                <a:solidFill>
                  <a:srgbClr val="4A0D4E"/>
                </a:solidFill>
                <a:latin typeface="Arial"/>
                <a:cs typeface="Arial"/>
              </a:rPr>
              <a:t> </a:t>
            </a:r>
            <a:r>
              <a:rPr sz="950" b="1" spc="-20" dirty="0">
                <a:solidFill>
                  <a:srgbClr val="4A0D4E"/>
                </a:solidFill>
                <a:latin typeface="Arial"/>
                <a:cs typeface="Arial"/>
              </a:rPr>
              <a:t>moles</a:t>
            </a:r>
            <a:endParaRPr sz="950">
              <a:latin typeface="Arial"/>
              <a:cs typeface="Arial"/>
            </a:endParaRPr>
          </a:p>
        </p:txBody>
      </p:sp>
      <p:grpSp>
        <p:nvGrpSpPr>
          <p:cNvPr id="89" name="object 89"/>
          <p:cNvGrpSpPr/>
          <p:nvPr/>
        </p:nvGrpSpPr>
        <p:grpSpPr>
          <a:xfrm>
            <a:off x="7791448" y="7534275"/>
            <a:ext cx="3676650" cy="762000"/>
            <a:chOff x="7791448" y="7534275"/>
            <a:chExt cx="3676650" cy="762000"/>
          </a:xfrm>
        </p:grpSpPr>
        <p:pic>
          <p:nvPicPr>
            <p:cNvPr id="90" name="object 90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7791448" y="7534275"/>
              <a:ext cx="190500" cy="190498"/>
            </a:xfrm>
            <a:prstGeom prst="rect">
              <a:avLst/>
            </a:prstGeom>
          </p:spPr>
        </p:pic>
        <p:sp>
          <p:nvSpPr>
            <p:cNvPr id="91" name="object 91"/>
            <p:cNvSpPr/>
            <p:nvPr/>
          </p:nvSpPr>
          <p:spPr>
            <a:xfrm>
              <a:off x="9117507" y="8172449"/>
              <a:ext cx="200025" cy="19050"/>
            </a:xfrm>
            <a:custGeom>
              <a:avLst/>
              <a:gdLst/>
              <a:ahLst/>
              <a:cxnLst/>
              <a:rect l="l" t="t" r="r" b="b"/>
              <a:pathLst>
                <a:path w="200025" h="19050">
                  <a:moveTo>
                    <a:pt x="199578" y="19049"/>
                  </a:moveTo>
                  <a:lnTo>
                    <a:pt x="0" y="19049"/>
                  </a:lnTo>
                  <a:lnTo>
                    <a:pt x="0" y="0"/>
                  </a:lnTo>
                  <a:lnTo>
                    <a:pt x="199578" y="0"/>
                  </a:lnTo>
                  <a:lnTo>
                    <a:pt x="199578" y="19049"/>
                  </a:lnTo>
                  <a:close/>
                </a:path>
              </a:pathLst>
            </a:custGeom>
            <a:solidFill>
              <a:srgbClr val="D32E2E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92" name="object 92"/>
            <p:cNvSpPr/>
            <p:nvPr/>
          </p:nvSpPr>
          <p:spPr>
            <a:xfrm>
              <a:off x="9477373" y="8172449"/>
              <a:ext cx="552450" cy="9525"/>
            </a:xfrm>
            <a:custGeom>
              <a:avLst/>
              <a:gdLst/>
              <a:ahLst/>
              <a:cxnLst/>
              <a:rect l="l" t="t" r="r" b="b"/>
              <a:pathLst>
                <a:path w="552450" h="9525">
                  <a:moveTo>
                    <a:pt x="552449" y="9524"/>
                  </a:moveTo>
                  <a:lnTo>
                    <a:pt x="0" y="9524"/>
                  </a:lnTo>
                  <a:lnTo>
                    <a:pt x="0" y="0"/>
                  </a:lnTo>
                  <a:lnTo>
                    <a:pt x="552449" y="0"/>
                  </a:lnTo>
                  <a:lnTo>
                    <a:pt x="552449" y="9524"/>
                  </a:lnTo>
                  <a:close/>
                </a:path>
              </a:pathLst>
            </a:custGeom>
            <a:solidFill>
              <a:srgbClr val="1B2433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93" name="object 93"/>
            <p:cNvSpPr/>
            <p:nvPr/>
          </p:nvSpPr>
          <p:spPr>
            <a:xfrm>
              <a:off x="9609226" y="8058161"/>
              <a:ext cx="295910" cy="238125"/>
            </a:xfrm>
            <a:custGeom>
              <a:avLst/>
              <a:gdLst/>
              <a:ahLst/>
              <a:cxnLst/>
              <a:rect l="l" t="t" r="r" b="b"/>
              <a:pathLst>
                <a:path w="295909" h="238125">
                  <a:moveTo>
                    <a:pt x="199580" y="0"/>
                  </a:moveTo>
                  <a:lnTo>
                    <a:pt x="0" y="0"/>
                  </a:lnTo>
                  <a:lnTo>
                    <a:pt x="0" y="19050"/>
                  </a:lnTo>
                  <a:lnTo>
                    <a:pt x="199580" y="19050"/>
                  </a:lnTo>
                  <a:lnTo>
                    <a:pt x="199580" y="0"/>
                  </a:lnTo>
                  <a:close/>
                </a:path>
                <a:path w="295909" h="238125">
                  <a:moveTo>
                    <a:pt x="295871" y="219075"/>
                  </a:moveTo>
                  <a:lnTo>
                    <a:pt x="96291" y="219075"/>
                  </a:lnTo>
                  <a:lnTo>
                    <a:pt x="96291" y="238125"/>
                  </a:lnTo>
                  <a:lnTo>
                    <a:pt x="295871" y="238125"/>
                  </a:lnTo>
                  <a:lnTo>
                    <a:pt x="295871" y="219075"/>
                  </a:lnTo>
                  <a:close/>
                </a:path>
              </a:pathLst>
            </a:custGeom>
            <a:solidFill>
              <a:srgbClr val="D32E2E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94" name="object 94"/>
            <p:cNvSpPr/>
            <p:nvPr/>
          </p:nvSpPr>
          <p:spPr>
            <a:xfrm>
              <a:off x="10210798" y="8172449"/>
              <a:ext cx="533400" cy="9525"/>
            </a:xfrm>
            <a:custGeom>
              <a:avLst/>
              <a:gdLst/>
              <a:ahLst/>
              <a:cxnLst/>
              <a:rect l="l" t="t" r="r" b="b"/>
              <a:pathLst>
                <a:path w="533400" h="9525">
                  <a:moveTo>
                    <a:pt x="533399" y="9524"/>
                  </a:moveTo>
                  <a:lnTo>
                    <a:pt x="0" y="9524"/>
                  </a:lnTo>
                  <a:lnTo>
                    <a:pt x="0" y="0"/>
                  </a:lnTo>
                  <a:lnTo>
                    <a:pt x="533399" y="0"/>
                  </a:lnTo>
                  <a:lnTo>
                    <a:pt x="533399" y="9524"/>
                  </a:lnTo>
                  <a:close/>
                </a:path>
              </a:pathLst>
            </a:custGeom>
            <a:solidFill>
              <a:srgbClr val="1B2433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95" name="object 95"/>
            <p:cNvSpPr/>
            <p:nvPr/>
          </p:nvSpPr>
          <p:spPr>
            <a:xfrm>
              <a:off x="10430903" y="8058161"/>
              <a:ext cx="289560" cy="238125"/>
            </a:xfrm>
            <a:custGeom>
              <a:avLst/>
              <a:gdLst/>
              <a:ahLst/>
              <a:cxnLst/>
              <a:rect l="l" t="t" r="r" b="b"/>
              <a:pathLst>
                <a:path w="289559" h="238125">
                  <a:moveTo>
                    <a:pt x="199580" y="219075"/>
                  </a:moveTo>
                  <a:lnTo>
                    <a:pt x="0" y="219075"/>
                  </a:lnTo>
                  <a:lnTo>
                    <a:pt x="0" y="238125"/>
                  </a:lnTo>
                  <a:lnTo>
                    <a:pt x="199580" y="238125"/>
                  </a:lnTo>
                  <a:lnTo>
                    <a:pt x="199580" y="219075"/>
                  </a:lnTo>
                  <a:close/>
                </a:path>
                <a:path w="289559" h="238125">
                  <a:moveTo>
                    <a:pt x="289179" y="0"/>
                  </a:moveTo>
                  <a:lnTo>
                    <a:pt x="220268" y="0"/>
                  </a:lnTo>
                  <a:lnTo>
                    <a:pt x="220268" y="19050"/>
                  </a:lnTo>
                  <a:lnTo>
                    <a:pt x="289179" y="19050"/>
                  </a:lnTo>
                  <a:lnTo>
                    <a:pt x="289179" y="0"/>
                  </a:lnTo>
                  <a:close/>
                </a:path>
              </a:pathLst>
            </a:custGeom>
            <a:solidFill>
              <a:srgbClr val="D32E2E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96" name="object 96"/>
            <p:cNvSpPr/>
            <p:nvPr/>
          </p:nvSpPr>
          <p:spPr>
            <a:xfrm>
              <a:off x="10925173" y="8172449"/>
              <a:ext cx="542925" cy="9525"/>
            </a:xfrm>
            <a:custGeom>
              <a:avLst/>
              <a:gdLst/>
              <a:ahLst/>
              <a:cxnLst/>
              <a:rect l="l" t="t" r="r" b="b"/>
              <a:pathLst>
                <a:path w="542925" h="9525">
                  <a:moveTo>
                    <a:pt x="542924" y="9524"/>
                  </a:moveTo>
                  <a:lnTo>
                    <a:pt x="0" y="9524"/>
                  </a:lnTo>
                  <a:lnTo>
                    <a:pt x="0" y="0"/>
                  </a:lnTo>
                  <a:lnTo>
                    <a:pt x="542924" y="0"/>
                  </a:lnTo>
                  <a:lnTo>
                    <a:pt x="542924" y="9524"/>
                  </a:lnTo>
                  <a:close/>
                </a:path>
              </a:pathLst>
            </a:custGeom>
            <a:solidFill>
              <a:srgbClr val="1B2433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97" name="object 97"/>
            <p:cNvSpPr/>
            <p:nvPr/>
          </p:nvSpPr>
          <p:spPr>
            <a:xfrm>
              <a:off x="11214644" y="8277224"/>
              <a:ext cx="69215" cy="19050"/>
            </a:xfrm>
            <a:custGeom>
              <a:avLst/>
              <a:gdLst/>
              <a:ahLst/>
              <a:cxnLst/>
              <a:rect l="l" t="t" r="r" b="b"/>
              <a:pathLst>
                <a:path w="69215" h="19050">
                  <a:moveTo>
                    <a:pt x="68907" y="19049"/>
                  </a:moveTo>
                  <a:lnTo>
                    <a:pt x="0" y="19049"/>
                  </a:lnTo>
                  <a:lnTo>
                    <a:pt x="0" y="0"/>
                  </a:lnTo>
                  <a:lnTo>
                    <a:pt x="68907" y="0"/>
                  </a:lnTo>
                  <a:lnTo>
                    <a:pt x="68907" y="19049"/>
                  </a:lnTo>
                  <a:close/>
                </a:path>
              </a:pathLst>
            </a:custGeom>
            <a:solidFill>
              <a:srgbClr val="D32E2E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69" name="object 69"/>
          <p:cNvSpPr/>
          <p:nvPr/>
        </p:nvSpPr>
        <p:spPr>
          <a:xfrm>
            <a:off x="906958" y="8505824"/>
            <a:ext cx="69215" cy="19050"/>
          </a:xfrm>
          <a:custGeom>
            <a:avLst/>
            <a:gdLst/>
            <a:ahLst/>
            <a:cxnLst/>
            <a:rect l="l" t="t" r="r" b="b"/>
            <a:pathLst>
              <a:path w="69215" h="19050">
                <a:moveTo>
                  <a:pt x="68907" y="19049"/>
                </a:moveTo>
                <a:lnTo>
                  <a:pt x="0" y="19049"/>
                </a:lnTo>
                <a:lnTo>
                  <a:pt x="0" y="0"/>
                </a:lnTo>
                <a:lnTo>
                  <a:pt x="68907" y="0"/>
                </a:lnTo>
                <a:lnTo>
                  <a:pt x="68907" y="19049"/>
                </a:lnTo>
                <a:close/>
              </a:path>
            </a:pathLst>
          </a:custGeom>
          <a:solidFill>
            <a:srgbClr val="D32E2E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0" name="object 70"/>
          <p:cNvSpPr txBox="1"/>
          <p:nvPr/>
        </p:nvSpPr>
        <p:spPr>
          <a:xfrm>
            <a:off x="390524" y="8413948"/>
            <a:ext cx="704850" cy="173990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125"/>
              </a:spcBef>
            </a:pPr>
            <a:r>
              <a:rPr sz="950" dirty="0">
                <a:solidFill>
                  <a:srgbClr val="1B2433"/>
                </a:solidFill>
                <a:latin typeface="Arial"/>
                <a:cs typeface="Arial"/>
              </a:rPr>
              <a:t>0.280</a:t>
            </a:r>
            <a:r>
              <a:rPr sz="950" spc="40" dirty="0">
                <a:solidFill>
                  <a:srgbClr val="1B2433"/>
                </a:solidFill>
                <a:latin typeface="Arial"/>
                <a:cs typeface="Arial"/>
              </a:rPr>
              <a:t> </a:t>
            </a:r>
            <a:r>
              <a:rPr sz="950" dirty="0">
                <a:solidFill>
                  <a:srgbClr val="1B2433"/>
                </a:solidFill>
                <a:latin typeface="Arial"/>
                <a:cs typeface="Arial"/>
              </a:rPr>
              <a:t>94</a:t>
            </a:r>
            <a:r>
              <a:rPr sz="950" spc="45" dirty="0">
                <a:solidFill>
                  <a:srgbClr val="1B2433"/>
                </a:solidFill>
                <a:latin typeface="Arial"/>
                <a:cs typeface="Arial"/>
              </a:rPr>
              <a:t> </a:t>
            </a:r>
            <a:r>
              <a:rPr sz="950" dirty="0">
                <a:solidFill>
                  <a:srgbClr val="1B2433"/>
                </a:solidFill>
                <a:latin typeface="Arial"/>
                <a:cs typeface="Arial"/>
              </a:rPr>
              <a:t>g</a:t>
            </a:r>
            <a:r>
              <a:rPr sz="950" spc="45" dirty="0">
                <a:solidFill>
                  <a:srgbClr val="1B2433"/>
                </a:solidFill>
                <a:latin typeface="Arial"/>
                <a:cs typeface="Arial"/>
              </a:rPr>
              <a:t> </a:t>
            </a:r>
            <a:r>
              <a:rPr sz="950" spc="-50" dirty="0">
                <a:solidFill>
                  <a:srgbClr val="1B2433"/>
                </a:solidFill>
                <a:latin typeface="Arial"/>
                <a:cs typeface="Arial"/>
              </a:rPr>
              <a:t>×</a:t>
            </a:r>
            <a:endParaRPr sz="950">
              <a:latin typeface="Arial"/>
              <a:cs typeface="Arial"/>
            </a:endParaRPr>
          </a:p>
        </p:txBody>
      </p:sp>
      <p:sp>
        <p:nvSpPr>
          <p:cNvPr id="71" name="object 71"/>
          <p:cNvSpPr/>
          <p:nvPr/>
        </p:nvSpPr>
        <p:spPr>
          <a:xfrm>
            <a:off x="1133474" y="8515349"/>
            <a:ext cx="609600" cy="9525"/>
          </a:xfrm>
          <a:custGeom>
            <a:avLst/>
            <a:gdLst/>
            <a:ahLst/>
            <a:cxnLst/>
            <a:rect l="l" t="t" r="r" b="b"/>
            <a:pathLst>
              <a:path w="609600" h="9525">
                <a:moveTo>
                  <a:pt x="609599" y="9524"/>
                </a:moveTo>
                <a:lnTo>
                  <a:pt x="0" y="9524"/>
                </a:lnTo>
                <a:lnTo>
                  <a:pt x="0" y="0"/>
                </a:lnTo>
                <a:lnTo>
                  <a:pt x="609599" y="0"/>
                </a:lnTo>
                <a:lnTo>
                  <a:pt x="609599" y="9524"/>
                </a:lnTo>
                <a:close/>
              </a:path>
            </a:pathLst>
          </a:custGeom>
          <a:solidFill>
            <a:srgbClr val="1B24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2" name="object 72"/>
          <p:cNvSpPr txBox="1"/>
          <p:nvPr/>
        </p:nvSpPr>
        <p:spPr>
          <a:xfrm>
            <a:off x="1164728" y="8222615"/>
            <a:ext cx="563880" cy="482600"/>
          </a:xfrm>
          <a:prstGeom prst="rect">
            <a:avLst/>
          </a:prstGeom>
        </p:spPr>
        <p:txBody>
          <a:bodyPr vert="horz" wrap="square" lIns="0" tIns="95885" rIns="0" bIns="0" rtlCol="0">
            <a:spAutoFit/>
          </a:bodyPr>
          <a:lstStyle/>
          <a:p>
            <a:pPr marL="123825">
              <a:lnSpc>
                <a:spcPct val="100000"/>
              </a:lnSpc>
              <a:spcBef>
                <a:spcPts val="755"/>
              </a:spcBef>
            </a:pPr>
            <a:r>
              <a:rPr sz="950" dirty="0">
                <a:solidFill>
                  <a:srgbClr val="1B2433"/>
                </a:solidFill>
                <a:latin typeface="Arial"/>
                <a:cs typeface="Arial"/>
              </a:rPr>
              <a:t>1</a:t>
            </a:r>
            <a:r>
              <a:rPr sz="950" spc="20" dirty="0">
                <a:solidFill>
                  <a:srgbClr val="1B2433"/>
                </a:solidFill>
                <a:latin typeface="Arial"/>
                <a:cs typeface="Arial"/>
              </a:rPr>
              <a:t> </a:t>
            </a:r>
            <a:r>
              <a:rPr sz="950" spc="-25" dirty="0">
                <a:solidFill>
                  <a:srgbClr val="1B2433"/>
                </a:solidFill>
                <a:latin typeface="Arial"/>
                <a:cs typeface="Arial"/>
              </a:rPr>
              <a:t>mol</a:t>
            </a:r>
            <a:endParaRPr sz="950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660"/>
              </a:spcBef>
            </a:pPr>
            <a:r>
              <a:rPr sz="950" dirty="0">
                <a:solidFill>
                  <a:srgbClr val="1B2433"/>
                </a:solidFill>
                <a:latin typeface="Arial"/>
                <a:cs typeface="Arial"/>
              </a:rPr>
              <a:t>100.086</a:t>
            </a:r>
            <a:r>
              <a:rPr sz="950" spc="105" dirty="0">
                <a:solidFill>
                  <a:srgbClr val="1B2433"/>
                </a:solidFill>
                <a:latin typeface="Arial"/>
                <a:cs typeface="Arial"/>
              </a:rPr>
              <a:t> </a:t>
            </a:r>
            <a:r>
              <a:rPr sz="950" spc="-50" dirty="0">
                <a:solidFill>
                  <a:srgbClr val="1B2433"/>
                </a:solidFill>
                <a:latin typeface="Arial"/>
                <a:cs typeface="Arial"/>
              </a:rPr>
              <a:t>g</a:t>
            </a:r>
            <a:endParaRPr sz="950">
              <a:latin typeface="Arial"/>
              <a:cs typeface="Arial"/>
            </a:endParaRPr>
          </a:p>
        </p:txBody>
      </p:sp>
      <p:sp>
        <p:nvSpPr>
          <p:cNvPr id="76" name="object 76"/>
          <p:cNvSpPr txBox="1"/>
          <p:nvPr/>
        </p:nvSpPr>
        <p:spPr>
          <a:xfrm>
            <a:off x="1772318" y="8416925"/>
            <a:ext cx="2535555" cy="173990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25400">
              <a:lnSpc>
                <a:spcPct val="100000"/>
              </a:lnSpc>
              <a:spcBef>
                <a:spcPts val="125"/>
              </a:spcBef>
            </a:pPr>
            <a:r>
              <a:rPr sz="950" dirty="0">
                <a:solidFill>
                  <a:srgbClr val="1B2433"/>
                </a:solidFill>
                <a:latin typeface="Arial"/>
                <a:cs typeface="Arial"/>
              </a:rPr>
              <a:t>=</a:t>
            </a:r>
            <a:r>
              <a:rPr sz="950" spc="40" dirty="0">
                <a:solidFill>
                  <a:srgbClr val="1B2433"/>
                </a:solidFill>
                <a:latin typeface="Arial"/>
                <a:cs typeface="Arial"/>
              </a:rPr>
              <a:t> </a:t>
            </a:r>
            <a:r>
              <a:rPr sz="950" dirty="0">
                <a:solidFill>
                  <a:srgbClr val="596474"/>
                </a:solidFill>
                <a:latin typeface="Arial"/>
                <a:cs typeface="Arial"/>
              </a:rPr>
              <a:t>2.8070</a:t>
            </a:r>
            <a:r>
              <a:rPr sz="950" spc="40" dirty="0">
                <a:solidFill>
                  <a:srgbClr val="596474"/>
                </a:solidFill>
                <a:latin typeface="Arial"/>
                <a:cs typeface="Arial"/>
              </a:rPr>
              <a:t> </a:t>
            </a:r>
            <a:r>
              <a:rPr sz="950" dirty="0">
                <a:solidFill>
                  <a:srgbClr val="596474"/>
                </a:solidFill>
                <a:latin typeface="Arial"/>
                <a:cs typeface="Arial"/>
              </a:rPr>
              <a:t>×</a:t>
            </a:r>
            <a:r>
              <a:rPr sz="950" spc="45" dirty="0">
                <a:solidFill>
                  <a:srgbClr val="596474"/>
                </a:solidFill>
                <a:latin typeface="Arial"/>
                <a:cs typeface="Arial"/>
              </a:rPr>
              <a:t> </a:t>
            </a:r>
            <a:r>
              <a:rPr sz="950" dirty="0">
                <a:solidFill>
                  <a:srgbClr val="596474"/>
                </a:solidFill>
                <a:latin typeface="Arial"/>
                <a:cs typeface="Arial"/>
              </a:rPr>
              <a:t>10</a:t>
            </a:r>
            <a:r>
              <a:rPr sz="1200" baseline="27777" dirty="0">
                <a:solidFill>
                  <a:srgbClr val="596474"/>
                </a:solidFill>
                <a:latin typeface="Arial"/>
                <a:cs typeface="Arial"/>
              </a:rPr>
              <a:t>−3</a:t>
            </a:r>
            <a:r>
              <a:rPr sz="1200" spc="120" baseline="27777" dirty="0">
                <a:solidFill>
                  <a:srgbClr val="596474"/>
                </a:solidFill>
                <a:latin typeface="Arial"/>
                <a:cs typeface="Arial"/>
              </a:rPr>
              <a:t> </a:t>
            </a:r>
            <a:r>
              <a:rPr sz="950" dirty="0">
                <a:solidFill>
                  <a:srgbClr val="1B2433"/>
                </a:solidFill>
                <a:latin typeface="Arial"/>
                <a:cs typeface="Arial"/>
              </a:rPr>
              <a:t>→</a:t>
            </a:r>
            <a:r>
              <a:rPr sz="950" spc="40" dirty="0">
                <a:solidFill>
                  <a:srgbClr val="1B2433"/>
                </a:solidFill>
                <a:latin typeface="Arial"/>
                <a:cs typeface="Arial"/>
              </a:rPr>
              <a:t> </a:t>
            </a:r>
            <a:r>
              <a:rPr sz="950" b="1" dirty="0">
                <a:solidFill>
                  <a:srgbClr val="D32E2E"/>
                </a:solidFill>
                <a:latin typeface="Arial"/>
                <a:cs typeface="Arial"/>
              </a:rPr>
              <a:t>2.807</a:t>
            </a:r>
            <a:r>
              <a:rPr sz="950" b="1" spc="45" dirty="0">
                <a:solidFill>
                  <a:srgbClr val="D32E2E"/>
                </a:solidFill>
                <a:latin typeface="Arial"/>
                <a:cs typeface="Arial"/>
              </a:rPr>
              <a:t> </a:t>
            </a:r>
            <a:r>
              <a:rPr sz="950" b="1" dirty="0">
                <a:solidFill>
                  <a:srgbClr val="D32E2E"/>
                </a:solidFill>
                <a:latin typeface="Arial"/>
                <a:cs typeface="Arial"/>
              </a:rPr>
              <a:t>×</a:t>
            </a:r>
            <a:r>
              <a:rPr sz="950" b="1" spc="40" dirty="0">
                <a:solidFill>
                  <a:srgbClr val="D32E2E"/>
                </a:solidFill>
                <a:latin typeface="Arial"/>
                <a:cs typeface="Arial"/>
              </a:rPr>
              <a:t> </a:t>
            </a:r>
            <a:r>
              <a:rPr sz="950" b="1" dirty="0">
                <a:solidFill>
                  <a:srgbClr val="D32E2E"/>
                </a:solidFill>
                <a:latin typeface="Arial"/>
                <a:cs typeface="Arial"/>
              </a:rPr>
              <a:t>10</a:t>
            </a:r>
            <a:r>
              <a:rPr sz="1200" b="1" baseline="27777" dirty="0">
                <a:solidFill>
                  <a:srgbClr val="D32E2E"/>
                </a:solidFill>
                <a:latin typeface="Arial"/>
                <a:cs typeface="Arial"/>
              </a:rPr>
              <a:t>−3</a:t>
            </a:r>
            <a:r>
              <a:rPr sz="1200" b="1" spc="120" baseline="27777" dirty="0">
                <a:solidFill>
                  <a:srgbClr val="D32E2E"/>
                </a:solidFill>
                <a:latin typeface="Arial"/>
                <a:cs typeface="Arial"/>
              </a:rPr>
              <a:t> </a:t>
            </a:r>
            <a:r>
              <a:rPr sz="950" b="1" dirty="0">
                <a:solidFill>
                  <a:srgbClr val="D32E2E"/>
                </a:solidFill>
                <a:latin typeface="Arial"/>
                <a:cs typeface="Arial"/>
              </a:rPr>
              <a:t>mol</a:t>
            </a:r>
            <a:r>
              <a:rPr sz="950" b="1" spc="45" dirty="0">
                <a:solidFill>
                  <a:srgbClr val="D32E2E"/>
                </a:solidFill>
                <a:latin typeface="Arial"/>
                <a:cs typeface="Arial"/>
              </a:rPr>
              <a:t> </a:t>
            </a:r>
            <a:r>
              <a:rPr sz="950" b="1" spc="-10" dirty="0">
                <a:solidFill>
                  <a:srgbClr val="D32E2E"/>
                </a:solidFill>
                <a:latin typeface="Arial"/>
                <a:cs typeface="Arial"/>
              </a:rPr>
              <a:t>CaCO</a:t>
            </a:r>
            <a:r>
              <a:rPr sz="1200" b="1" spc="-15" baseline="-17361" dirty="0">
                <a:solidFill>
                  <a:srgbClr val="D32E2E"/>
                </a:solidFill>
                <a:latin typeface="Arial"/>
                <a:cs typeface="Arial"/>
              </a:rPr>
              <a:t>3</a:t>
            </a:r>
            <a:endParaRPr sz="1200" baseline="-17361">
              <a:latin typeface="Arial"/>
              <a:cs typeface="Arial"/>
            </a:endParaRPr>
          </a:p>
        </p:txBody>
      </p:sp>
      <p:sp>
        <p:nvSpPr>
          <p:cNvPr id="98" name="object 98"/>
          <p:cNvSpPr txBox="1"/>
          <p:nvPr/>
        </p:nvSpPr>
        <p:spPr>
          <a:xfrm>
            <a:off x="7727950" y="7460615"/>
            <a:ext cx="4526280" cy="1152525"/>
          </a:xfrm>
          <a:prstGeom prst="rect">
            <a:avLst/>
          </a:prstGeom>
        </p:spPr>
        <p:txBody>
          <a:bodyPr vert="horz" wrap="square" lIns="0" tIns="86360" rIns="0" bIns="0" rtlCol="0">
            <a:spAutoFit/>
          </a:bodyPr>
          <a:lstStyle/>
          <a:p>
            <a:pPr marL="126364">
              <a:lnSpc>
                <a:spcPct val="100000"/>
              </a:lnSpc>
              <a:spcBef>
                <a:spcPts val="680"/>
              </a:spcBef>
            </a:pPr>
            <a:r>
              <a:rPr sz="900" b="1" dirty="0">
                <a:solidFill>
                  <a:srgbClr val="FFFFFF"/>
                </a:solidFill>
                <a:latin typeface="Arial"/>
                <a:cs typeface="Arial"/>
              </a:rPr>
              <a:t>6</a:t>
            </a:r>
            <a:r>
              <a:rPr sz="900" b="1" spc="305" dirty="0">
                <a:solidFill>
                  <a:srgbClr val="FFFFFF"/>
                </a:solidFill>
                <a:latin typeface="Arial"/>
                <a:cs typeface="Arial"/>
              </a:rPr>
              <a:t>  </a:t>
            </a:r>
            <a:r>
              <a:rPr sz="950" b="1" spc="-10" dirty="0">
                <a:solidFill>
                  <a:srgbClr val="4A0D4E"/>
                </a:solidFill>
                <a:latin typeface="Arial"/>
                <a:cs typeface="Arial"/>
              </a:rPr>
              <a:t>Two-</a:t>
            </a:r>
            <a:r>
              <a:rPr sz="950" b="1" dirty="0">
                <a:solidFill>
                  <a:srgbClr val="4A0D4E"/>
                </a:solidFill>
                <a:latin typeface="Arial"/>
                <a:cs typeface="Arial"/>
              </a:rPr>
              <a:t>route</a:t>
            </a:r>
            <a:r>
              <a:rPr sz="950" b="1" spc="50" dirty="0">
                <a:solidFill>
                  <a:srgbClr val="4A0D4E"/>
                </a:solidFill>
                <a:latin typeface="Arial"/>
                <a:cs typeface="Arial"/>
              </a:rPr>
              <a:t> </a:t>
            </a:r>
            <a:r>
              <a:rPr sz="950" b="1" dirty="0">
                <a:solidFill>
                  <a:srgbClr val="4A0D4E"/>
                </a:solidFill>
                <a:latin typeface="Arial"/>
                <a:cs typeface="Arial"/>
              </a:rPr>
              <a:t>check</a:t>
            </a:r>
            <a:r>
              <a:rPr sz="950" b="1" spc="50" dirty="0">
                <a:solidFill>
                  <a:srgbClr val="4A0D4E"/>
                </a:solidFill>
                <a:latin typeface="Arial"/>
                <a:cs typeface="Arial"/>
              </a:rPr>
              <a:t> </a:t>
            </a:r>
            <a:r>
              <a:rPr sz="950" b="1" dirty="0">
                <a:solidFill>
                  <a:srgbClr val="4A0D4E"/>
                </a:solidFill>
                <a:latin typeface="Arial"/>
                <a:cs typeface="Arial"/>
              </a:rPr>
              <a:t>(calcium)</a:t>
            </a:r>
            <a:r>
              <a:rPr sz="950" b="1" spc="50" dirty="0">
                <a:solidFill>
                  <a:srgbClr val="4A0D4E"/>
                </a:solidFill>
                <a:latin typeface="Arial"/>
                <a:cs typeface="Arial"/>
              </a:rPr>
              <a:t> </a:t>
            </a:r>
            <a:r>
              <a:rPr sz="950" dirty="0">
                <a:solidFill>
                  <a:srgbClr val="1B2433"/>
                </a:solidFill>
                <a:latin typeface="Arial"/>
                <a:cs typeface="Arial"/>
              </a:rPr>
              <a:t>%Ca</a:t>
            </a:r>
            <a:r>
              <a:rPr sz="950" spc="50" dirty="0">
                <a:solidFill>
                  <a:srgbClr val="1B2433"/>
                </a:solidFill>
                <a:latin typeface="Arial"/>
                <a:cs typeface="Arial"/>
              </a:rPr>
              <a:t> </a:t>
            </a:r>
            <a:r>
              <a:rPr sz="950" dirty="0">
                <a:solidFill>
                  <a:srgbClr val="1B2433"/>
                </a:solidFill>
                <a:latin typeface="Arial"/>
                <a:cs typeface="Arial"/>
              </a:rPr>
              <a:t>=</a:t>
            </a:r>
            <a:r>
              <a:rPr sz="950" spc="50" dirty="0">
                <a:solidFill>
                  <a:srgbClr val="1B2433"/>
                </a:solidFill>
                <a:latin typeface="Arial"/>
                <a:cs typeface="Arial"/>
              </a:rPr>
              <a:t> </a:t>
            </a:r>
            <a:r>
              <a:rPr sz="950" dirty="0">
                <a:solidFill>
                  <a:srgbClr val="1B2433"/>
                </a:solidFill>
                <a:latin typeface="Arial"/>
                <a:cs typeface="Arial"/>
              </a:rPr>
              <a:t>[40.078</a:t>
            </a:r>
            <a:r>
              <a:rPr sz="950" spc="50" dirty="0">
                <a:solidFill>
                  <a:srgbClr val="1B2433"/>
                </a:solidFill>
                <a:latin typeface="Arial"/>
                <a:cs typeface="Arial"/>
              </a:rPr>
              <a:t> </a:t>
            </a:r>
            <a:r>
              <a:rPr sz="950" dirty="0">
                <a:solidFill>
                  <a:srgbClr val="1B2433"/>
                </a:solidFill>
                <a:latin typeface="Arial"/>
                <a:cs typeface="Arial"/>
              </a:rPr>
              <a:t>/</a:t>
            </a:r>
            <a:r>
              <a:rPr sz="950" spc="50" dirty="0">
                <a:solidFill>
                  <a:srgbClr val="1B2433"/>
                </a:solidFill>
                <a:latin typeface="Arial"/>
                <a:cs typeface="Arial"/>
              </a:rPr>
              <a:t> </a:t>
            </a:r>
            <a:r>
              <a:rPr sz="950" dirty="0">
                <a:solidFill>
                  <a:srgbClr val="1B2433"/>
                </a:solidFill>
                <a:latin typeface="Arial"/>
                <a:cs typeface="Arial"/>
              </a:rPr>
              <a:t>100.086]</a:t>
            </a:r>
            <a:r>
              <a:rPr sz="950" spc="55" dirty="0">
                <a:solidFill>
                  <a:srgbClr val="1B2433"/>
                </a:solidFill>
                <a:latin typeface="Arial"/>
                <a:cs typeface="Arial"/>
              </a:rPr>
              <a:t> </a:t>
            </a:r>
            <a:r>
              <a:rPr sz="950" dirty="0">
                <a:solidFill>
                  <a:srgbClr val="1B2433"/>
                </a:solidFill>
                <a:latin typeface="Arial"/>
                <a:cs typeface="Arial"/>
              </a:rPr>
              <a:t>×</a:t>
            </a:r>
            <a:r>
              <a:rPr sz="950" spc="50" dirty="0">
                <a:solidFill>
                  <a:srgbClr val="1B2433"/>
                </a:solidFill>
                <a:latin typeface="Arial"/>
                <a:cs typeface="Arial"/>
              </a:rPr>
              <a:t> </a:t>
            </a:r>
            <a:r>
              <a:rPr sz="950" dirty="0">
                <a:solidFill>
                  <a:srgbClr val="1B2433"/>
                </a:solidFill>
                <a:latin typeface="Arial"/>
                <a:cs typeface="Arial"/>
              </a:rPr>
              <a:t>100</a:t>
            </a:r>
            <a:r>
              <a:rPr sz="950" spc="50" dirty="0">
                <a:solidFill>
                  <a:srgbClr val="1B2433"/>
                </a:solidFill>
                <a:latin typeface="Arial"/>
                <a:cs typeface="Arial"/>
              </a:rPr>
              <a:t> </a:t>
            </a:r>
            <a:r>
              <a:rPr sz="950" dirty="0">
                <a:solidFill>
                  <a:srgbClr val="1B2433"/>
                </a:solidFill>
                <a:latin typeface="Arial"/>
                <a:cs typeface="Arial"/>
              </a:rPr>
              <a:t>%</a:t>
            </a:r>
            <a:r>
              <a:rPr sz="950" spc="50" dirty="0">
                <a:solidFill>
                  <a:srgbClr val="1B2433"/>
                </a:solidFill>
                <a:latin typeface="Arial"/>
                <a:cs typeface="Arial"/>
              </a:rPr>
              <a:t> </a:t>
            </a:r>
            <a:r>
              <a:rPr sz="950" dirty="0">
                <a:solidFill>
                  <a:srgbClr val="1B2433"/>
                </a:solidFill>
                <a:latin typeface="Arial"/>
                <a:cs typeface="Arial"/>
              </a:rPr>
              <a:t>=</a:t>
            </a:r>
            <a:r>
              <a:rPr sz="950" spc="50" dirty="0">
                <a:solidFill>
                  <a:srgbClr val="1B2433"/>
                </a:solidFill>
                <a:latin typeface="Arial"/>
                <a:cs typeface="Arial"/>
              </a:rPr>
              <a:t> </a:t>
            </a:r>
            <a:r>
              <a:rPr sz="950" dirty="0">
                <a:solidFill>
                  <a:srgbClr val="1B2433"/>
                </a:solidFill>
                <a:latin typeface="Arial"/>
                <a:cs typeface="Arial"/>
              </a:rPr>
              <a:t>40.044</a:t>
            </a:r>
            <a:r>
              <a:rPr sz="950" spc="50" dirty="0">
                <a:solidFill>
                  <a:srgbClr val="1B2433"/>
                </a:solidFill>
                <a:latin typeface="Arial"/>
                <a:cs typeface="Arial"/>
              </a:rPr>
              <a:t> </a:t>
            </a:r>
            <a:r>
              <a:rPr sz="950" spc="-50" dirty="0">
                <a:solidFill>
                  <a:srgbClr val="1B2433"/>
                </a:solidFill>
                <a:latin typeface="Arial"/>
                <a:cs typeface="Arial"/>
              </a:rPr>
              <a:t>%</a:t>
            </a:r>
            <a:endParaRPr sz="950">
              <a:latin typeface="Arial"/>
              <a:cs typeface="Arial"/>
            </a:endParaRPr>
          </a:p>
          <a:p>
            <a:pPr marL="63500">
              <a:lnSpc>
                <a:spcPct val="100000"/>
              </a:lnSpc>
              <a:spcBef>
                <a:spcPts val="585"/>
              </a:spcBef>
            </a:pPr>
            <a:r>
              <a:rPr sz="950" dirty="0">
                <a:solidFill>
                  <a:srgbClr val="1B2433"/>
                </a:solidFill>
                <a:latin typeface="Arial"/>
                <a:cs typeface="Arial"/>
              </a:rPr>
              <a:t>Route</a:t>
            </a:r>
            <a:r>
              <a:rPr sz="950" spc="-15" dirty="0">
                <a:solidFill>
                  <a:srgbClr val="1B2433"/>
                </a:solidFill>
                <a:latin typeface="Arial"/>
                <a:cs typeface="Arial"/>
              </a:rPr>
              <a:t> </a:t>
            </a:r>
            <a:r>
              <a:rPr sz="950" dirty="0">
                <a:solidFill>
                  <a:srgbClr val="1B2433"/>
                </a:solidFill>
                <a:latin typeface="Arial"/>
                <a:cs typeface="Arial"/>
              </a:rPr>
              <a:t>A:</a:t>
            </a:r>
            <a:r>
              <a:rPr sz="950" spc="50" dirty="0">
                <a:solidFill>
                  <a:srgbClr val="1B2433"/>
                </a:solidFill>
                <a:latin typeface="Arial"/>
                <a:cs typeface="Arial"/>
              </a:rPr>
              <a:t> </a:t>
            </a:r>
            <a:r>
              <a:rPr sz="950" dirty="0">
                <a:solidFill>
                  <a:srgbClr val="1B2433"/>
                </a:solidFill>
                <a:latin typeface="Arial"/>
                <a:cs typeface="Arial"/>
              </a:rPr>
              <a:t>280.94</a:t>
            </a:r>
            <a:r>
              <a:rPr sz="950" spc="55" dirty="0">
                <a:solidFill>
                  <a:srgbClr val="1B2433"/>
                </a:solidFill>
                <a:latin typeface="Arial"/>
                <a:cs typeface="Arial"/>
              </a:rPr>
              <a:t> </a:t>
            </a:r>
            <a:r>
              <a:rPr sz="950" dirty="0">
                <a:solidFill>
                  <a:srgbClr val="1B2433"/>
                </a:solidFill>
                <a:latin typeface="Arial"/>
                <a:cs typeface="Arial"/>
              </a:rPr>
              <a:t>mg</a:t>
            </a:r>
            <a:r>
              <a:rPr sz="950" spc="50" dirty="0">
                <a:solidFill>
                  <a:srgbClr val="1B2433"/>
                </a:solidFill>
                <a:latin typeface="Arial"/>
                <a:cs typeface="Arial"/>
              </a:rPr>
              <a:t> </a:t>
            </a:r>
            <a:r>
              <a:rPr sz="950" dirty="0">
                <a:solidFill>
                  <a:srgbClr val="1B2433"/>
                </a:solidFill>
                <a:latin typeface="Arial"/>
                <a:cs typeface="Arial"/>
              </a:rPr>
              <a:t>×</a:t>
            </a:r>
            <a:r>
              <a:rPr sz="950" spc="55" dirty="0">
                <a:solidFill>
                  <a:srgbClr val="1B2433"/>
                </a:solidFill>
                <a:latin typeface="Arial"/>
                <a:cs typeface="Arial"/>
              </a:rPr>
              <a:t> </a:t>
            </a:r>
            <a:r>
              <a:rPr sz="950" dirty="0">
                <a:solidFill>
                  <a:srgbClr val="1B2433"/>
                </a:solidFill>
                <a:latin typeface="Arial"/>
                <a:cs typeface="Arial"/>
              </a:rPr>
              <a:t>0.40044</a:t>
            </a:r>
            <a:r>
              <a:rPr sz="950" spc="50" dirty="0">
                <a:solidFill>
                  <a:srgbClr val="1B2433"/>
                </a:solidFill>
                <a:latin typeface="Arial"/>
                <a:cs typeface="Arial"/>
              </a:rPr>
              <a:t> </a:t>
            </a:r>
            <a:r>
              <a:rPr sz="950" dirty="0">
                <a:solidFill>
                  <a:srgbClr val="1B2433"/>
                </a:solidFill>
                <a:latin typeface="Arial"/>
                <a:cs typeface="Arial"/>
              </a:rPr>
              <a:t>=</a:t>
            </a:r>
            <a:r>
              <a:rPr sz="950" spc="50" dirty="0">
                <a:solidFill>
                  <a:srgbClr val="1B2433"/>
                </a:solidFill>
                <a:latin typeface="Arial"/>
                <a:cs typeface="Arial"/>
              </a:rPr>
              <a:t> </a:t>
            </a:r>
            <a:r>
              <a:rPr sz="950" dirty="0">
                <a:solidFill>
                  <a:srgbClr val="596474"/>
                </a:solidFill>
                <a:latin typeface="Arial"/>
                <a:cs typeface="Arial"/>
              </a:rPr>
              <a:t>112.50</a:t>
            </a:r>
            <a:r>
              <a:rPr sz="950" spc="55" dirty="0">
                <a:solidFill>
                  <a:srgbClr val="596474"/>
                </a:solidFill>
                <a:latin typeface="Arial"/>
                <a:cs typeface="Arial"/>
              </a:rPr>
              <a:t> </a:t>
            </a:r>
            <a:r>
              <a:rPr sz="950" spc="-25" dirty="0">
                <a:solidFill>
                  <a:srgbClr val="596474"/>
                </a:solidFill>
                <a:latin typeface="Arial"/>
                <a:cs typeface="Arial"/>
              </a:rPr>
              <a:t>mg</a:t>
            </a:r>
            <a:endParaRPr sz="950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365"/>
              </a:spcBef>
            </a:pPr>
            <a:endParaRPr sz="950">
              <a:latin typeface="Arial"/>
              <a:cs typeface="Arial"/>
            </a:endParaRPr>
          </a:p>
          <a:p>
            <a:pPr marL="63500">
              <a:lnSpc>
                <a:spcPts val="994"/>
              </a:lnSpc>
              <a:spcBef>
                <a:spcPts val="5"/>
              </a:spcBef>
            </a:pPr>
            <a:r>
              <a:rPr sz="950" dirty="0">
                <a:solidFill>
                  <a:srgbClr val="1B2433"/>
                </a:solidFill>
                <a:latin typeface="Arial"/>
                <a:cs typeface="Arial"/>
              </a:rPr>
              <a:t>Route</a:t>
            </a:r>
            <a:r>
              <a:rPr sz="950" spc="25" dirty="0">
                <a:solidFill>
                  <a:srgbClr val="1B2433"/>
                </a:solidFill>
                <a:latin typeface="Arial"/>
                <a:cs typeface="Arial"/>
              </a:rPr>
              <a:t> </a:t>
            </a:r>
            <a:r>
              <a:rPr sz="950" dirty="0">
                <a:solidFill>
                  <a:srgbClr val="1B2433"/>
                </a:solidFill>
                <a:latin typeface="Arial"/>
                <a:cs typeface="Arial"/>
              </a:rPr>
              <a:t>B:</a:t>
            </a:r>
            <a:r>
              <a:rPr sz="950" spc="30" dirty="0">
                <a:solidFill>
                  <a:srgbClr val="1B2433"/>
                </a:solidFill>
                <a:latin typeface="Arial"/>
                <a:cs typeface="Arial"/>
              </a:rPr>
              <a:t> </a:t>
            </a:r>
            <a:r>
              <a:rPr sz="950" dirty="0">
                <a:solidFill>
                  <a:srgbClr val="1B2433"/>
                </a:solidFill>
                <a:latin typeface="Arial"/>
                <a:cs typeface="Arial"/>
              </a:rPr>
              <a:t>2.8070</a:t>
            </a:r>
            <a:r>
              <a:rPr sz="950" spc="30" dirty="0">
                <a:solidFill>
                  <a:srgbClr val="1B2433"/>
                </a:solidFill>
                <a:latin typeface="Arial"/>
                <a:cs typeface="Arial"/>
              </a:rPr>
              <a:t> </a:t>
            </a:r>
            <a:r>
              <a:rPr sz="950" dirty="0">
                <a:solidFill>
                  <a:srgbClr val="1B2433"/>
                </a:solidFill>
                <a:latin typeface="Arial"/>
                <a:cs typeface="Arial"/>
              </a:rPr>
              <a:t>×</a:t>
            </a:r>
            <a:r>
              <a:rPr sz="950" spc="30" dirty="0">
                <a:solidFill>
                  <a:srgbClr val="1B2433"/>
                </a:solidFill>
                <a:latin typeface="Arial"/>
                <a:cs typeface="Arial"/>
              </a:rPr>
              <a:t> </a:t>
            </a:r>
            <a:r>
              <a:rPr sz="950" dirty="0">
                <a:solidFill>
                  <a:srgbClr val="1B2433"/>
                </a:solidFill>
                <a:latin typeface="Arial"/>
                <a:cs typeface="Arial"/>
              </a:rPr>
              <a:t>10</a:t>
            </a:r>
            <a:r>
              <a:rPr sz="1200" baseline="27777" dirty="0">
                <a:solidFill>
                  <a:srgbClr val="1B2433"/>
                </a:solidFill>
                <a:latin typeface="Arial"/>
                <a:cs typeface="Arial"/>
              </a:rPr>
              <a:t>−3</a:t>
            </a:r>
            <a:r>
              <a:rPr sz="1200" spc="112" baseline="27777" dirty="0">
                <a:solidFill>
                  <a:srgbClr val="1B2433"/>
                </a:solidFill>
                <a:latin typeface="Arial"/>
                <a:cs typeface="Arial"/>
              </a:rPr>
              <a:t> </a:t>
            </a:r>
            <a:r>
              <a:rPr sz="950" dirty="0">
                <a:solidFill>
                  <a:srgbClr val="1B2433"/>
                </a:solidFill>
                <a:latin typeface="Arial"/>
                <a:cs typeface="Arial"/>
              </a:rPr>
              <a:t>mol</a:t>
            </a:r>
            <a:r>
              <a:rPr sz="950" spc="30" dirty="0">
                <a:solidFill>
                  <a:srgbClr val="1B2433"/>
                </a:solidFill>
                <a:latin typeface="Arial"/>
                <a:cs typeface="Arial"/>
              </a:rPr>
              <a:t> </a:t>
            </a:r>
            <a:r>
              <a:rPr sz="950" dirty="0">
                <a:solidFill>
                  <a:srgbClr val="1B2433"/>
                </a:solidFill>
                <a:latin typeface="Arial"/>
                <a:cs typeface="Arial"/>
              </a:rPr>
              <a:t>×</a:t>
            </a:r>
            <a:r>
              <a:rPr sz="950" spc="434" dirty="0">
                <a:solidFill>
                  <a:srgbClr val="1B2433"/>
                </a:solidFill>
                <a:latin typeface="Arial"/>
                <a:cs typeface="Arial"/>
              </a:rPr>
              <a:t> </a:t>
            </a:r>
            <a:r>
              <a:rPr sz="1425" baseline="52631" dirty="0">
                <a:solidFill>
                  <a:srgbClr val="1B2433"/>
                </a:solidFill>
                <a:latin typeface="Arial"/>
                <a:cs typeface="Arial"/>
              </a:rPr>
              <a:t>1</a:t>
            </a:r>
            <a:r>
              <a:rPr sz="1425" spc="44" baseline="52631" dirty="0">
                <a:solidFill>
                  <a:srgbClr val="1B2433"/>
                </a:solidFill>
                <a:latin typeface="Arial"/>
                <a:cs typeface="Arial"/>
              </a:rPr>
              <a:t> </a:t>
            </a:r>
            <a:r>
              <a:rPr sz="1425" baseline="52631" dirty="0">
                <a:solidFill>
                  <a:srgbClr val="1B2433"/>
                </a:solidFill>
                <a:latin typeface="Arial"/>
                <a:cs typeface="Arial"/>
              </a:rPr>
              <a:t>mol</a:t>
            </a:r>
            <a:r>
              <a:rPr sz="1425" spc="44" baseline="52631" dirty="0">
                <a:solidFill>
                  <a:srgbClr val="1B2433"/>
                </a:solidFill>
                <a:latin typeface="Arial"/>
                <a:cs typeface="Arial"/>
              </a:rPr>
              <a:t> </a:t>
            </a:r>
            <a:r>
              <a:rPr sz="1425" baseline="52631" dirty="0">
                <a:solidFill>
                  <a:srgbClr val="1B2433"/>
                </a:solidFill>
                <a:latin typeface="Arial"/>
                <a:cs typeface="Arial"/>
              </a:rPr>
              <a:t>Ca</a:t>
            </a:r>
            <a:r>
              <a:rPr sz="1425" spc="644" baseline="52631" dirty="0">
                <a:solidFill>
                  <a:srgbClr val="1B2433"/>
                </a:solidFill>
                <a:latin typeface="Arial"/>
                <a:cs typeface="Arial"/>
              </a:rPr>
              <a:t> </a:t>
            </a:r>
            <a:r>
              <a:rPr sz="950" dirty="0">
                <a:solidFill>
                  <a:srgbClr val="1B2433"/>
                </a:solidFill>
                <a:latin typeface="Arial"/>
                <a:cs typeface="Arial"/>
              </a:rPr>
              <a:t>×</a:t>
            </a:r>
            <a:r>
              <a:rPr sz="950" spc="434" dirty="0">
                <a:solidFill>
                  <a:srgbClr val="1B2433"/>
                </a:solidFill>
                <a:latin typeface="Arial"/>
                <a:cs typeface="Arial"/>
              </a:rPr>
              <a:t> </a:t>
            </a:r>
            <a:r>
              <a:rPr sz="1425" baseline="52631" dirty="0">
                <a:solidFill>
                  <a:srgbClr val="1B2433"/>
                </a:solidFill>
                <a:latin typeface="Arial"/>
                <a:cs typeface="Arial"/>
              </a:rPr>
              <a:t>40.078</a:t>
            </a:r>
            <a:r>
              <a:rPr sz="1425" spc="44" baseline="52631" dirty="0">
                <a:solidFill>
                  <a:srgbClr val="1B2433"/>
                </a:solidFill>
                <a:latin typeface="Arial"/>
                <a:cs typeface="Arial"/>
              </a:rPr>
              <a:t> </a:t>
            </a:r>
            <a:r>
              <a:rPr sz="1425" baseline="52631" dirty="0">
                <a:solidFill>
                  <a:srgbClr val="1B2433"/>
                </a:solidFill>
                <a:latin typeface="Arial"/>
                <a:cs typeface="Arial"/>
              </a:rPr>
              <a:t>g</a:t>
            </a:r>
            <a:r>
              <a:rPr sz="1425" spc="652" baseline="52631" dirty="0">
                <a:solidFill>
                  <a:srgbClr val="1B2433"/>
                </a:solidFill>
                <a:latin typeface="Arial"/>
                <a:cs typeface="Arial"/>
              </a:rPr>
              <a:t> </a:t>
            </a:r>
            <a:r>
              <a:rPr sz="950" dirty="0">
                <a:solidFill>
                  <a:srgbClr val="1B2433"/>
                </a:solidFill>
                <a:latin typeface="Arial"/>
                <a:cs typeface="Arial"/>
              </a:rPr>
              <a:t>×</a:t>
            </a:r>
            <a:r>
              <a:rPr sz="950" spc="430" dirty="0">
                <a:solidFill>
                  <a:srgbClr val="1B2433"/>
                </a:solidFill>
                <a:latin typeface="Arial"/>
                <a:cs typeface="Arial"/>
              </a:rPr>
              <a:t> </a:t>
            </a:r>
            <a:r>
              <a:rPr sz="1425" baseline="52631" dirty="0">
                <a:solidFill>
                  <a:srgbClr val="1B2433"/>
                </a:solidFill>
                <a:latin typeface="Arial"/>
                <a:cs typeface="Arial"/>
              </a:rPr>
              <a:t>1000</a:t>
            </a:r>
            <a:r>
              <a:rPr sz="1425" spc="44" baseline="52631" dirty="0">
                <a:solidFill>
                  <a:srgbClr val="1B2433"/>
                </a:solidFill>
                <a:latin typeface="Arial"/>
                <a:cs typeface="Arial"/>
              </a:rPr>
              <a:t> </a:t>
            </a:r>
            <a:r>
              <a:rPr sz="1425" baseline="52631" dirty="0">
                <a:solidFill>
                  <a:srgbClr val="1B2433"/>
                </a:solidFill>
                <a:latin typeface="Arial"/>
                <a:cs typeface="Arial"/>
              </a:rPr>
              <a:t>mg</a:t>
            </a:r>
            <a:r>
              <a:rPr sz="1425" spc="652" baseline="52631" dirty="0">
                <a:solidFill>
                  <a:srgbClr val="1B2433"/>
                </a:solidFill>
                <a:latin typeface="Arial"/>
                <a:cs typeface="Arial"/>
              </a:rPr>
              <a:t> </a:t>
            </a:r>
            <a:r>
              <a:rPr sz="950" dirty="0">
                <a:solidFill>
                  <a:srgbClr val="1B2433"/>
                </a:solidFill>
                <a:latin typeface="Arial"/>
                <a:cs typeface="Arial"/>
              </a:rPr>
              <a:t>=</a:t>
            </a:r>
            <a:r>
              <a:rPr sz="950" spc="30" dirty="0">
                <a:solidFill>
                  <a:srgbClr val="1B2433"/>
                </a:solidFill>
                <a:latin typeface="Arial"/>
                <a:cs typeface="Arial"/>
              </a:rPr>
              <a:t> </a:t>
            </a:r>
            <a:r>
              <a:rPr sz="950" dirty="0">
                <a:solidFill>
                  <a:srgbClr val="596474"/>
                </a:solidFill>
                <a:latin typeface="Arial"/>
                <a:cs typeface="Arial"/>
              </a:rPr>
              <a:t>112.50</a:t>
            </a:r>
            <a:r>
              <a:rPr sz="950" spc="30" dirty="0">
                <a:solidFill>
                  <a:srgbClr val="596474"/>
                </a:solidFill>
                <a:latin typeface="Arial"/>
                <a:cs typeface="Arial"/>
              </a:rPr>
              <a:t> </a:t>
            </a:r>
            <a:r>
              <a:rPr sz="950" spc="-25" dirty="0">
                <a:solidFill>
                  <a:srgbClr val="596474"/>
                </a:solidFill>
                <a:latin typeface="Arial"/>
                <a:cs typeface="Arial"/>
              </a:rPr>
              <a:t>mg</a:t>
            </a:r>
            <a:endParaRPr sz="950">
              <a:latin typeface="Arial"/>
              <a:cs typeface="Arial"/>
            </a:endParaRPr>
          </a:p>
          <a:p>
            <a:pPr marL="1873885">
              <a:lnSpc>
                <a:spcPts val="994"/>
              </a:lnSpc>
              <a:tabLst>
                <a:tab pos="2599055" algn="l"/>
                <a:tab pos="3383279" algn="l"/>
              </a:tabLst>
            </a:pPr>
            <a:r>
              <a:rPr sz="950" dirty="0">
                <a:solidFill>
                  <a:srgbClr val="1B2433"/>
                </a:solidFill>
                <a:latin typeface="Arial"/>
                <a:cs typeface="Arial"/>
              </a:rPr>
              <a:t>1</a:t>
            </a:r>
            <a:r>
              <a:rPr sz="950" spc="20" dirty="0">
                <a:solidFill>
                  <a:srgbClr val="1B2433"/>
                </a:solidFill>
                <a:latin typeface="Arial"/>
                <a:cs typeface="Arial"/>
              </a:rPr>
              <a:t> </a:t>
            </a:r>
            <a:r>
              <a:rPr sz="950" spc="-25" dirty="0">
                <a:solidFill>
                  <a:srgbClr val="1B2433"/>
                </a:solidFill>
                <a:latin typeface="Arial"/>
                <a:cs typeface="Arial"/>
              </a:rPr>
              <a:t>mol</a:t>
            </a:r>
            <a:r>
              <a:rPr sz="950" dirty="0">
                <a:solidFill>
                  <a:srgbClr val="1B2433"/>
                </a:solidFill>
                <a:latin typeface="Arial"/>
                <a:cs typeface="Arial"/>
              </a:rPr>
              <a:t>	1</a:t>
            </a:r>
            <a:r>
              <a:rPr sz="950" spc="20" dirty="0">
                <a:solidFill>
                  <a:srgbClr val="1B2433"/>
                </a:solidFill>
                <a:latin typeface="Arial"/>
                <a:cs typeface="Arial"/>
              </a:rPr>
              <a:t> </a:t>
            </a:r>
            <a:r>
              <a:rPr sz="950" spc="-25" dirty="0">
                <a:solidFill>
                  <a:srgbClr val="1B2433"/>
                </a:solidFill>
                <a:latin typeface="Arial"/>
                <a:cs typeface="Arial"/>
              </a:rPr>
              <a:t>mol</a:t>
            </a:r>
            <a:r>
              <a:rPr sz="950" dirty="0">
                <a:solidFill>
                  <a:srgbClr val="1B2433"/>
                </a:solidFill>
                <a:latin typeface="Arial"/>
                <a:cs typeface="Arial"/>
              </a:rPr>
              <a:t>	1</a:t>
            </a:r>
            <a:r>
              <a:rPr sz="950" spc="20" dirty="0">
                <a:solidFill>
                  <a:srgbClr val="1B2433"/>
                </a:solidFill>
                <a:latin typeface="Arial"/>
                <a:cs typeface="Arial"/>
              </a:rPr>
              <a:t> </a:t>
            </a:r>
            <a:r>
              <a:rPr sz="950" spc="-50" dirty="0">
                <a:solidFill>
                  <a:srgbClr val="1B2433"/>
                </a:solidFill>
                <a:latin typeface="Arial"/>
                <a:cs typeface="Arial"/>
              </a:rPr>
              <a:t>g</a:t>
            </a:r>
            <a:endParaRPr sz="950">
              <a:latin typeface="Arial"/>
              <a:cs typeface="Arial"/>
            </a:endParaRPr>
          </a:p>
          <a:p>
            <a:pPr marL="63500">
              <a:lnSpc>
                <a:spcPct val="100000"/>
              </a:lnSpc>
              <a:spcBef>
                <a:spcPts val="830"/>
              </a:spcBef>
            </a:pPr>
            <a:r>
              <a:rPr sz="950" dirty="0">
                <a:solidFill>
                  <a:srgbClr val="1B2433"/>
                </a:solidFill>
                <a:latin typeface="Arial"/>
                <a:cs typeface="Arial"/>
              </a:rPr>
              <a:t>Both</a:t>
            </a:r>
            <a:r>
              <a:rPr sz="950" spc="40" dirty="0">
                <a:solidFill>
                  <a:srgbClr val="1B2433"/>
                </a:solidFill>
                <a:latin typeface="Arial"/>
                <a:cs typeface="Arial"/>
              </a:rPr>
              <a:t> </a:t>
            </a:r>
            <a:r>
              <a:rPr sz="950" dirty="0">
                <a:solidFill>
                  <a:srgbClr val="1B2433"/>
                </a:solidFill>
                <a:latin typeface="Arial"/>
                <a:cs typeface="Arial"/>
              </a:rPr>
              <a:t>routes</a:t>
            </a:r>
            <a:r>
              <a:rPr sz="950" spc="40" dirty="0">
                <a:solidFill>
                  <a:srgbClr val="1B2433"/>
                </a:solidFill>
                <a:latin typeface="Arial"/>
                <a:cs typeface="Arial"/>
              </a:rPr>
              <a:t> </a:t>
            </a:r>
            <a:r>
              <a:rPr sz="950" dirty="0">
                <a:solidFill>
                  <a:srgbClr val="1B2433"/>
                </a:solidFill>
                <a:latin typeface="Arial"/>
                <a:cs typeface="Arial"/>
              </a:rPr>
              <a:t>→</a:t>
            </a:r>
            <a:r>
              <a:rPr sz="950" spc="40" dirty="0">
                <a:solidFill>
                  <a:srgbClr val="1B2433"/>
                </a:solidFill>
                <a:latin typeface="Arial"/>
                <a:cs typeface="Arial"/>
              </a:rPr>
              <a:t> </a:t>
            </a:r>
            <a:r>
              <a:rPr sz="950" b="1" dirty="0">
                <a:solidFill>
                  <a:srgbClr val="D32E2E"/>
                </a:solidFill>
                <a:latin typeface="Arial"/>
                <a:cs typeface="Arial"/>
              </a:rPr>
              <a:t>1.125</a:t>
            </a:r>
            <a:r>
              <a:rPr sz="950" b="1" spc="40" dirty="0">
                <a:solidFill>
                  <a:srgbClr val="D32E2E"/>
                </a:solidFill>
                <a:latin typeface="Arial"/>
                <a:cs typeface="Arial"/>
              </a:rPr>
              <a:t> </a:t>
            </a:r>
            <a:r>
              <a:rPr sz="950" b="1" dirty="0">
                <a:solidFill>
                  <a:srgbClr val="D32E2E"/>
                </a:solidFill>
                <a:latin typeface="Arial"/>
                <a:cs typeface="Arial"/>
              </a:rPr>
              <a:t>×</a:t>
            </a:r>
            <a:r>
              <a:rPr sz="950" b="1" spc="40" dirty="0">
                <a:solidFill>
                  <a:srgbClr val="D32E2E"/>
                </a:solidFill>
                <a:latin typeface="Arial"/>
                <a:cs typeface="Arial"/>
              </a:rPr>
              <a:t> </a:t>
            </a:r>
            <a:r>
              <a:rPr sz="950" b="1" dirty="0">
                <a:solidFill>
                  <a:srgbClr val="D32E2E"/>
                </a:solidFill>
                <a:latin typeface="Arial"/>
                <a:cs typeface="Arial"/>
              </a:rPr>
              <a:t>10</a:t>
            </a:r>
            <a:r>
              <a:rPr sz="1200" b="1" baseline="27777" dirty="0">
                <a:solidFill>
                  <a:srgbClr val="D32E2E"/>
                </a:solidFill>
                <a:latin typeface="Arial"/>
                <a:cs typeface="Arial"/>
              </a:rPr>
              <a:t>2</a:t>
            </a:r>
            <a:r>
              <a:rPr sz="1200" b="1" spc="120" baseline="27777" dirty="0">
                <a:solidFill>
                  <a:srgbClr val="D32E2E"/>
                </a:solidFill>
                <a:latin typeface="Arial"/>
                <a:cs typeface="Arial"/>
              </a:rPr>
              <a:t> </a:t>
            </a:r>
            <a:r>
              <a:rPr sz="950" b="1" dirty="0">
                <a:solidFill>
                  <a:srgbClr val="D32E2E"/>
                </a:solidFill>
                <a:latin typeface="Arial"/>
                <a:cs typeface="Arial"/>
              </a:rPr>
              <a:t>mg</a:t>
            </a:r>
            <a:r>
              <a:rPr sz="950" b="1" spc="40" dirty="0">
                <a:solidFill>
                  <a:srgbClr val="D32E2E"/>
                </a:solidFill>
                <a:latin typeface="Arial"/>
                <a:cs typeface="Arial"/>
              </a:rPr>
              <a:t> </a:t>
            </a:r>
            <a:r>
              <a:rPr sz="950" b="1" dirty="0">
                <a:solidFill>
                  <a:srgbClr val="D32E2E"/>
                </a:solidFill>
                <a:latin typeface="Arial"/>
                <a:cs typeface="Arial"/>
              </a:rPr>
              <a:t>Ca</a:t>
            </a:r>
            <a:r>
              <a:rPr sz="950" b="1" spc="40" dirty="0">
                <a:solidFill>
                  <a:srgbClr val="D32E2E"/>
                </a:solidFill>
                <a:latin typeface="Arial"/>
                <a:cs typeface="Arial"/>
              </a:rPr>
              <a:t> </a:t>
            </a:r>
            <a:r>
              <a:rPr sz="950" dirty="0">
                <a:solidFill>
                  <a:srgbClr val="D32E2E"/>
                </a:solidFill>
                <a:latin typeface="Segoe UI Symbol"/>
                <a:cs typeface="Segoe UI Symbol"/>
              </a:rPr>
              <a:t>✔</a:t>
            </a:r>
            <a:r>
              <a:rPr sz="950" spc="95" dirty="0">
                <a:solidFill>
                  <a:srgbClr val="D32E2E"/>
                </a:solidFill>
                <a:latin typeface="Segoe UI Symbol"/>
                <a:cs typeface="Segoe UI Symbol"/>
              </a:rPr>
              <a:t> </a:t>
            </a:r>
            <a:r>
              <a:rPr sz="950" b="1" spc="-10" dirty="0">
                <a:solidFill>
                  <a:srgbClr val="D32E2E"/>
                </a:solidFill>
                <a:latin typeface="Arial"/>
                <a:cs typeface="Arial"/>
              </a:rPr>
              <a:t>agree</a:t>
            </a:r>
            <a:endParaRPr sz="950">
              <a:latin typeface="Arial"/>
              <a:cs typeface="Arial"/>
            </a:endParaRPr>
          </a:p>
        </p:txBody>
      </p:sp>
      <p:grpSp>
        <p:nvGrpSpPr>
          <p:cNvPr id="73" name="object 73"/>
          <p:cNvGrpSpPr/>
          <p:nvPr/>
        </p:nvGrpSpPr>
        <p:grpSpPr>
          <a:xfrm>
            <a:off x="390524" y="8620124"/>
            <a:ext cx="1325245" cy="400050"/>
            <a:chOff x="390524" y="8620124"/>
            <a:chExt cx="1325245" cy="400050"/>
          </a:xfrm>
        </p:grpSpPr>
        <p:sp>
          <p:nvSpPr>
            <p:cNvPr id="74" name="object 74"/>
            <p:cNvSpPr/>
            <p:nvPr/>
          </p:nvSpPr>
          <p:spPr>
            <a:xfrm>
              <a:off x="1646783" y="8620124"/>
              <a:ext cx="69215" cy="19050"/>
            </a:xfrm>
            <a:custGeom>
              <a:avLst/>
              <a:gdLst/>
              <a:ahLst/>
              <a:cxnLst/>
              <a:rect l="l" t="t" r="r" b="b"/>
              <a:pathLst>
                <a:path w="69214" h="19050">
                  <a:moveTo>
                    <a:pt x="68907" y="19049"/>
                  </a:moveTo>
                  <a:lnTo>
                    <a:pt x="0" y="19049"/>
                  </a:lnTo>
                  <a:lnTo>
                    <a:pt x="0" y="0"/>
                  </a:lnTo>
                  <a:lnTo>
                    <a:pt x="68907" y="0"/>
                  </a:lnTo>
                  <a:lnTo>
                    <a:pt x="68907" y="19049"/>
                  </a:lnTo>
                  <a:close/>
                </a:path>
              </a:pathLst>
            </a:custGeom>
            <a:solidFill>
              <a:srgbClr val="D32E2E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75" name="object 75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390524" y="8829674"/>
              <a:ext cx="190500" cy="190499"/>
            </a:xfrm>
            <a:prstGeom prst="rect">
              <a:avLst/>
            </a:prstGeom>
          </p:spPr>
        </p:pic>
      </p:grpSp>
      <p:sp>
        <p:nvSpPr>
          <p:cNvPr id="77" name="object 77"/>
          <p:cNvSpPr txBox="1"/>
          <p:nvPr/>
        </p:nvSpPr>
        <p:spPr>
          <a:xfrm>
            <a:off x="453925" y="8826500"/>
            <a:ext cx="1525270" cy="173990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125"/>
              </a:spcBef>
            </a:pPr>
            <a:r>
              <a:rPr sz="900" b="1" dirty="0">
                <a:solidFill>
                  <a:srgbClr val="FFFFFF"/>
                </a:solidFill>
                <a:latin typeface="Arial"/>
                <a:cs typeface="Arial"/>
              </a:rPr>
              <a:t>4</a:t>
            </a:r>
            <a:r>
              <a:rPr sz="900" b="1" spc="270" dirty="0">
                <a:solidFill>
                  <a:srgbClr val="FFFFFF"/>
                </a:solidFill>
                <a:latin typeface="Arial"/>
                <a:cs typeface="Arial"/>
              </a:rPr>
              <a:t>  </a:t>
            </a:r>
            <a:r>
              <a:rPr sz="950" b="1" dirty="0">
                <a:solidFill>
                  <a:srgbClr val="4A0D4E"/>
                </a:solidFill>
                <a:latin typeface="Arial"/>
                <a:cs typeface="Arial"/>
              </a:rPr>
              <a:t>Moles</a:t>
            </a:r>
            <a:r>
              <a:rPr sz="950" b="1" spc="30" dirty="0">
                <a:solidFill>
                  <a:srgbClr val="4A0D4E"/>
                </a:solidFill>
                <a:latin typeface="Arial"/>
                <a:cs typeface="Arial"/>
              </a:rPr>
              <a:t> </a:t>
            </a:r>
            <a:r>
              <a:rPr sz="950" b="1" dirty="0">
                <a:solidFill>
                  <a:srgbClr val="4A0D4E"/>
                </a:solidFill>
                <a:latin typeface="Arial"/>
                <a:cs typeface="Arial"/>
              </a:rPr>
              <a:t>→</a:t>
            </a:r>
            <a:r>
              <a:rPr sz="950" b="1" spc="30" dirty="0">
                <a:solidFill>
                  <a:srgbClr val="4A0D4E"/>
                </a:solidFill>
                <a:latin typeface="Arial"/>
                <a:cs typeface="Arial"/>
              </a:rPr>
              <a:t> </a:t>
            </a:r>
            <a:r>
              <a:rPr sz="950" b="1" dirty="0">
                <a:solidFill>
                  <a:srgbClr val="4A0D4E"/>
                </a:solidFill>
                <a:latin typeface="Arial"/>
                <a:cs typeface="Arial"/>
              </a:rPr>
              <a:t>formula</a:t>
            </a:r>
            <a:r>
              <a:rPr sz="950" b="1" spc="30" dirty="0">
                <a:solidFill>
                  <a:srgbClr val="4A0D4E"/>
                </a:solidFill>
                <a:latin typeface="Arial"/>
                <a:cs typeface="Arial"/>
              </a:rPr>
              <a:t> </a:t>
            </a:r>
            <a:r>
              <a:rPr sz="950" b="1" spc="-10" dirty="0">
                <a:solidFill>
                  <a:srgbClr val="4A0D4E"/>
                </a:solidFill>
                <a:latin typeface="Arial"/>
                <a:cs typeface="Arial"/>
              </a:rPr>
              <a:t>units</a:t>
            </a:r>
            <a:endParaRPr sz="950">
              <a:latin typeface="Arial"/>
              <a:cs typeface="Arial"/>
            </a:endParaRPr>
          </a:p>
        </p:txBody>
      </p:sp>
      <p:sp>
        <p:nvSpPr>
          <p:cNvPr id="79" name="object 79"/>
          <p:cNvSpPr txBox="1"/>
          <p:nvPr/>
        </p:nvSpPr>
        <p:spPr>
          <a:xfrm>
            <a:off x="1563488" y="9077275"/>
            <a:ext cx="1476375" cy="173990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25400">
              <a:lnSpc>
                <a:spcPct val="100000"/>
              </a:lnSpc>
              <a:spcBef>
                <a:spcPts val="125"/>
              </a:spcBef>
            </a:pPr>
            <a:r>
              <a:rPr sz="950" dirty="0">
                <a:solidFill>
                  <a:srgbClr val="1B2433"/>
                </a:solidFill>
                <a:latin typeface="Arial"/>
                <a:cs typeface="Arial"/>
              </a:rPr>
              <a:t>6.022</a:t>
            </a:r>
            <a:r>
              <a:rPr sz="950" spc="40" dirty="0">
                <a:solidFill>
                  <a:srgbClr val="1B2433"/>
                </a:solidFill>
                <a:latin typeface="Arial"/>
                <a:cs typeface="Arial"/>
              </a:rPr>
              <a:t> </a:t>
            </a:r>
            <a:r>
              <a:rPr sz="950" dirty="0">
                <a:solidFill>
                  <a:srgbClr val="1B2433"/>
                </a:solidFill>
                <a:latin typeface="Arial"/>
                <a:cs typeface="Arial"/>
              </a:rPr>
              <a:t>140</a:t>
            </a:r>
            <a:r>
              <a:rPr sz="950" spc="45" dirty="0">
                <a:solidFill>
                  <a:srgbClr val="1B2433"/>
                </a:solidFill>
                <a:latin typeface="Arial"/>
                <a:cs typeface="Arial"/>
              </a:rPr>
              <a:t> </a:t>
            </a:r>
            <a:r>
              <a:rPr sz="950" dirty="0">
                <a:solidFill>
                  <a:srgbClr val="1B2433"/>
                </a:solidFill>
                <a:latin typeface="Arial"/>
                <a:cs typeface="Arial"/>
              </a:rPr>
              <a:t>76</a:t>
            </a:r>
            <a:r>
              <a:rPr sz="950" spc="45" dirty="0">
                <a:solidFill>
                  <a:srgbClr val="1B2433"/>
                </a:solidFill>
                <a:latin typeface="Arial"/>
                <a:cs typeface="Arial"/>
              </a:rPr>
              <a:t> </a:t>
            </a:r>
            <a:r>
              <a:rPr sz="950" dirty="0">
                <a:solidFill>
                  <a:srgbClr val="1B2433"/>
                </a:solidFill>
                <a:latin typeface="Arial"/>
                <a:cs typeface="Arial"/>
              </a:rPr>
              <a:t>×</a:t>
            </a:r>
            <a:r>
              <a:rPr sz="950" spc="40" dirty="0">
                <a:solidFill>
                  <a:srgbClr val="1B2433"/>
                </a:solidFill>
                <a:latin typeface="Arial"/>
                <a:cs typeface="Arial"/>
              </a:rPr>
              <a:t> </a:t>
            </a:r>
            <a:r>
              <a:rPr sz="950" dirty="0">
                <a:solidFill>
                  <a:srgbClr val="1B2433"/>
                </a:solidFill>
                <a:latin typeface="Arial"/>
                <a:cs typeface="Arial"/>
              </a:rPr>
              <a:t>10</a:t>
            </a:r>
            <a:r>
              <a:rPr sz="1200" baseline="27777" dirty="0">
                <a:solidFill>
                  <a:srgbClr val="1B2433"/>
                </a:solidFill>
                <a:latin typeface="Arial"/>
                <a:cs typeface="Arial"/>
              </a:rPr>
              <a:t>23</a:t>
            </a:r>
            <a:r>
              <a:rPr sz="1200" spc="127" baseline="27777" dirty="0">
                <a:solidFill>
                  <a:srgbClr val="1B2433"/>
                </a:solidFill>
                <a:latin typeface="Arial"/>
                <a:cs typeface="Arial"/>
              </a:rPr>
              <a:t> </a:t>
            </a:r>
            <a:r>
              <a:rPr sz="950" spc="-10" dirty="0">
                <a:solidFill>
                  <a:srgbClr val="1B2433"/>
                </a:solidFill>
                <a:latin typeface="Arial"/>
                <a:cs typeface="Arial"/>
              </a:rPr>
              <a:t>units</a:t>
            </a:r>
            <a:endParaRPr sz="950">
              <a:latin typeface="Arial"/>
              <a:cs typeface="Arial"/>
            </a:endParaRPr>
          </a:p>
        </p:txBody>
      </p:sp>
      <p:sp>
        <p:nvSpPr>
          <p:cNvPr id="78" name="object 78"/>
          <p:cNvSpPr/>
          <p:nvPr/>
        </p:nvSpPr>
        <p:spPr>
          <a:xfrm>
            <a:off x="1200442" y="9258311"/>
            <a:ext cx="1246505" cy="152400"/>
          </a:xfrm>
          <a:custGeom>
            <a:avLst/>
            <a:gdLst/>
            <a:ahLst/>
            <a:cxnLst/>
            <a:rect l="l" t="t" r="r" b="b"/>
            <a:pathLst>
              <a:path w="1246505" h="152400">
                <a:moveTo>
                  <a:pt x="199580" y="0"/>
                </a:moveTo>
                <a:lnTo>
                  <a:pt x="0" y="0"/>
                </a:lnTo>
                <a:lnTo>
                  <a:pt x="0" y="19050"/>
                </a:lnTo>
                <a:lnTo>
                  <a:pt x="199580" y="19050"/>
                </a:lnTo>
                <a:lnTo>
                  <a:pt x="199580" y="0"/>
                </a:lnTo>
                <a:close/>
              </a:path>
              <a:path w="1246505" h="152400">
                <a:moveTo>
                  <a:pt x="1246136" y="133350"/>
                </a:moveTo>
                <a:lnTo>
                  <a:pt x="1046556" y="133350"/>
                </a:lnTo>
                <a:lnTo>
                  <a:pt x="1046556" y="152400"/>
                </a:lnTo>
                <a:lnTo>
                  <a:pt x="1246136" y="152400"/>
                </a:lnTo>
                <a:lnTo>
                  <a:pt x="1246136" y="133350"/>
                </a:lnTo>
                <a:close/>
              </a:path>
            </a:pathLst>
          </a:custGeom>
          <a:solidFill>
            <a:srgbClr val="D32E2E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0" name="object 80"/>
          <p:cNvSpPr txBox="1"/>
          <p:nvPr/>
        </p:nvSpPr>
        <p:spPr>
          <a:xfrm>
            <a:off x="365124" y="9178925"/>
            <a:ext cx="5351145" cy="297815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25400">
              <a:lnSpc>
                <a:spcPts val="1055"/>
              </a:lnSpc>
              <a:spcBef>
                <a:spcPts val="125"/>
              </a:spcBef>
              <a:tabLst>
                <a:tab pos="2691765" algn="l"/>
              </a:tabLst>
            </a:pPr>
            <a:r>
              <a:rPr sz="1425" baseline="2923" dirty="0">
                <a:solidFill>
                  <a:srgbClr val="1B2433"/>
                </a:solidFill>
                <a:latin typeface="Arial"/>
                <a:cs typeface="Arial"/>
              </a:rPr>
              <a:t>2.8070</a:t>
            </a:r>
            <a:r>
              <a:rPr sz="1425" spc="112" baseline="2923" dirty="0">
                <a:solidFill>
                  <a:srgbClr val="1B2433"/>
                </a:solidFill>
                <a:latin typeface="Arial"/>
                <a:cs typeface="Arial"/>
              </a:rPr>
              <a:t> </a:t>
            </a:r>
            <a:r>
              <a:rPr sz="1425" baseline="2923" dirty="0">
                <a:solidFill>
                  <a:srgbClr val="1B2433"/>
                </a:solidFill>
                <a:latin typeface="Arial"/>
                <a:cs typeface="Arial"/>
              </a:rPr>
              <a:t>×</a:t>
            </a:r>
            <a:r>
              <a:rPr sz="1425" spc="112" baseline="2923" dirty="0">
                <a:solidFill>
                  <a:srgbClr val="1B2433"/>
                </a:solidFill>
                <a:latin typeface="Arial"/>
                <a:cs typeface="Arial"/>
              </a:rPr>
              <a:t> </a:t>
            </a:r>
            <a:r>
              <a:rPr sz="1425" baseline="2923" dirty="0">
                <a:solidFill>
                  <a:srgbClr val="1B2433"/>
                </a:solidFill>
                <a:latin typeface="Arial"/>
                <a:cs typeface="Arial"/>
              </a:rPr>
              <a:t>10</a:t>
            </a:r>
            <a:r>
              <a:rPr sz="1200" baseline="31250" dirty="0">
                <a:solidFill>
                  <a:srgbClr val="1B2433"/>
                </a:solidFill>
                <a:latin typeface="Arial"/>
                <a:cs typeface="Arial"/>
              </a:rPr>
              <a:t>−3</a:t>
            </a:r>
            <a:r>
              <a:rPr sz="1200" spc="187" baseline="31250" dirty="0">
                <a:solidFill>
                  <a:srgbClr val="1B2433"/>
                </a:solidFill>
                <a:latin typeface="Arial"/>
                <a:cs typeface="Arial"/>
              </a:rPr>
              <a:t> </a:t>
            </a:r>
            <a:r>
              <a:rPr sz="1425" baseline="2923" dirty="0">
                <a:solidFill>
                  <a:srgbClr val="1B2433"/>
                </a:solidFill>
                <a:latin typeface="Arial"/>
                <a:cs typeface="Arial"/>
              </a:rPr>
              <a:t>mol</a:t>
            </a:r>
            <a:r>
              <a:rPr sz="1425" spc="112" baseline="2923" dirty="0">
                <a:solidFill>
                  <a:srgbClr val="1B2433"/>
                </a:solidFill>
                <a:latin typeface="Arial"/>
                <a:cs typeface="Arial"/>
              </a:rPr>
              <a:t> </a:t>
            </a:r>
            <a:r>
              <a:rPr sz="1425" baseline="2923" dirty="0">
                <a:solidFill>
                  <a:srgbClr val="1B2433"/>
                </a:solidFill>
                <a:latin typeface="Arial"/>
                <a:cs typeface="Arial"/>
              </a:rPr>
              <a:t>×</a:t>
            </a:r>
            <a:r>
              <a:rPr sz="1425" spc="419" baseline="2923" dirty="0">
                <a:solidFill>
                  <a:srgbClr val="1B2433"/>
                </a:solidFill>
                <a:latin typeface="Arial"/>
                <a:cs typeface="Arial"/>
              </a:rPr>
              <a:t> </a:t>
            </a:r>
            <a:r>
              <a:rPr sz="1425" u="sng" baseline="2923" dirty="0">
                <a:solidFill>
                  <a:srgbClr val="1B2433"/>
                </a:solidFill>
                <a:uFill>
                  <a:solidFill>
                    <a:srgbClr val="1B2433"/>
                  </a:solidFill>
                </a:uFill>
                <a:latin typeface="Times New Roman"/>
                <a:cs typeface="Times New Roman"/>
              </a:rPr>
              <a:t>	</a:t>
            </a:r>
            <a:r>
              <a:rPr sz="1425" spc="-15" baseline="2923" dirty="0">
                <a:solidFill>
                  <a:srgbClr val="1B2433"/>
                </a:solidFill>
                <a:latin typeface="Times New Roman"/>
                <a:cs typeface="Times New Roman"/>
              </a:rPr>
              <a:t> </a:t>
            </a:r>
            <a:r>
              <a:rPr sz="1425" baseline="2923" dirty="0">
                <a:solidFill>
                  <a:srgbClr val="1B2433"/>
                </a:solidFill>
                <a:latin typeface="Arial"/>
                <a:cs typeface="Arial"/>
              </a:rPr>
              <a:t>=</a:t>
            </a:r>
            <a:r>
              <a:rPr sz="1425" spc="60" baseline="2923" dirty="0">
                <a:solidFill>
                  <a:srgbClr val="1B2433"/>
                </a:solidFill>
                <a:latin typeface="Arial"/>
                <a:cs typeface="Arial"/>
              </a:rPr>
              <a:t> </a:t>
            </a:r>
            <a:r>
              <a:rPr sz="950" dirty="0">
                <a:solidFill>
                  <a:srgbClr val="596474"/>
                </a:solidFill>
                <a:latin typeface="Arial"/>
                <a:cs typeface="Arial"/>
              </a:rPr>
              <a:t>1.6904</a:t>
            </a:r>
            <a:r>
              <a:rPr sz="950" spc="40" dirty="0">
                <a:solidFill>
                  <a:srgbClr val="596474"/>
                </a:solidFill>
                <a:latin typeface="Arial"/>
                <a:cs typeface="Arial"/>
              </a:rPr>
              <a:t> </a:t>
            </a:r>
            <a:r>
              <a:rPr sz="950" dirty="0">
                <a:solidFill>
                  <a:srgbClr val="596474"/>
                </a:solidFill>
                <a:latin typeface="Arial"/>
                <a:cs typeface="Arial"/>
              </a:rPr>
              <a:t>×</a:t>
            </a:r>
            <a:r>
              <a:rPr sz="950" spc="40" dirty="0">
                <a:solidFill>
                  <a:srgbClr val="596474"/>
                </a:solidFill>
                <a:latin typeface="Arial"/>
                <a:cs typeface="Arial"/>
              </a:rPr>
              <a:t> </a:t>
            </a:r>
            <a:r>
              <a:rPr sz="950" dirty="0">
                <a:solidFill>
                  <a:srgbClr val="596474"/>
                </a:solidFill>
                <a:latin typeface="Arial"/>
                <a:cs typeface="Arial"/>
              </a:rPr>
              <a:t>10</a:t>
            </a:r>
            <a:r>
              <a:rPr sz="1200" baseline="27777" dirty="0">
                <a:solidFill>
                  <a:srgbClr val="596474"/>
                </a:solidFill>
                <a:latin typeface="Arial"/>
                <a:cs typeface="Arial"/>
              </a:rPr>
              <a:t>21</a:t>
            </a:r>
            <a:r>
              <a:rPr sz="1200" spc="120" baseline="27777" dirty="0">
                <a:solidFill>
                  <a:srgbClr val="596474"/>
                </a:solidFill>
                <a:latin typeface="Arial"/>
                <a:cs typeface="Arial"/>
              </a:rPr>
              <a:t> </a:t>
            </a:r>
            <a:r>
              <a:rPr sz="1425" baseline="2923" dirty="0">
                <a:solidFill>
                  <a:srgbClr val="1B2433"/>
                </a:solidFill>
                <a:latin typeface="Arial"/>
                <a:cs typeface="Arial"/>
              </a:rPr>
              <a:t>→</a:t>
            </a:r>
            <a:r>
              <a:rPr sz="1425" spc="60" baseline="2923" dirty="0">
                <a:solidFill>
                  <a:srgbClr val="1B2433"/>
                </a:solidFill>
                <a:latin typeface="Arial"/>
                <a:cs typeface="Arial"/>
              </a:rPr>
              <a:t> </a:t>
            </a:r>
            <a:r>
              <a:rPr sz="950" b="1" dirty="0">
                <a:solidFill>
                  <a:srgbClr val="D32E2E"/>
                </a:solidFill>
                <a:latin typeface="Arial"/>
                <a:cs typeface="Arial"/>
              </a:rPr>
              <a:t>1.690</a:t>
            </a:r>
            <a:r>
              <a:rPr sz="950" b="1" spc="40" dirty="0">
                <a:solidFill>
                  <a:srgbClr val="D32E2E"/>
                </a:solidFill>
                <a:latin typeface="Arial"/>
                <a:cs typeface="Arial"/>
              </a:rPr>
              <a:t> </a:t>
            </a:r>
            <a:r>
              <a:rPr sz="950" b="1" dirty="0">
                <a:solidFill>
                  <a:srgbClr val="D32E2E"/>
                </a:solidFill>
                <a:latin typeface="Arial"/>
                <a:cs typeface="Arial"/>
              </a:rPr>
              <a:t>×</a:t>
            </a:r>
            <a:r>
              <a:rPr sz="950" b="1" spc="40" dirty="0">
                <a:solidFill>
                  <a:srgbClr val="D32E2E"/>
                </a:solidFill>
                <a:latin typeface="Arial"/>
                <a:cs typeface="Arial"/>
              </a:rPr>
              <a:t> </a:t>
            </a:r>
            <a:r>
              <a:rPr sz="950" b="1" dirty="0">
                <a:solidFill>
                  <a:srgbClr val="D32E2E"/>
                </a:solidFill>
                <a:latin typeface="Arial"/>
                <a:cs typeface="Arial"/>
              </a:rPr>
              <a:t>10</a:t>
            </a:r>
            <a:r>
              <a:rPr sz="1200" b="1" baseline="27777" dirty="0">
                <a:solidFill>
                  <a:srgbClr val="D32E2E"/>
                </a:solidFill>
                <a:latin typeface="Arial"/>
                <a:cs typeface="Arial"/>
              </a:rPr>
              <a:t>21</a:t>
            </a:r>
            <a:r>
              <a:rPr sz="1200" b="1" spc="120" baseline="27777" dirty="0">
                <a:solidFill>
                  <a:srgbClr val="D32E2E"/>
                </a:solidFill>
                <a:latin typeface="Arial"/>
                <a:cs typeface="Arial"/>
              </a:rPr>
              <a:t> </a:t>
            </a:r>
            <a:r>
              <a:rPr sz="950" b="1" dirty="0">
                <a:solidFill>
                  <a:srgbClr val="D32E2E"/>
                </a:solidFill>
                <a:latin typeface="Arial"/>
                <a:cs typeface="Arial"/>
              </a:rPr>
              <a:t>formula</a:t>
            </a:r>
            <a:r>
              <a:rPr sz="950" b="1" spc="40" dirty="0">
                <a:solidFill>
                  <a:srgbClr val="D32E2E"/>
                </a:solidFill>
                <a:latin typeface="Arial"/>
                <a:cs typeface="Arial"/>
              </a:rPr>
              <a:t> </a:t>
            </a:r>
            <a:r>
              <a:rPr sz="950" b="1" dirty="0">
                <a:solidFill>
                  <a:srgbClr val="D32E2E"/>
                </a:solidFill>
                <a:latin typeface="Arial"/>
                <a:cs typeface="Arial"/>
              </a:rPr>
              <a:t>units</a:t>
            </a:r>
            <a:endParaRPr sz="950">
              <a:latin typeface="Arial"/>
              <a:cs typeface="Arial"/>
            </a:endParaRPr>
          </a:p>
          <a:p>
            <a:pPr marL="1778000">
              <a:lnSpc>
                <a:spcPts val="1055"/>
              </a:lnSpc>
            </a:pPr>
            <a:r>
              <a:rPr sz="950" dirty="0">
                <a:solidFill>
                  <a:srgbClr val="1B2433"/>
                </a:solidFill>
                <a:latin typeface="Arial"/>
                <a:cs typeface="Arial"/>
              </a:rPr>
              <a:t>1</a:t>
            </a:r>
            <a:r>
              <a:rPr sz="950" spc="20" dirty="0">
                <a:solidFill>
                  <a:srgbClr val="1B2433"/>
                </a:solidFill>
                <a:latin typeface="Arial"/>
                <a:cs typeface="Arial"/>
              </a:rPr>
              <a:t> </a:t>
            </a:r>
            <a:r>
              <a:rPr sz="950" spc="-25" dirty="0">
                <a:solidFill>
                  <a:srgbClr val="1B2433"/>
                </a:solidFill>
                <a:latin typeface="Arial"/>
                <a:cs typeface="Arial"/>
              </a:rPr>
              <a:t>mol</a:t>
            </a:r>
            <a:endParaRPr sz="950">
              <a:latin typeface="Arial"/>
              <a:cs typeface="Arial"/>
            </a:endParaRPr>
          </a:p>
        </p:txBody>
      </p:sp>
      <p:grpSp>
        <p:nvGrpSpPr>
          <p:cNvPr id="99" name="object 99"/>
          <p:cNvGrpSpPr/>
          <p:nvPr/>
        </p:nvGrpSpPr>
        <p:grpSpPr>
          <a:xfrm>
            <a:off x="7791448" y="8743949"/>
            <a:ext cx="190500" cy="942975"/>
            <a:chOff x="7791448" y="8743949"/>
            <a:chExt cx="190500" cy="942975"/>
          </a:xfrm>
        </p:grpSpPr>
        <p:pic>
          <p:nvPicPr>
            <p:cNvPr id="100" name="object 100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7791448" y="8743949"/>
              <a:ext cx="190500" cy="190499"/>
            </a:xfrm>
            <a:prstGeom prst="rect">
              <a:avLst/>
            </a:prstGeom>
          </p:spPr>
        </p:pic>
        <p:pic>
          <p:nvPicPr>
            <p:cNvPr id="101" name="object 101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7791448" y="9496424"/>
              <a:ext cx="190500" cy="190499"/>
            </a:xfrm>
            <a:prstGeom prst="rect">
              <a:avLst/>
            </a:prstGeom>
          </p:spPr>
        </p:pic>
      </p:grpSp>
      <p:sp>
        <p:nvSpPr>
          <p:cNvPr id="102" name="object 102"/>
          <p:cNvSpPr txBox="1"/>
          <p:nvPr/>
        </p:nvSpPr>
        <p:spPr>
          <a:xfrm>
            <a:off x="7766050" y="8670289"/>
            <a:ext cx="5101590" cy="996950"/>
          </a:xfrm>
          <a:prstGeom prst="rect">
            <a:avLst/>
          </a:prstGeom>
        </p:spPr>
        <p:txBody>
          <a:bodyPr vert="horz" wrap="square" lIns="0" tIns="86360" rIns="0" bIns="0" rtlCol="0">
            <a:spAutoFit/>
          </a:bodyPr>
          <a:lstStyle/>
          <a:p>
            <a:pPr marL="272415" indent="-184150">
              <a:lnSpc>
                <a:spcPct val="100000"/>
              </a:lnSpc>
              <a:spcBef>
                <a:spcPts val="680"/>
              </a:spcBef>
              <a:buClr>
                <a:srgbClr val="FFFFFF"/>
              </a:buClr>
              <a:buSzPct val="94736"/>
              <a:buAutoNum type="arabicPlain" startAt="7"/>
              <a:tabLst>
                <a:tab pos="272415" algn="l"/>
              </a:tabLst>
            </a:pPr>
            <a:r>
              <a:rPr sz="950" b="1" dirty="0">
                <a:solidFill>
                  <a:srgbClr val="4A0D4E"/>
                </a:solidFill>
                <a:latin typeface="Arial"/>
                <a:cs typeface="Arial"/>
              </a:rPr>
              <a:t>Reverse:</a:t>
            </a:r>
            <a:r>
              <a:rPr sz="950" b="1" spc="50" dirty="0">
                <a:solidFill>
                  <a:srgbClr val="4A0D4E"/>
                </a:solidFill>
                <a:latin typeface="Arial"/>
                <a:cs typeface="Arial"/>
              </a:rPr>
              <a:t> </a:t>
            </a:r>
            <a:r>
              <a:rPr sz="950" b="1" dirty="0">
                <a:solidFill>
                  <a:srgbClr val="4A0D4E"/>
                </a:solidFill>
                <a:latin typeface="Arial"/>
                <a:cs typeface="Arial"/>
              </a:rPr>
              <a:t>%</a:t>
            </a:r>
            <a:r>
              <a:rPr sz="950" b="1" spc="50" dirty="0">
                <a:solidFill>
                  <a:srgbClr val="4A0D4E"/>
                </a:solidFill>
                <a:latin typeface="Arial"/>
                <a:cs typeface="Arial"/>
              </a:rPr>
              <a:t> </a:t>
            </a:r>
            <a:r>
              <a:rPr sz="950" b="1" dirty="0">
                <a:solidFill>
                  <a:srgbClr val="4A0D4E"/>
                </a:solidFill>
                <a:latin typeface="Arial"/>
                <a:cs typeface="Arial"/>
              </a:rPr>
              <a:t>→</a:t>
            </a:r>
            <a:r>
              <a:rPr sz="950" b="1" spc="50" dirty="0">
                <a:solidFill>
                  <a:srgbClr val="4A0D4E"/>
                </a:solidFill>
                <a:latin typeface="Arial"/>
                <a:cs typeface="Arial"/>
              </a:rPr>
              <a:t> </a:t>
            </a:r>
            <a:r>
              <a:rPr sz="950" b="1" dirty="0">
                <a:solidFill>
                  <a:srgbClr val="4A0D4E"/>
                </a:solidFill>
                <a:latin typeface="Arial"/>
                <a:cs typeface="Arial"/>
              </a:rPr>
              <a:t>formula</a:t>
            </a:r>
            <a:r>
              <a:rPr sz="950" b="1" spc="50" dirty="0">
                <a:solidFill>
                  <a:srgbClr val="4A0D4E"/>
                </a:solidFill>
                <a:latin typeface="Arial"/>
                <a:cs typeface="Arial"/>
              </a:rPr>
              <a:t> </a:t>
            </a:r>
            <a:r>
              <a:rPr sz="950" dirty="0">
                <a:solidFill>
                  <a:srgbClr val="1B2433"/>
                </a:solidFill>
                <a:latin typeface="Arial"/>
                <a:cs typeface="Arial"/>
              </a:rPr>
              <a:t>(per</a:t>
            </a:r>
            <a:r>
              <a:rPr sz="950" spc="50" dirty="0">
                <a:solidFill>
                  <a:srgbClr val="1B2433"/>
                </a:solidFill>
                <a:latin typeface="Arial"/>
                <a:cs typeface="Arial"/>
              </a:rPr>
              <a:t> </a:t>
            </a:r>
            <a:r>
              <a:rPr sz="950" dirty="0">
                <a:solidFill>
                  <a:srgbClr val="1B2433"/>
                </a:solidFill>
                <a:latin typeface="Arial"/>
                <a:cs typeface="Arial"/>
              </a:rPr>
              <a:t>100</a:t>
            </a:r>
            <a:r>
              <a:rPr sz="950" spc="50" dirty="0">
                <a:solidFill>
                  <a:srgbClr val="1B2433"/>
                </a:solidFill>
                <a:latin typeface="Arial"/>
                <a:cs typeface="Arial"/>
              </a:rPr>
              <a:t> </a:t>
            </a:r>
            <a:r>
              <a:rPr sz="950" spc="-25" dirty="0">
                <a:solidFill>
                  <a:srgbClr val="1B2433"/>
                </a:solidFill>
                <a:latin typeface="Arial"/>
                <a:cs typeface="Arial"/>
              </a:rPr>
              <a:t>g)</a:t>
            </a:r>
            <a:endParaRPr sz="950" dirty="0">
              <a:latin typeface="Arial"/>
              <a:cs typeface="Arial"/>
            </a:endParaRPr>
          </a:p>
          <a:p>
            <a:pPr marL="25400">
              <a:lnSpc>
                <a:spcPct val="100000"/>
              </a:lnSpc>
              <a:spcBef>
                <a:spcPts val="585"/>
              </a:spcBef>
            </a:pPr>
            <a:r>
              <a:rPr sz="950" dirty="0">
                <a:solidFill>
                  <a:srgbClr val="1B2433"/>
                </a:solidFill>
                <a:latin typeface="Arial"/>
                <a:cs typeface="Arial"/>
              </a:rPr>
              <a:t>Ca</a:t>
            </a:r>
            <a:r>
              <a:rPr sz="950" spc="45" dirty="0">
                <a:solidFill>
                  <a:srgbClr val="1B2433"/>
                </a:solidFill>
                <a:latin typeface="Arial"/>
                <a:cs typeface="Arial"/>
              </a:rPr>
              <a:t> </a:t>
            </a:r>
            <a:r>
              <a:rPr sz="950" dirty="0">
                <a:solidFill>
                  <a:srgbClr val="1B2433"/>
                </a:solidFill>
                <a:latin typeface="Arial"/>
                <a:cs typeface="Arial"/>
              </a:rPr>
              <a:t>40.044</a:t>
            </a:r>
            <a:r>
              <a:rPr sz="950" spc="45" dirty="0">
                <a:solidFill>
                  <a:srgbClr val="1B2433"/>
                </a:solidFill>
                <a:latin typeface="Arial"/>
                <a:cs typeface="Arial"/>
              </a:rPr>
              <a:t> </a:t>
            </a:r>
            <a:r>
              <a:rPr sz="950" dirty="0">
                <a:solidFill>
                  <a:srgbClr val="1B2433"/>
                </a:solidFill>
                <a:latin typeface="Arial"/>
                <a:cs typeface="Arial"/>
              </a:rPr>
              <a:t>÷</a:t>
            </a:r>
            <a:r>
              <a:rPr sz="950" spc="45" dirty="0">
                <a:solidFill>
                  <a:srgbClr val="1B2433"/>
                </a:solidFill>
                <a:latin typeface="Arial"/>
                <a:cs typeface="Arial"/>
              </a:rPr>
              <a:t> </a:t>
            </a:r>
            <a:r>
              <a:rPr sz="950" dirty="0">
                <a:solidFill>
                  <a:srgbClr val="1B2433"/>
                </a:solidFill>
                <a:latin typeface="Arial"/>
                <a:cs typeface="Arial"/>
              </a:rPr>
              <a:t>40.078</a:t>
            </a:r>
            <a:r>
              <a:rPr sz="950" spc="50" dirty="0">
                <a:solidFill>
                  <a:srgbClr val="1B2433"/>
                </a:solidFill>
                <a:latin typeface="Arial"/>
                <a:cs typeface="Arial"/>
              </a:rPr>
              <a:t> </a:t>
            </a:r>
            <a:r>
              <a:rPr sz="950" dirty="0">
                <a:solidFill>
                  <a:srgbClr val="1B2433"/>
                </a:solidFill>
                <a:latin typeface="Arial"/>
                <a:cs typeface="Arial"/>
              </a:rPr>
              <a:t>=</a:t>
            </a:r>
            <a:r>
              <a:rPr sz="950" spc="45" dirty="0">
                <a:solidFill>
                  <a:srgbClr val="1B2433"/>
                </a:solidFill>
                <a:latin typeface="Arial"/>
                <a:cs typeface="Arial"/>
              </a:rPr>
              <a:t> </a:t>
            </a:r>
            <a:r>
              <a:rPr sz="950" dirty="0">
                <a:solidFill>
                  <a:srgbClr val="1B2433"/>
                </a:solidFill>
                <a:latin typeface="Arial"/>
                <a:cs typeface="Arial"/>
              </a:rPr>
              <a:t>0.99915</a:t>
            </a:r>
            <a:r>
              <a:rPr sz="950" spc="45" dirty="0">
                <a:solidFill>
                  <a:srgbClr val="1B2433"/>
                </a:solidFill>
                <a:latin typeface="Arial"/>
                <a:cs typeface="Arial"/>
              </a:rPr>
              <a:t> </a:t>
            </a:r>
            <a:r>
              <a:rPr sz="950" dirty="0">
                <a:solidFill>
                  <a:srgbClr val="1B2433"/>
                </a:solidFill>
                <a:latin typeface="Arial"/>
                <a:cs typeface="Arial"/>
              </a:rPr>
              <a:t>·</a:t>
            </a:r>
            <a:r>
              <a:rPr sz="950" spc="45" dirty="0">
                <a:solidFill>
                  <a:srgbClr val="1B2433"/>
                </a:solidFill>
                <a:latin typeface="Arial"/>
                <a:cs typeface="Arial"/>
              </a:rPr>
              <a:t> </a:t>
            </a:r>
            <a:r>
              <a:rPr sz="950" dirty="0">
                <a:solidFill>
                  <a:srgbClr val="1B2433"/>
                </a:solidFill>
                <a:latin typeface="Arial"/>
                <a:cs typeface="Arial"/>
              </a:rPr>
              <a:t>C</a:t>
            </a:r>
            <a:r>
              <a:rPr sz="950" spc="50" dirty="0">
                <a:solidFill>
                  <a:srgbClr val="1B2433"/>
                </a:solidFill>
                <a:latin typeface="Arial"/>
                <a:cs typeface="Arial"/>
              </a:rPr>
              <a:t> </a:t>
            </a:r>
            <a:r>
              <a:rPr sz="950" dirty="0">
                <a:solidFill>
                  <a:srgbClr val="1B2433"/>
                </a:solidFill>
                <a:latin typeface="Arial"/>
                <a:cs typeface="Arial"/>
              </a:rPr>
              <a:t>12.001</a:t>
            </a:r>
            <a:r>
              <a:rPr sz="950" spc="45" dirty="0">
                <a:solidFill>
                  <a:srgbClr val="1B2433"/>
                </a:solidFill>
                <a:latin typeface="Arial"/>
                <a:cs typeface="Arial"/>
              </a:rPr>
              <a:t> </a:t>
            </a:r>
            <a:r>
              <a:rPr sz="950" dirty="0">
                <a:solidFill>
                  <a:srgbClr val="1B2433"/>
                </a:solidFill>
                <a:latin typeface="Arial"/>
                <a:cs typeface="Arial"/>
              </a:rPr>
              <a:t>÷</a:t>
            </a:r>
            <a:r>
              <a:rPr sz="950" spc="45" dirty="0">
                <a:solidFill>
                  <a:srgbClr val="1B2433"/>
                </a:solidFill>
                <a:latin typeface="Arial"/>
                <a:cs typeface="Arial"/>
              </a:rPr>
              <a:t> </a:t>
            </a:r>
            <a:r>
              <a:rPr sz="950" dirty="0">
                <a:solidFill>
                  <a:srgbClr val="1B2433"/>
                </a:solidFill>
                <a:latin typeface="Arial"/>
                <a:cs typeface="Arial"/>
              </a:rPr>
              <a:t>12.011</a:t>
            </a:r>
            <a:r>
              <a:rPr sz="950" spc="50" dirty="0">
                <a:solidFill>
                  <a:srgbClr val="1B2433"/>
                </a:solidFill>
                <a:latin typeface="Arial"/>
                <a:cs typeface="Arial"/>
              </a:rPr>
              <a:t> </a:t>
            </a:r>
            <a:r>
              <a:rPr sz="950" dirty="0">
                <a:solidFill>
                  <a:srgbClr val="1B2433"/>
                </a:solidFill>
                <a:latin typeface="Arial"/>
                <a:cs typeface="Arial"/>
              </a:rPr>
              <a:t>=</a:t>
            </a:r>
            <a:r>
              <a:rPr sz="950" spc="45" dirty="0">
                <a:solidFill>
                  <a:srgbClr val="1B2433"/>
                </a:solidFill>
                <a:latin typeface="Arial"/>
                <a:cs typeface="Arial"/>
              </a:rPr>
              <a:t> </a:t>
            </a:r>
            <a:r>
              <a:rPr sz="950" dirty="0">
                <a:solidFill>
                  <a:srgbClr val="1B2433"/>
                </a:solidFill>
                <a:latin typeface="Arial"/>
                <a:cs typeface="Arial"/>
              </a:rPr>
              <a:t>0.99917</a:t>
            </a:r>
            <a:r>
              <a:rPr sz="950" spc="45" dirty="0">
                <a:solidFill>
                  <a:srgbClr val="1B2433"/>
                </a:solidFill>
                <a:latin typeface="Arial"/>
                <a:cs typeface="Arial"/>
              </a:rPr>
              <a:t> </a:t>
            </a:r>
            <a:r>
              <a:rPr sz="950" dirty="0">
                <a:solidFill>
                  <a:srgbClr val="1B2433"/>
                </a:solidFill>
                <a:latin typeface="Arial"/>
                <a:cs typeface="Arial"/>
              </a:rPr>
              <a:t>·</a:t>
            </a:r>
            <a:r>
              <a:rPr sz="950" spc="45" dirty="0">
                <a:solidFill>
                  <a:srgbClr val="1B2433"/>
                </a:solidFill>
                <a:latin typeface="Arial"/>
                <a:cs typeface="Arial"/>
              </a:rPr>
              <a:t> </a:t>
            </a:r>
            <a:r>
              <a:rPr sz="950" dirty="0">
                <a:solidFill>
                  <a:srgbClr val="1B2433"/>
                </a:solidFill>
                <a:latin typeface="Arial"/>
                <a:cs typeface="Arial"/>
              </a:rPr>
              <a:t>O</a:t>
            </a:r>
            <a:r>
              <a:rPr sz="950" spc="50" dirty="0">
                <a:solidFill>
                  <a:srgbClr val="1B2433"/>
                </a:solidFill>
                <a:latin typeface="Arial"/>
                <a:cs typeface="Arial"/>
              </a:rPr>
              <a:t> </a:t>
            </a:r>
            <a:r>
              <a:rPr sz="950" dirty="0">
                <a:solidFill>
                  <a:srgbClr val="1B2433"/>
                </a:solidFill>
                <a:latin typeface="Arial"/>
                <a:cs typeface="Arial"/>
              </a:rPr>
              <a:t>47.956</a:t>
            </a:r>
            <a:r>
              <a:rPr sz="950" spc="45" dirty="0">
                <a:solidFill>
                  <a:srgbClr val="1B2433"/>
                </a:solidFill>
                <a:latin typeface="Arial"/>
                <a:cs typeface="Arial"/>
              </a:rPr>
              <a:t> </a:t>
            </a:r>
            <a:r>
              <a:rPr sz="950" dirty="0">
                <a:solidFill>
                  <a:srgbClr val="1B2433"/>
                </a:solidFill>
                <a:latin typeface="Arial"/>
                <a:cs typeface="Arial"/>
              </a:rPr>
              <a:t>÷</a:t>
            </a:r>
            <a:r>
              <a:rPr sz="950" spc="45" dirty="0">
                <a:solidFill>
                  <a:srgbClr val="1B2433"/>
                </a:solidFill>
                <a:latin typeface="Arial"/>
                <a:cs typeface="Arial"/>
              </a:rPr>
              <a:t> </a:t>
            </a:r>
            <a:r>
              <a:rPr sz="950" dirty="0">
                <a:solidFill>
                  <a:srgbClr val="1B2433"/>
                </a:solidFill>
                <a:latin typeface="Arial"/>
                <a:cs typeface="Arial"/>
              </a:rPr>
              <a:t>15.999</a:t>
            </a:r>
            <a:r>
              <a:rPr sz="950" spc="45" dirty="0">
                <a:solidFill>
                  <a:srgbClr val="1B2433"/>
                </a:solidFill>
                <a:latin typeface="Arial"/>
                <a:cs typeface="Arial"/>
              </a:rPr>
              <a:t> </a:t>
            </a:r>
            <a:r>
              <a:rPr sz="950" dirty="0">
                <a:solidFill>
                  <a:srgbClr val="1B2433"/>
                </a:solidFill>
                <a:latin typeface="Arial"/>
                <a:cs typeface="Arial"/>
              </a:rPr>
              <a:t>=</a:t>
            </a:r>
            <a:r>
              <a:rPr sz="950" spc="50" dirty="0">
                <a:solidFill>
                  <a:srgbClr val="1B2433"/>
                </a:solidFill>
                <a:latin typeface="Arial"/>
                <a:cs typeface="Arial"/>
              </a:rPr>
              <a:t> </a:t>
            </a:r>
            <a:r>
              <a:rPr sz="950" spc="-10" dirty="0">
                <a:solidFill>
                  <a:srgbClr val="1B2433"/>
                </a:solidFill>
                <a:latin typeface="Arial"/>
                <a:cs typeface="Arial"/>
              </a:rPr>
              <a:t>2.9975</a:t>
            </a:r>
            <a:endParaRPr sz="950" dirty="0">
              <a:latin typeface="Arial"/>
              <a:cs typeface="Arial"/>
            </a:endParaRPr>
          </a:p>
          <a:p>
            <a:pPr marL="25400">
              <a:lnSpc>
                <a:spcPct val="100000"/>
              </a:lnSpc>
              <a:spcBef>
                <a:spcPts val="585"/>
              </a:spcBef>
            </a:pPr>
            <a:r>
              <a:rPr sz="950" dirty="0">
                <a:solidFill>
                  <a:srgbClr val="1B2433"/>
                </a:solidFill>
                <a:latin typeface="Arial"/>
                <a:cs typeface="Arial"/>
              </a:rPr>
              <a:t>÷</a:t>
            </a:r>
            <a:r>
              <a:rPr sz="950" spc="45" dirty="0">
                <a:solidFill>
                  <a:srgbClr val="1B2433"/>
                </a:solidFill>
                <a:latin typeface="Arial"/>
                <a:cs typeface="Arial"/>
              </a:rPr>
              <a:t> </a:t>
            </a:r>
            <a:r>
              <a:rPr sz="950" dirty="0">
                <a:solidFill>
                  <a:srgbClr val="1B2433"/>
                </a:solidFill>
                <a:latin typeface="Arial"/>
                <a:cs typeface="Arial"/>
              </a:rPr>
              <a:t>0.99915</a:t>
            </a:r>
            <a:r>
              <a:rPr sz="950" spc="45" dirty="0">
                <a:solidFill>
                  <a:srgbClr val="1B2433"/>
                </a:solidFill>
                <a:latin typeface="Arial"/>
                <a:cs typeface="Arial"/>
              </a:rPr>
              <a:t> </a:t>
            </a:r>
            <a:r>
              <a:rPr sz="950" dirty="0">
                <a:solidFill>
                  <a:srgbClr val="1B2433"/>
                </a:solidFill>
                <a:latin typeface="Arial"/>
                <a:cs typeface="Arial"/>
              </a:rPr>
              <a:t>→</a:t>
            </a:r>
            <a:r>
              <a:rPr sz="950" spc="45" dirty="0">
                <a:solidFill>
                  <a:srgbClr val="1B2433"/>
                </a:solidFill>
                <a:latin typeface="Arial"/>
                <a:cs typeface="Arial"/>
              </a:rPr>
              <a:t> </a:t>
            </a:r>
            <a:r>
              <a:rPr sz="950" dirty="0">
                <a:solidFill>
                  <a:srgbClr val="1B2433"/>
                </a:solidFill>
                <a:latin typeface="Arial"/>
                <a:cs typeface="Arial"/>
              </a:rPr>
              <a:t>Ca</a:t>
            </a:r>
            <a:r>
              <a:rPr sz="950" spc="45" dirty="0">
                <a:solidFill>
                  <a:srgbClr val="1B2433"/>
                </a:solidFill>
                <a:latin typeface="Arial"/>
                <a:cs typeface="Arial"/>
              </a:rPr>
              <a:t> </a:t>
            </a:r>
            <a:r>
              <a:rPr sz="950" dirty="0">
                <a:solidFill>
                  <a:srgbClr val="1B2433"/>
                </a:solidFill>
                <a:latin typeface="Arial"/>
                <a:cs typeface="Arial"/>
              </a:rPr>
              <a:t>1.000</a:t>
            </a:r>
            <a:r>
              <a:rPr sz="950" spc="45" dirty="0">
                <a:solidFill>
                  <a:srgbClr val="1B2433"/>
                </a:solidFill>
                <a:latin typeface="Arial"/>
                <a:cs typeface="Arial"/>
              </a:rPr>
              <a:t> </a:t>
            </a:r>
            <a:r>
              <a:rPr sz="950" dirty="0">
                <a:solidFill>
                  <a:srgbClr val="1B2433"/>
                </a:solidFill>
                <a:latin typeface="Arial"/>
                <a:cs typeface="Arial"/>
              </a:rPr>
              <a:t>:</a:t>
            </a:r>
            <a:r>
              <a:rPr sz="950" spc="45" dirty="0">
                <a:solidFill>
                  <a:srgbClr val="1B2433"/>
                </a:solidFill>
                <a:latin typeface="Arial"/>
                <a:cs typeface="Arial"/>
              </a:rPr>
              <a:t> </a:t>
            </a:r>
            <a:r>
              <a:rPr sz="950" dirty="0">
                <a:solidFill>
                  <a:srgbClr val="1B2433"/>
                </a:solidFill>
                <a:latin typeface="Arial"/>
                <a:cs typeface="Arial"/>
              </a:rPr>
              <a:t>C</a:t>
            </a:r>
            <a:r>
              <a:rPr sz="950" spc="45" dirty="0">
                <a:solidFill>
                  <a:srgbClr val="1B2433"/>
                </a:solidFill>
                <a:latin typeface="Arial"/>
                <a:cs typeface="Arial"/>
              </a:rPr>
              <a:t> </a:t>
            </a:r>
            <a:r>
              <a:rPr sz="950" dirty="0">
                <a:solidFill>
                  <a:srgbClr val="1B2433"/>
                </a:solidFill>
                <a:latin typeface="Arial"/>
                <a:cs typeface="Arial"/>
              </a:rPr>
              <a:t>1.000</a:t>
            </a:r>
            <a:r>
              <a:rPr sz="950" spc="45" dirty="0">
                <a:solidFill>
                  <a:srgbClr val="1B2433"/>
                </a:solidFill>
                <a:latin typeface="Arial"/>
                <a:cs typeface="Arial"/>
              </a:rPr>
              <a:t> </a:t>
            </a:r>
            <a:r>
              <a:rPr sz="950" dirty="0">
                <a:solidFill>
                  <a:srgbClr val="1B2433"/>
                </a:solidFill>
                <a:latin typeface="Arial"/>
                <a:cs typeface="Arial"/>
              </a:rPr>
              <a:t>:</a:t>
            </a:r>
            <a:r>
              <a:rPr sz="950" spc="45" dirty="0">
                <a:solidFill>
                  <a:srgbClr val="1B2433"/>
                </a:solidFill>
                <a:latin typeface="Arial"/>
                <a:cs typeface="Arial"/>
              </a:rPr>
              <a:t> </a:t>
            </a:r>
            <a:r>
              <a:rPr sz="950" dirty="0">
                <a:solidFill>
                  <a:srgbClr val="1B2433"/>
                </a:solidFill>
                <a:latin typeface="Arial"/>
                <a:cs typeface="Arial"/>
              </a:rPr>
              <a:t>O</a:t>
            </a:r>
            <a:r>
              <a:rPr sz="950" spc="45" dirty="0">
                <a:solidFill>
                  <a:srgbClr val="1B2433"/>
                </a:solidFill>
                <a:latin typeface="Arial"/>
                <a:cs typeface="Arial"/>
              </a:rPr>
              <a:t> </a:t>
            </a:r>
            <a:r>
              <a:rPr sz="950" dirty="0">
                <a:solidFill>
                  <a:srgbClr val="1B2433"/>
                </a:solidFill>
                <a:latin typeface="Arial"/>
                <a:cs typeface="Arial"/>
              </a:rPr>
              <a:t>3.000</a:t>
            </a:r>
            <a:r>
              <a:rPr sz="950" spc="45" dirty="0">
                <a:solidFill>
                  <a:srgbClr val="1B2433"/>
                </a:solidFill>
                <a:latin typeface="Arial"/>
                <a:cs typeface="Arial"/>
              </a:rPr>
              <a:t> </a:t>
            </a:r>
            <a:r>
              <a:rPr sz="950" dirty="0">
                <a:solidFill>
                  <a:srgbClr val="1B2433"/>
                </a:solidFill>
                <a:latin typeface="Arial"/>
                <a:cs typeface="Arial"/>
              </a:rPr>
              <a:t>→</a:t>
            </a:r>
            <a:r>
              <a:rPr sz="950" spc="45" dirty="0">
                <a:solidFill>
                  <a:srgbClr val="1B2433"/>
                </a:solidFill>
                <a:latin typeface="Arial"/>
                <a:cs typeface="Arial"/>
              </a:rPr>
              <a:t> </a:t>
            </a:r>
            <a:r>
              <a:rPr sz="950" b="1" dirty="0">
                <a:solidFill>
                  <a:srgbClr val="D32E2E"/>
                </a:solidFill>
                <a:latin typeface="Arial"/>
                <a:cs typeface="Arial"/>
              </a:rPr>
              <a:t>CaCO</a:t>
            </a:r>
            <a:r>
              <a:rPr sz="1200" b="1" baseline="-17361" dirty="0">
                <a:solidFill>
                  <a:srgbClr val="D32E2E"/>
                </a:solidFill>
                <a:latin typeface="Arial"/>
                <a:cs typeface="Arial"/>
              </a:rPr>
              <a:t>3</a:t>
            </a:r>
            <a:r>
              <a:rPr sz="1200" b="1" spc="135" baseline="-17361" dirty="0">
                <a:solidFill>
                  <a:srgbClr val="D32E2E"/>
                </a:solidFill>
                <a:latin typeface="Arial"/>
                <a:cs typeface="Arial"/>
              </a:rPr>
              <a:t> </a:t>
            </a:r>
            <a:r>
              <a:rPr sz="950" dirty="0">
                <a:solidFill>
                  <a:srgbClr val="1B2433"/>
                </a:solidFill>
                <a:latin typeface="Arial"/>
                <a:cs typeface="Arial"/>
              </a:rPr>
              <a:t>(empirical</a:t>
            </a:r>
            <a:r>
              <a:rPr sz="950" spc="45" dirty="0">
                <a:solidFill>
                  <a:srgbClr val="1B2433"/>
                </a:solidFill>
                <a:latin typeface="Arial"/>
                <a:cs typeface="Arial"/>
              </a:rPr>
              <a:t> </a:t>
            </a:r>
            <a:r>
              <a:rPr sz="950" dirty="0">
                <a:solidFill>
                  <a:srgbClr val="1B2433"/>
                </a:solidFill>
                <a:latin typeface="Arial"/>
                <a:cs typeface="Arial"/>
              </a:rPr>
              <a:t>=</a:t>
            </a:r>
            <a:r>
              <a:rPr sz="950" spc="45" dirty="0">
                <a:solidFill>
                  <a:srgbClr val="1B2433"/>
                </a:solidFill>
                <a:latin typeface="Arial"/>
                <a:cs typeface="Arial"/>
              </a:rPr>
              <a:t> </a:t>
            </a:r>
            <a:r>
              <a:rPr sz="950" dirty="0">
                <a:solidFill>
                  <a:srgbClr val="1B2433"/>
                </a:solidFill>
                <a:latin typeface="Arial"/>
                <a:cs typeface="Arial"/>
              </a:rPr>
              <a:t>molecular,</a:t>
            </a:r>
            <a:r>
              <a:rPr sz="950" spc="45" dirty="0">
                <a:solidFill>
                  <a:srgbClr val="1B2433"/>
                </a:solidFill>
                <a:latin typeface="Arial"/>
                <a:cs typeface="Arial"/>
              </a:rPr>
              <a:t> </a:t>
            </a:r>
            <a:r>
              <a:rPr sz="950" dirty="0">
                <a:solidFill>
                  <a:srgbClr val="1B2433"/>
                </a:solidFill>
                <a:latin typeface="Arial"/>
                <a:cs typeface="Arial"/>
              </a:rPr>
              <a:t>n</a:t>
            </a:r>
            <a:r>
              <a:rPr sz="950" spc="45" dirty="0">
                <a:solidFill>
                  <a:srgbClr val="1B2433"/>
                </a:solidFill>
                <a:latin typeface="Arial"/>
                <a:cs typeface="Arial"/>
              </a:rPr>
              <a:t> </a:t>
            </a:r>
            <a:r>
              <a:rPr sz="950" dirty="0">
                <a:solidFill>
                  <a:srgbClr val="1B2433"/>
                </a:solidFill>
                <a:latin typeface="Arial"/>
                <a:cs typeface="Arial"/>
              </a:rPr>
              <a:t>=</a:t>
            </a:r>
            <a:r>
              <a:rPr sz="950" spc="45" dirty="0">
                <a:solidFill>
                  <a:srgbClr val="1B2433"/>
                </a:solidFill>
                <a:latin typeface="Arial"/>
                <a:cs typeface="Arial"/>
              </a:rPr>
              <a:t> </a:t>
            </a:r>
            <a:r>
              <a:rPr sz="950" spc="-25" dirty="0">
                <a:solidFill>
                  <a:srgbClr val="1B2433"/>
                </a:solidFill>
                <a:latin typeface="Arial"/>
                <a:cs typeface="Arial"/>
              </a:rPr>
              <a:t>1)</a:t>
            </a:r>
            <a:endParaRPr sz="950" dirty="0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240"/>
              </a:spcBef>
            </a:pPr>
            <a:endParaRPr sz="950" dirty="0">
              <a:latin typeface="Arial"/>
              <a:cs typeface="Arial"/>
            </a:endParaRPr>
          </a:p>
          <a:p>
            <a:pPr marL="272415" indent="-184150">
              <a:lnSpc>
                <a:spcPct val="100000"/>
              </a:lnSpc>
              <a:buClr>
                <a:srgbClr val="FFFFFF"/>
              </a:buClr>
              <a:buSzPct val="94736"/>
              <a:buAutoNum type="arabicPlain" startAt="8"/>
              <a:tabLst>
                <a:tab pos="272415" algn="l"/>
              </a:tabLst>
            </a:pPr>
            <a:r>
              <a:rPr sz="950" b="1" dirty="0">
                <a:solidFill>
                  <a:srgbClr val="4A0D4E"/>
                </a:solidFill>
                <a:latin typeface="Arial"/>
                <a:cs typeface="Arial"/>
              </a:rPr>
              <a:t>Scale-up,</a:t>
            </a:r>
            <a:r>
              <a:rPr sz="950" b="1" spc="90" dirty="0">
                <a:solidFill>
                  <a:srgbClr val="4A0D4E"/>
                </a:solidFill>
                <a:latin typeface="Arial"/>
                <a:cs typeface="Arial"/>
              </a:rPr>
              <a:t> </a:t>
            </a:r>
            <a:r>
              <a:rPr sz="950" b="1" dirty="0">
                <a:solidFill>
                  <a:srgbClr val="4A0D4E"/>
                </a:solidFill>
                <a:latin typeface="Arial"/>
                <a:cs typeface="Arial"/>
              </a:rPr>
              <a:t>200</a:t>
            </a:r>
            <a:r>
              <a:rPr sz="950" b="1" spc="90" dirty="0">
                <a:solidFill>
                  <a:srgbClr val="4A0D4E"/>
                </a:solidFill>
                <a:latin typeface="Arial"/>
                <a:cs typeface="Arial"/>
              </a:rPr>
              <a:t> </a:t>
            </a:r>
            <a:r>
              <a:rPr lang="en-PH" sz="950" b="1" spc="-20" dirty="0">
                <a:solidFill>
                  <a:srgbClr val="4A0D4E"/>
                </a:solidFill>
                <a:latin typeface="Arial"/>
                <a:cs typeface="Arial"/>
              </a:rPr>
              <a:t>carton</a:t>
            </a:r>
            <a:r>
              <a:rPr sz="950" b="1" spc="-20" dirty="0">
                <a:solidFill>
                  <a:srgbClr val="4A0D4E"/>
                </a:solidFill>
                <a:latin typeface="Arial"/>
                <a:cs typeface="Arial"/>
              </a:rPr>
              <a:t>s</a:t>
            </a:r>
            <a:endParaRPr sz="950" dirty="0">
              <a:latin typeface="Arial"/>
              <a:cs typeface="Arial"/>
            </a:endParaRPr>
          </a:p>
        </p:txBody>
      </p:sp>
      <p:sp>
        <p:nvSpPr>
          <p:cNvPr id="104" name="object 104"/>
          <p:cNvSpPr txBox="1"/>
          <p:nvPr/>
        </p:nvSpPr>
        <p:spPr>
          <a:xfrm>
            <a:off x="8457654" y="9744025"/>
            <a:ext cx="1073150" cy="173990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25400">
              <a:lnSpc>
                <a:spcPct val="100000"/>
              </a:lnSpc>
              <a:spcBef>
                <a:spcPts val="125"/>
              </a:spcBef>
            </a:pPr>
            <a:r>
              <a:rPr sz="950" dirty="0">
                <a:solidFill>
                  <a:srgbClr val="1B2433"/>
                </a:solidFill>
                <a:latin typeface="Arial"/>
                <a:cs typeface="Arial"/>
              </a:rPr>
              <a:t>2.8070</a:t>
            </a:r>
            <a:r>
              <a:rPr sz="950" spc="50" dirty="0">
                <a:solidFill>
                  <a:srgbClr val="1B2433"/>
                </a:solidFill>
                <a:latin typeface="Arial"/>
                <a:cs typeface="Arial"/>
              </a:rPr>
              <a:t> </a:t>
            </a:r>
            <a:r>
              <a:rPr sz="950" dirty="0">
                <a:solidFill>
                  <a:srgbClr val="1B2433"/>
                </a:solidFill>
                <a:latin typeface="Arial"/>
                <a:cs typeface="Arial"/>
              </a:rPr>
              <a:t>×</a:t>
            </a:r>
            <a:r>
              <a:rPr sz="950" spc="50" dirty="0">
                <a:solidFill>
                  <a:srgbClr val="1B2433"/>
                </a:solidFill>
                <a:latin typeface="Arial"/>
                <a:cs typeface="Arial"/>
              </a:rPr>
              <a:t> </a:t>
            </a:r>
            <a:r>
              <a:rPr sz="950" dirty="0">
                <a:solidFill>
                  <a:srgbClr val="1B2433"/>
                </a:solidFill>
                <a:latin typeface="Arial"/>
                <a:cs typeface="Arial"/>
              </a:rPr>
              <a:t>10</a:t>
            </a:r>
            <a:r>
              <a:rPr sz="1200" baseline="27777" dirty="0">
                <a:solidFill>
                  <a:srgbClr val="1B2433"/>
                </a:solidFill>
                <a:latin typeface="Arial"/>
                <a:cs typeface="Arial"/>
              </a:rPr>
              <a:t>−3</a:t>
            </a:r>
            <a:r>
              <a:rPr sz="1200" spc="135" baseline="27777" dirty="0">
                <a:solidFill>
                  <a:srgbClr val="1B2433"/>
                </a:solidFill>
                <a:latin typeface="Arial"/>
                <a:cs typeface="Arial"/>
              </a:rPr>
              <a:t> </a:t>
            </a:r>
            <a:r>
              <a:rPr sz="950" spc="-25" dirty="0">
                <a:solidFill>
                  <a:srgbClr val="1B2433"/>
                </a:solidFill>
                <a:latin typeface="Arial"/>
                <a:cs typeface="Arial"/>
              </a:rPr>
              <a:t>mol</a:t>
            </a:r>
            <a:endParaRPr sz="950">
              <a:latin typeface="Arial"/>
              <a:cs typeface="Arial"/>
            </a:endParaRPr>
          </a:p>
        </p:txBody>
      </p:sp>
      <p:sp>
        <p:nvSpPr>
          <p:cNvPr id="105" name="object 105"/>
          <p:cNvSpPr txBox="1"/>
          <p:nvPr/>
        </p:nvSpPr>
        <p:spPr>
          <a:xfrm>
            <a:off x="11144398" y="9809491"/>
            <a:ext cx="1543050" cy="149225"/>
          </a:xfrm>
          <a:prstGeom prst="rect">
            <a:avLst/>
          </a:prstGeom>
        </p:spPr>
        <p:txBody>
          <a:bodyPr vert="horz" wrap="square" lIns="0" tIns="13970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110"/>
              </a:spcBef>
              <a:tabLst>
                <a:tab pos="1472565" algn="l"/>
              </a:tabLst>
            </a:pPr>
            <a:r>
              <a:rPr sz="1200" b="1" spc="-37" baseline="3472" dirty="0">
                <a:solidFill>
                  <a:srgbClr val="D32E2E"/>
                </a:solidFill>
                <a:latin typeface="Arial"/>
                <a:cs typeface="Arial"/>
              </a:rPr>
              <a:t>−1</a:t>
            </a:r>
            <a:r>
              <a:rPr sz="1200" b="1" baseline="3472" dirty="0">
                <a:solidFill>
                  <a:srgbClr val="D32E2E"/>
                </a:solidFill>
                <a:latin typeface="Arial"/>
                <a:cs typeface="Arial"/>
              </a:rPr>
              <a:t>	</a:t>
            </a:r>
            <a:r>
              <a:rPr sz="800" spc="-50" dirty="0">
                <a:solidFill>
                  <a:srgbClr val="1B2433"/>
                </a:solidFill>
                <a:latin typeface="Arial"/>
                <a:cs typeface="Arial"/>
              </a:rPr>
              <a:t>1</a:t>
            </a:r>
            <a:endParaRPr sz="800">
              <a:latin typeface="Arial"/>
              <a:cs typeface="Arial"/>
            </a:endParaRPr>
          </a:p>
        </p:txBody>
      </p:sp>
      <p:sp>
        <p:nvSpPr>
          <p:cNvPr id="103" name="object 103"/>
          <p:cNvSpPr/>
          <p:nvPr/>
        </p:nvSpPr>
        <p:spPr>
          <a:xfrm>
            <a:off x="8032546" y="9925061"/>
            <a:ext cx="1106805" cy="152400"/>
          </a:xfrm>
          <a:custGeom>
            <a:avLst/>
            <a:gdLst/>
            <a:ahLst/>
            <a:cxnLst/>
            <a:rect l="l" t="t" r="r" b="b"/>
            <a:pathLst>
              <a:path w="1106804" h="152400">
                <a:moveTo>
                  <a:pt x="261632" y="0"/>
                </a:moveTo>
                <a:lnTo>
                  <a:pt x="0" y="0"/>
                </a:lnTo>
                <a:lnTo>
                  <a:pt x="0" y="19050"/>
                </a:lnTo>
                <a:lnTo>
                  <a:pt x="261632" y="19050"/>
                </a:lnTo>
                <a:lnTo>
                  <a:pt x="261632" y="0"/>
                </a:lnTo>
                <a:close/>
              </a:path>
              <a:path w="1106804" h="152400">
                <a:moveTo>
                  <a:pt x="1106678" y="133350"/>
                </a:moveTo>
                <a:lnTo>
                  <a:pt x="906957" y="133350"/>
                </a:lnTo>
                <a:lnTo>
                  <a:pt x="906957" y="152400"/>
                </a:lnTo>
                <a:lnTo>
                  <a:pt x="1106678" y="152400"/>
                </a:lnTo>
                <a:lnTo>
                  <a:pt x="1106678" y="133350"/>
                </a:lnTo>
                <a:close/>
              </a:path>
            </a:pathLst>
          </a:custGeom>
          <a:solidFill>
            <a:srgbClr val="D32E2E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06" name="object 106"/>
          <p:cNvSpPr txBox="1"/>
          <p:nvPr/>
        </p:nvSpPr>
        <p:spPr>
          <a:xfrm>
            <a:off x="7766050" y="9839573"/>
            <a:ext cx="5091430" cy="304165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25400">
              <a:lnSpc>
                <a:spcPts val="1080"/>
              </a:lnSpc>
              <a:spcBef>
                <a:spcPts val="125"/>
              </a:spcBef>
              <a:tabLst>
                <a:tab pos="1786889" algn="l"/>
                <a:tab pos="3529965" algn="l"/>
              </a:tabLst>
            </a:pPr>
            <a:r>
              <a:rPr sz="950" dirty="0">
                <a:solidFill>
                  <a:srgbClr val="1B2433"/>
                </a:solidFill>
                <a:latin typeface="Arial"/>
                <a:cs typeface="Arial"/>
              </a:rPr>
              <a:t>200 </a:t>
            </a:r>
            <a:r>
              <a:rPr lang="en-PH" sz="950" strike="sngStrike" dirty="0">
                <a:solidFill>
                  <a:srgbClr val="1B2433"/>
                </a:solidFill>
                <a:latin typeface="Arial"/>
                <a:cs typeface="Arial"/>
              </a:rPr>
              <a:t>carton</a:t>
            </a:r>
            <a:r>
              <a:rPr sz="950" strike="sngStrike" dirty="0">
                <a:solidFill>
                  <a:srgbClr val="1B2433"/>
                </a:solidFill>
                <a:latin typeface="Arial"/>
                <a:cs typeface="Arial"/>
              </a:rPr>
              <a:t>s</a:t>
            </a:r>
            <a:r>
              <a:rPr sz="950" dirty="0">
                <a:solidFill>
                  <a:srgbClr val="1B2433"/>
                </a:solidFill>
                <a:latin typeface="Arial"/>
                <a:cs typeface="Arial"/>
              </a:rPr>
              <a:t> ×</a:t>
            </a:r>
            <a:r>
              <a:rPr sz="950" spc="180" dirty="0">
                <a:solidFill>
                  <a:srgbClr val="1B2433"/>
                </a:solidFill>
                <a:latin typeface="Arial"/>
                <a:cs typeface="Arial"/>
              </a:rPr>
              <a:t> </a:t>
            </a:r>
            <a:r>
              <a:rPr sz="950" u="sng" dirty="0">
                <a:solidFill>
                  <a:srgbClr val="1B2433"/>
                </a:solidFill>
                <a:uFill>
                  <a:solidFill>
                    <a:srgbClr val="1B2433"/>
                  </a:solidFill>
                </a:uFill>
                <a:latin typeface="Times New Roman"/>
                <a:cs typeface="Times New Roman"/>
              </a:rPr>
              <a:t>	</a:t>
            </a:r>
            <a:r>
              <a:rPr sz="950" spc="-55" dirty="0">
                <a:solidFill>
                  <a:srgbClr val="1B2433"/>
                </a:solidFill>
                <a:latin typeface="Times New Roman"/>
                <a:cs typeface="Times New Roman"/>
              </a:rPr>
              <a:t> </a:t>
            </a:r>
            <a:r>
              <a:rPr sz="950" dirty="0">
                <a:solidFill>
                  <a:srgbClr val="1B2433"/>
                </a:solidFill>
                <a:latin typeface="Arial"/>
                <a:cs typeface="Arial"/>
              </a:rPr>
              <a:t>=</a:t>
            </a:r>
            <a:r>
              <a:rPr sz="950" spc="50" dirty="0">
                <a:solidFill>
                  <a:srgbClr val="1B2433"/>
                </a:solidFill>
                <a:latin typeface="Arial"/>
                <a:cs typeface="Arial"/>
              </a:rPr>
              <a:t> </a:t>
            </a:r>
            <a:r>
              <a:rPr sz="950" dirty="0">
                <a:solidFill>
                  <a:srgbClr val="596474"/>
                </a:solidFill>
                <a:latin typeface="Arial"/>
                <a:cs typeface="Arial"/>
              </a:rPr>
              <a:t>0.56141</a:t>
            </a:r>
            <a:r>
              <a:rPr sz="950" spc="45" dirty="0">
                <a:solidFill>
                  <a:srgbClr val="596474"/>
                </a:solidFill>
                <a:latin typeface="Arial"/>
                <a:cs typeface="Arial"/>
              </a:rPr>
              <a:t> </a:t>
            </a:r>
            <a:r>
              <a:rPr sz="950" dirty="0">
                <a:solidFill>
                  <a:srgbClr val="596474"/>
                </a:solidFill>
                <a:latin typeface="Arial"/>
                <a:cs typeface="Arial"/>
              </a:rPr>
              <a:t>mol</a:t>
            </a:r>
            <a:r>
              <a:rPr sz="950" spc="45" dirty="0">
                <a:solidFill>
                  <a:srgbClr val="596474"/>
                </a:solidFill>
                <a:latin typeface="Arial"/>
                <a:cs typeface="Arial"/>
              </a:rPr>
              <a:t> </a:t>
            </a:r>
            <a:r>
              <a:rPr sz="950" dirty="0">
                <a:solidFill>
                  <a:srgbClr val="1B2433"/>
                </a:solidFill>
                <a:latin typeface="Arial"/>
                <a:cs typeface="Arial"/>
              </a:rPr>
              <a:t>→</a:t>
            </a:r>
            <a:r>
              <a:rPr sz="950" spc="45" dirty="0">
                <a:solidFill>
                  <a:srgbClr val="1B2433"/>
                </a:solidFill>
                <a:latin typeface="Arial"/>
                <a:cs typeface="Arial"/>
              </a:rPr>
              <a:t> </a:t>
            </a:r>
            <a:r>
              <a:rPr sz="1425" b="1" baseline="2923" dirty="0">
                <a:solidFill>
                  <a:srgbClr val="D32E2E"/>
                </a:solidFill>
                <a:latin typeface="Arial"/>
                <a:cs typeface="Arial"/>
              </a:rPr>
              <a:t>5.614</a:t>
            </a:r>
            <a:r>
              <a:rPr sz="1425" b="1" spc="75" baseline="2923" dirty="0">
                <a:solidFill>
                  <a:srgbClr val="D32E2E"/>
                </a:solidFill>
                <a:latin typeface="Arial"/>
                <a:cs typeface="Arial"/>
              </a:rPr>
              <a:t> </a:t>
            </a:r>
            <a:r>
              <a:rPr sz="1425" b="1" baseline="2923" dirty="0">
                <a:solidFill>
                  <a:srgbClr val="D32E2E"/>
                </a:solidFill>
                <a:latin typeface="Arial"/>
                <a:cs typeface="Arial"/>
              </a:rPr>
              <a:t>×</a:t>
            </a:r>
            <a:r>
              <a:rPr sz="1425" b="1" spc="67" baseline="2923" dirty="0">
                <a:solidFill>
                  <a:srgbClr val="D32E2E"/>
                </a:solidFill>
                <a:latin typeface="Arial"/>
                <a:cs typeface="Arial"/>
              </a:rPr>
              <a:t> </a:t>
            </a:r>
            <a:r>
              <a:rPr sz="1425" b="1" baseline="2923" dirty="0">
                <a:solidFill>
                  <a:srgbClr val="D32E2E"/>
                </a:solidFill>
                <a:latin typeface="Arial"/>
                <a:cs typeface="Arial"/>
              </a:rPr>
              <a:t>10	mol</a:t>
            </a:r>
            <a:r>
              <a:rPr sz="1425" b="1" spc="52" baseline="2923" dirty="0">
                <a:solidFill>
                  <a:srgbClr val="D32E2E"/>
                </a:solidFill>
                <a:latin typeface="Arial"/>
                <a:cs typeface="Arial"/>
              </a:rPr>
              <a:t> </a:t>
            </a:r>
            <a:r>
              <a:rPr sz="1425" b="1" baseline="2923" dirty="0">
                <a:solidFill>
                  <a:srgbClr val="D32E2E"/>
                </a:solidFill>
                <a:latin typeface="Arial"/>
                <a:cs typeface="Arial"/>
              </a:rPr>
              <a:t>CaCO</a:t>
            </a:r>
            <a:r>
              <a:rPr sz="1200" b="1" baseline="-17361" dirty="0">
                <a:solidFill>
                  <a:srgbClr val="D32E2E"/>
                </a:solidFill>
                <a:latin typeface="Arial"/>
                <a:cs typeface="Arial"/>
              </a:rPr>
              <a:t>3</a:t>
            </a:r>
            <a:r>
              <a:rPr sz="1200" b="1" spc="112" baseline="-17361" dirty="0">
                <a:solidFill>
                  <a:srgbClr val="D32E2E"/>
                </a:solidFill>
                <a:latin typeface="Arial"/>
                <a:cs typeface="Arial"/>
              </a:rPr>
              <a:t> </a:t>
            </a:r>
            <a:r>
              <a:rPr sz="950" dirty="0">
                <a:solidFill>
                  <a:srgbClr val="1B2433"/>
                </a:solidFill>
                <a:latin typeface="Arial"/>
                <a:cs typeface="Arial"/>
              </a:rPr>
              <a:t>(5.619</a:t>
            </a:r>
            <a:r>
              <a:rPr sz="950" spc="40" dirty="0">
                <a:solidFill>
                  <a:srgbClr val="1B2433"/>
                </a:solidFill>
                <a:latin typeface="Arial"/>
                <a:cs typeface="Arial"/>
              </a:rPr>
              <a:t> </a:t>
            </a:r>
            <a:r>
              <a:rPr sz="950" dirty="0">
                <a:solidFill>
                  <a:srgbClr val="1B2433"/>
                </a:solidFill>
                <a:latin typeface="Arial"/>
                <a:cs typeface="Arial"/>
              </a:rPr>
              <a:t>×</a:t>
            </a:r>
            <a:r>
              <a:rPr sz="950" spc="35" dirty="0">
                <a:solidFill>
                  <a:srgbClr val="1B2433"/>
                </a:solidFill>
                <a:latin typeface="Arial"/>
                <a:cs typeface="Arial"/>
              </a:rPr>
              <a:t> </a:t>
            </a:r>
            <a:r>
              <a:rPr sz="950" dirty="0">
                <a:solidFill>
                  <a:srgbClr val="1B2433"/>
                </a:solidFill>
                <a:latin typeface="Arial"/>
                <a:cs typeface="Arial"/>
              </a:rPr>
              <a:t>10</a:t>
            </a:r>
            <a:r>
              <a:rPr sz="950" spc="140" dirty="0">
                <a:solidFill>
                  <a:srgbClr val="1B2433"/>
                </a:solidFill>
                <a:latin typeface="Arial"/>
                <a:cs typeface="Arial"/>
              </a:rPr>
              <a:t>  </a:t>
            </a:r>
            <a:r>
              <a:rPr sz="950" spc="-25" dirty="0">
                <a:solidFill>
                  <a:srgbClr val="1B2433"/>
                </a:solidFill>
                <a:latin typeface="Arial"/>
                <a:cs typeface="Arial"/>
              </a:rPr>
              <a:t>g)</a:t>
            </a:r>
            <a:endParaRPr sz="950" dirty="0">
              <a:latin typeface="Arial"/>
              <a:cs typeface="Arial"/>
            </a:endParaRPr>
          </a:p>
          <a:p>
            <a:pPr marL="1069975">
              <a:lnSpc>
                <a:spcPts val="1080"/>
              </a:lnSpc>
            </a:pPr>
            <a:r>
              <a:rPr sz="950" dirty="0">
                <a:solidFill>
                  <a:srgbClr val="1B2433"/>
                </a:solidFill>
                <a:latin typeface="Arial"/>
                <a:cs typeface="Arial"/>
              </a:rPr>
              <a:t>1</a:t>
            </a:r>
            <a:r>
              <a:rPr sz="950" spc="20" dirty="0">
                <a:solidFill>
                  <a:srgbClr val="1B2433"/>
                </a:solidFill>
                <a:latin typeface="Arial"/>
                <a:cs typeface="Arial"/>
              </a:rPr>
              <a:t> </a:t>
            </a:r>
            <a:r>
              <a:rPr lang="en-PH" sz="950" strike="sngStrike" spc="-25" dirty="0">
                <a:solidFill>
                  <a:srgbClr val="1B2433"/>
                </a:solidFill>
                <a:latin typeface="Arial"/>
                <a:cs typeface="Arial"/>
              </a:rPr>
              <a:t>carton</a:t>
            </a:r>
            <a:endParaRPr sz="950" strike="sngStrike" dirty="0">
              <a:latin typeface="Arial"/>
              <a:cs typeface="Arial"/>
            </a:endParaRPr>
          </a:p>
        </p:txBody>
      </p:sp>
      <p:sp>
        <p:nvSpPr>
          <p:cNvPr id="107" name="object 107"/>
          <p:cNvSpPr/>
          <p:nvPr/>
        </p:nvSpPr>
        <p:spPr>
          <a:xfrm>
            <a:off x="228599" y="10544174"/>
            <a:ext cx="14782800" cy="1800225"/>
          </a:xfrm>
          <a:custGeom>
            <a:avLst/>
            <a:gdLst/>
            <a:ahLst/>
            <a:cxnLst/>
            <a:rect l="l" t="t" r="r" b="b"/>
            <a:pathLst>
              <a:path w="14782800" h="1800225">
                <a:moveTo>
                  <a:pt x="14782798" y="1800224"/>
                </a:moveTo>
                <a:lnTo>
                  <a:pt x="0" y="1800224"/>
                </a:lnTo>
                <a:lnTo>
                  <a:pt x="0" y="0"/>
                </a:lnTo>
                <a:lnTo>
                  <a:pt x="14782798" y="0"/>
                </a:lnTo>
                <a:lnTo>
                  <a:pt x="14782798" y="1800224"/>
                </a:lnTo>
                <a:close/>
              </a:path>
            </a:pathLst>
          </a:custGeom>
          <a:solidFill>
            <a:srgbClr val="FFFFF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08" name="object 108"/>
          <p:cNvSpPr txBox="1"/>
          <p:nvPr/>
        </p:nvSpPr>
        <p:spPr>
          <a:xfrm>
            <a:off x="242887" y="10558461"/>
            <a:ext cx="14754225" cy="1771650"/>
          </a:xfrm>
          <a:prstGeom prst="rect">
            <a:avLst/>
          </a:prstGeom>
          <a:ln w="28574">
            <a:solidFill>
              <a:srgbClr val="003399"/>
            </a:solidFill>
          </a:ln>
        </p:spPr>
        <p:txBody>
          <a:bodyPr vert="horz" wrap="square" lIns="0" tIns="118745" rIns="0" bIns="0" rtlCol="0">
            <a:spAutoFit/>
          </a:bodyPr>
          <a:lstStyle/>
          <a:p>
            <a:pPr marL="147320">
              <a:lnSpc>
                <a:spcPct val="100000"/>
              </a:lnSpc>
              <a:spcBef>
                <a:spcPts val="935"/>
              </a:spcBef>
            </a:pPr>
            <a:r>
              <a:rPr sz="1050" b="1" spc="45" dirty="0">
                <a:solidFill>
                  <a:srgbClr val="4A0D4E"/>
                </a:solidFill>
                <a:latin typeface="Arial"/>
                <a:cs typeface="Arial"/>
              </a:rPr>
              <a:t>SECTION</a:t>
            </a:r>
            <a:r>
              <a:rPr sz="1050" b="1" spc="110" dirty="0">
                <a:solidFill>
                  <a:srgbClr val="4A0D4E"/>
                </a:solidFill>
                <a:latin typeface="Arial"/>
                <a:cs typeface="Arial"/>
              </a:rPr>
              <a:t> </a:t>
            </a:r>
            <a:r>
              <a:rPr sz="1050" b="1" dirty="0">
                <a:solidFill>
                  <a:srgbClr val="4A0D4E"/>
                </a:solidFill>
                <a:latin typeface="Arial"/>
                <a:cs typeface="Arial"/>
              </a:rPr>
              <a:t>F</a:t>
            </a:r>
            <a:r>
              <a:rPr sz="1050" b="1" spc="114" dirty="0">
                <a:solidFill>
                  <a:srgbClr val="4A0D4E"/>
                </a:solidFill>
                <a:latin typeface="Arial"/>
                <a:cs typeface="Arial"/>
              </a:rPr>
              <a:t> </a:t>
            </a:r>
            <a:r>
              <a:rPr sz="1050" b="1" dirty="0">
                <a:solidFill>
                  <a:srgbClr val="003399"/>
                </a:solidFill>
                <a:latin typeface="Arial"/>
                <a:cs typeface="Arial"/>
              </a:rPr>
              <a:t>·</a:t>
            </a:r>
            <a:r>
              <a:rPr sz="1050" b="1" spc="-5" dirty="0">
                <a:solidFill>
                  <a:srgbClr val="003399"/>
                </a:solidFill>
                <a:latin typeface="Arial"/>
                <a:cs typeface="Arial"/>
              </a:rPr>
              <a:t> </a:t>
            </a:r>
            <a:r>
              <a:rPr sz="1050" b="1" dirty="0">
                <a:solidFill>
                  <a:srgbClr val="003399"/>
                </a:solidFill>
                <a:latin typeface="Arial"/>
                <a:cs typeface="Arial"/>
              </a:rPr>
              <a:t>MACRO</a:t>
            </a:r>
            <a:r>
              <a:rPr sz="1050" b="1" spc="-10" dirty="0">
                <a:solidFill>
                  <a:srgbClr val="003399"/>
                </a:solidFill>
                <a:latin typeface="Arial"/>
                <a:cs typeface="Arial"/>
              </a:rPr>
              <a:t> </a:t>
            </a:r>
            <a:r>
              <a:rPr sz="1050" b="1" dirty="0">
                <a:solidFill>
                  <a:srgbClr val="003399"/>
                </a:solidFill>
                <a:latin typeface="Arial"/>
                <a:cs typeface="Arial"/>
              </a:rPr>
              <a:t>SCENARIO</a:t>
            </a:r>
            <a:r>
              <a:rPr sz="1050" b="1" spc="-10" dirty="0">
                <a:solidFill>
                  <a:srgbClr val="003399"/>
                </a:solidFill>
                <a:latin typeface="Arial"/>
                <a:cs typeface="Arial"/>
              </a:rPr>
              <a:t> SCALE-</a:t>
            </a:r>
            <a:r>
              <a:rPr sz="1050" b="1" spc="-25" dirty="0">
                <a:solidFill>
                  <a:srgbClr val="003399"/>
                </a:solidFill>
                <a:latin typeface="Arial"/>
                <a:cs typeface="Arial"/>
              </a:rPr>
              <a:t>UP</a:t>
            </a:r>
            <a:endParaRPr sz="1050">
              <a:latin typeface="Arial"/>
              <a:cs typeface="Arial"/>
            </a:endParaRPr>
          </a:p>
        </p:txBody>
      </p:sp>
      <p:sp>
        <p:nvSpPr>
          <p:cNvPr id="109" name="object 109"/>
          <p:cNvSpPr txBox="1"/>
          <p:nvPr/>
        </p:nvSpPr>
        <p:spPr>
          <a:xfrm>
            <a:off x="404812" y="10929936"/>
            <a:ext cx="3505200" cy="816249"/>
          </a:xfrm>
          <a:prstGeom prst="rect">
            <a:avLst/>
          </a:prstGeom>
          <a:solidFill>
            <a:srgbClr val="F4F5F9"/>
          </a:solidFill>
          <a:ln w="28574">
            <a:solidFill>
              <a:srgbClr val="003399"/>
            </a:solidFill>
          </a:ln>
        </p:spPr>
        <p:txBody>
          <a:bodyPr vert="horz" wrap="square" lIns="0" tIns="99695" rIns="0" bIns="0" rtlCol="0">
            <a:spAutoFit/>
          </a:bodyPr>
          <a:lstStyle/>
          <a:p>
            <a:pPr marL="128270">
              <a:lnSpc>
                <a:spcPct val="100000"/>
              </a:lnSpc>
              <a:spcBef>
                <a:spcPts val="785"/>
              </a:spcBef>
            </a:pPr>
            <a:r>
              <a:rPr sz="900" b="1" dirty="0">
                <a:solidFill>
                  <a:srgbClr val="4A0D4E"/>
                </a:solidFill>
                <a:latin typeface="Arial"/>
                <a:cs typeface="Arial"/>
              </a:rPr>
              <a:t>1</a:t>
            </a:r>
            <a:r>
              <a:rPr sz="900" b="1" spc="-5" dirty="0">
                <a:solidFill>
                  <a:srgbClr val="4A0D4E"/>
                </a:solidFill>
                <a:latin typeface="Arial"/>
                <a:cs typeface="Arial"/>
              </a:rPr>
              <a:t> </a:t>
            </a:r>
            <a:r>
              <a:rPr sz="900" b="1" dirty="0">
                <a:solidFill>
                  <a:srgbClr val="4A0D4E"/>
                </a:solidFill>
                <a:latin typeface="Arial"/>
                <a:cs typeface="Arial"/>
              </a:rPr>
              <a:t>· ONE 200 mL</a:t>
            </a:r>
            <a:r>
              <a:rPr sz="900" b="1" spc="-20" dirty="0">
                <a:solidFill>
                  <a:srgbClr val="4A0D4E"/>
                </a:solidFill>
                <a:latin typeface="Arial"/>
                <a:cs typeface="Arial"/>
              </a:rPr>
              <a:t> PACK</a:t>
            </a:r>
            <a:endParaRPr sz="900" dirty="0">
              <a:latin typeface="Arial"/>
              <a:cs typeface="Arial"/>
            </a:endParaRPr>
          </a:p>
          <a:p>
            <a:pPr marL="128270">
              <a:lnSpc>
                <a:spcPct val="100000"/>
              </a:lnSpc>
              <a:spcBef>
                <a:spcPts val="620"/>
              </a:spcBef>
            </a:pPr>
            <a:r>
              <a:rPr sz="1850" b="1" dirty="0">
                <a:solidFill>
                  <a:srgbClr val="003399"/>
                </a:solidFill>
                <a:latin typeface="Arial"/>
                <a:cs typeface="Arial"/>
              </a:rPr>
              <a:t>1.690</a:t>
            </a:r>
            <a:r>
              <a:rPr sz="1850" b="1" spc="30" dirty="0">
                <a:solidFill>
                  <a:srgbClr val="003399"/>
                </a:solidFill>
                <a:latin typeface="Arial"/>
                <a:cs typeface="Arial"/>
              </a:rPr>
              <a:t> </a:t>
            </a:r>
            <a:r>
              <a:rPr sz="1850" b="1" dirty="0">
                <a:solidFill>
                  <a:srgbClr val="003399"/>
                </a:solidFill>
                <a:latin typeface="Arial"/>
                <a:cs typeface="Arial"/>
              </a:rPr>
              <a:t>×</a:t>
            </a:r>
            <a:r>
              <a:rPr sz="1850" b="1" spc="35" dirty="0">
                <a:solidFill>
                  <a:srgbClr val="003399"/>
                </a:solidFill>
                <a:latin typeface="Arial"/>
                <a:cs typeface="Arial"/>
              </a:rPr>
              <a:t> </a:t>
            </a:r>
            <a:r>
              <a:rPr sz="1850" b="1" spc="-20" dirty="0">
                <a:solidFill>
                  <a:srgbClr val="003399"/>
                </a:solidFill>
                <a:latin typeface="Arial"/>
                <a:cs typeface="Arial"/>
              </a:rPr>
              <a:t>10</a:t>
            </a:r>
            <a:r>
              <a:rPr sz="2325" b="1" spc="-30" baseline="25089" dirty="0">
                <a:solidFill>
                  <a:srgbClr val="003399"/>
                </a:solidFill>
                <a:latin typeface="Arial"/>
                <a:cs typeface="Arial"/>
              </a:rPr>
              <a:t>21</a:t>
            </a:r>
            <a:endParaRPr sz="2325" baseline="25089" dirty="0">
              <a:latin typeface="Arial"/>
              <a:cs typeface="Arial"/>
            </a:endParaRPr>
          </a:p>
          <a:p>
            <a:pPr marL="128270">
              <a:lnSpc>
                <a:spcPct val="100000"/>
              </a:lnSpc>
              <a:spcBef>
                <a:spcPts val="580"/>
              </a:spcBef>
            </a:pPr>
            <a:r>
              <a:rPr sz="900" dirty="0">
                <a:solidFill>
                  <a:srgbClr val="1B2433"/>
                </a:solidFill>
                <a:latin typeface="Arial"/>
                <a:cs typeface="Arial"/>
              </a:rPr>
              <a:t>formula units of CaCO</a:t>
            </a:r>
            <a:r>
              <a:rPr sz="1125" baseline="-18518" dirty="0">
                <a:solidFill>
                  <a:srgbClr val="1B2433"/>
                </a:solidFill>
                <a:latin typeface="Arial"/>
                <a:cs typeface="Arial"/>
              </a:rPr>
              <a:t>3</a:t>
            </a:r>
            <a:r>
              <a:rPr sz="1125" spc="60" baseline="-18518" dirty="0">
                <a:solidFill>
                  <a:srgbClr val="1B2433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1B2433"/>
                </a:solidFill>
                <a:latin typeface="Arial"/>
                <a:cs typeface="Arial"/>
              </a:rPr>
              <a:t>in one </a:t>
            </a:r>
            <a:r>
              <a:rPr lang="en-PH" sz="900" dirty="0">
                <a:solidFill>
                  <a:srgbClr val="1B2433"/>
                </a:solidFill>
                <a:latin typeface="Arial"/>
                <a:cs typeface="Arial"/>
              </a:rPr>
              <a:t>carton</a:t>
            </a:r>
            <a:r>
              <a:rPr sz="900" dirty="0">
                <a:solidFill>
                  <a:srgbClr val="1B2433"/>
                </a:solidFill>
                <a:latin typeface="Arial"/>
                <a:cs typeface="Arial"/>
              </a:rPr>
              <a:t> (2.807 × 10</a:t>
            </a:r>
            <a:r>
              <a:rPr sz="1125" baseline="25925" dirty="0">
                <a:solidFill>
                  <a:srgbClr val="1B2433"/>
                </a:solidFill>
                <a:latin typeface="Arial"/>
                <a:cs typeface="Arial"/>
              </a:rPr>
              <a:t>−3</a:t>
            </a:r>
            <a:r>
              <a:rPr sz="1125" spc="60" baseline="25925" dirty="0">
                <a:solidFill>
                  <a:srgbClr val="1B2433"/>
                </a:solidFill>
                <a:latin typeface="Arial"/>
                <a:cs typeface="Arial"/>
              </a:rPr>
              <a:t> </a:t>
            </a:r>
            <a:r>
              <a:rPr sz="900" spc="-20" dirty="0">
                <a:solidFill>
                  <a:srgbClr val="1B2433"/>
                </a:solidFill>
                <a:latin typeface="Arial"/>
                <a:cs typeface="Arial"/>
              </a:rPr>
              <a:t>mol)</a:t>
            </a:r>
            <a:endParaRPr sz="900" dirty="0">
              <a:latin typeface="Arial"/>
              <a:cs typeface="Arial"/>
            </a:endParaRPr>
          </a:p>
        </p:txBody>
      </p:sp>
      <p:sp>
        <p:nvSpPr>
          <p:cNvPr id="110" name="object 110"/>
          <p:cNvSpPr txBox="1"/>
          <p:nvPr/>
        </p:nvSpPr>
        <p:spPr>
          <a:xfrm>
            <a:off x="4052887" y="10929936"/>
            <a:ext cx="3495675" cy="816249"/>
          </a:xfrm>
          <a:prstGeom prst="rect">
            <a:avLst/>
          </a:prstGeom>
          <a:solidFill>
            <a:srgbClr val="F4F5F9"/>
          </a:solidFill>
          <a:ln w="28574">
            <a:solidFill>
              <a:srgbClr val="003399"/>
            </a:solidFill>
          </a:ln>
        </p:spPr>
        <p:txBody>
          <a:bodyPr vert="horz" wrap="square" lIns="0" tIns="99695" rIns="0" bIns="0" rtlCol="0">
            <a:spAutoFit/>
          </a:bodyPr>
          <a:lstStyle/>
          <a:p>
            <a:pPr marL="123825">
              <a:lnSpc>
                <a:spcPct val="100000"/>
              </a:lnSpc>
              <a:spcBef>
                <a:spcPts val="785"/>
              </a:spcBef>
            </a:pPr>
            <a:r>
              <a:rPr sz="900" b="1" dirty="0">
                <a:solidFill>
                  <a:srgbClr val="4A0D4E"/>
                </a:solidFill>
                <a:latin typeface="Arial"/>
                <a:cs typeface="Arial"/>
              </a:rPr>
              <a:t>2</a:t>
            </a:r>
            <a:r>
              <a:rPr sz="900" b="1" spc="-5" dirty="0">
                <a:solidFill>
                  <a:srgbClr val="4A0D4E"/>
                </a:solidFill>
                <a:latin typeface="Arial"/>
                <a:cs typeface="Arial"/>
              </a:rPr>
              <a:t> </a:t>
            </a:r>
            <a:r>
              <a:rPr sz="900" b="1" dirty="0">
                <a:solidFill>
                  <a:srgbClr val="4A0D4E"/>
                </a:solidFill>
                <a:latin typeface="Arial"/>
                <a:cs typeface="Arial"/>
              </a:rPr>
              <a:t>· EXAM WEEK, 200 </a:t>
            </a:r>
            <a:r>
              <a:rPr lang="en-PH" sz="900" b="1" spc="-20">
                <a:solidFill>
                  <a:srgbClr val="4A0D4E"/>
                </a:solidFill>
                <a:latin typeface="Arial"/>
                <a:cs typeface="Arial"/>
              </a:rPr>
              <a:t>carton</a:t>
            </a:r>
            <a:r>
              <a:rPr lang="en-PH" sz="900" b="1" spc="-20" dirty="0">
                <a:solidFill>
                  <a:srgbClr val="4A0D4E"/>
                </a:solidFill>
                <a:latin typeface="Arial"/>
                <a:cs typeface="Arial"/>
              </a:rPr>
              <a:t>s</a:t>
            </a:r>
            <a:endParaRPr sz="900" dirty="0">
              <a:latin typeface="Arial"/>
              <a:cs typeface="Arial"/>
            </a:endParaRPr>
          </a:p>
          <a:p>
            <a:pPr marL="123825">
              <a:lnSpc>
                <a:spcPct val="100000"/>
              </a:lnSpc>
              <a:spcBef>
                <a:spcPts val="620"/>
              </a:spcBef>
            </a:pPr>
            <a:r>
              <a:rPr sz="1850" b="1" dirty="0">
                <a:solidFill>
                  <a:srgbClr val="003399"/>
                </a:solidFill>
                <a:latin typeface="Arial"/>
                <a:cs typeface="Arial"/>
              </a:rPr>
              <a:t>3.381</a:t>
            </a:r>
            <a:r>
              <a:rPr sz="1850" b="1" spc="30" dirty="0">
                <a:solidFill>
                  <a:srgbClr val="003399"/>
                </a:solidFill>
                <a:latin typeface="Arial"/>
                <a:cs typeface="Arial"/>
              </a:rPr>
              <a:t> </a:t>
            </a:r>
            <a:r>
              <a:rPr sz="1850" b="1" dirty="0">
                <a:solidFill>
                  <a:srgbClr val="003399"/>
                </a:solidFill>
                <a:latin typeface="Arial"/>
                <a:cs typeface="Arial"/>
              </a:rPr>
              <a:t>×</a:t>
            </a:r>
            <a:r>
              <a:rPr sz="1850" b="1" spc="35" dirty="0">
                <a:solidFill>
                  <a:srgbClr val="003399"/>
                </a:solidFill>
                <a:latin typeface="Arial"/>
                <a:cs typeface="Arial"/>
              </a:rPr>
              <a:t> </a:t>
            </a:r>
            <a:r>
              <a:rPr sz="1850" b="1" spc="-20" dirty="0">
                <a:solidFill>
                  <a:srgbClr val="003399"/>
                </a:solidFill>
                <a:latin typeface="Arial"/>
                <a:cs typeface="Arial"/>
              </a:rPr>
              <a:t>10</a:t>
            </a:r>
            <a:r>
              <a:rPr sz="2325" b="1" spc="-30" baseline="25089" dirty="0">
                <a:solidFill>
                  <a:srgbClr val="003399"/>
                </a:solidFill>
                <a:latin typeface="Arial"/>
                <a:cs typeface="Arial"/>
              </a:rPr>
              <a:t>23</a:t>
            </a:r>
            <a:endParaRPr sz="2325" baseline="25089" dirty="0">
              <a:latin typeface="Arial"/>
              <a:cs typeface="Arial"/>
            </a:endParaRPr>
          </a:p>
          <a:p>
            <a:pPr marL="123825">
              <a:lnSpc>
                <a:spcPct val="100000"/>
              </a:lnSpc>
              <a:spcBef>
                <a:spcPts val="580"/>
              </a:spcBef>
            </a:pPr>
            <a:r>
              <a:rPr sz="900" dirty="0">
                <a:solidFill>
                  <a:srgbClr val="1B2433"/>
                </a:solidFill>
                <a:latin typeface="Arial"/>
                <a:cs typeface="Arial"/>
              </a:rPr>
              <a:t>formula units; 5.614 × 10</a:t>
            </a:r>
            <a:r>
              <a:rPr sz="1125" baseline="25925" dirty="0">
                <a:solidFill>
                  <a:srgbClr val="1B2433"/>
                </a:solidFill>
                <a:latin typeface="Arial"/>
                <a:cs typeface="Arial"/>
              </a:rPr>
              <a:t>−1</a:t>
            </a:r>
            <a:r>
              <a:rPr sz="1125" spc="60" baseline="25925" dirty="0">
                <a:solidFill>
                  <a:srgbClr val="1B2433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1B2433"/>
                </a:solidFill>
                <a:latin typeface="Arial"/>
                <a:cs typeface="Arial"/>
              </a:rPr>
              <a:t>mol, about 5.619 × 10</a:t>
            </a:r>
            <a:r>
              <a:rPr sz="1125" baseline="25925" dirty="0">
                <a:solidFill>
                  <a:srgbClr val="1B2433"/>
                </a:solidFill>
                <a:latin typeface="Arial"/>
                <a:cs typeface="Arial"/>
              </a:rPr>
              <a:t>1</a:t>
            </a:r>
            <a:r>
              <a:rPr sz="1125" spc="60" baseline="25925" dirty="0">
                <a:solidFill>
                  <a:srgbClr val="1B2433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1B2433"/>
                </a:solidFill>
                <a:latin typeface="Arial"/>
                <a:cs typeface="Arial"/>
              </a:rPr>
              <a:t>g </a:t>
            </a:r>
            <a:r>
              <a:rPr sz="900" spc="-10" dirty="0">
                <a:solidFill>
                  <a:srgbClr val="1B2433"/>
                </a:solidFill>
                <a:latin typeface="Arial"/>
                <a:cs typeface="Arial"/>
              </a:rPr>
              <a:t>CaCO</a:t>
            </a:r>
            <a:r>
              <a:rPr sz="1125" spc="-15" baseline="-18518" dirty="0">
                <a:solidFill>
                  <a:srgbClr val="1B2433"/>
                </a:solidFill>
                <a:latin typeface="Arial"/>
                <a:cs typeface="Arial"/>
              </a:rPr>
              <a:t>3</a:t>
            </a:r>
            <a:endParaRPr sz="1125" baseline="-18518" dirty="0">
              <a:latin typeface="Arial"/>
              <a:cs typeface="Arial"/>
            </a:endParaRPr>
          </a:p>
        </p:txBody>
      </p:sp>
      <p:sp>
        <p:nvSpPr>
          <p:cNvPr id="111" name="object 111"/>
          <p:cNvSpPr txBox="1"/>
          <p:nvPr/>
        </p:nvSpPr>
        <p:spPr>
          <a:xfrm>
            <a:off x="7691436" y="10929936"/>
            <a:ext cx="3505200" cy="968470"/>
          </a:xfrm>
          <a:prstGeom prst="rect">
            <a:avLst/>
          </a:prstGeom>
          <a:solidFill>
            <a:srgbClr val="F4F5F9"/>
          </a:solidFill>
          <a:ln w="28574">
            <a:solidFill>
              <a:srgbClr val="003399"/>
            </a:solidFill>
          </a:ln>
        </p:spPr>
        <p:txBody>
          <a:bodyPr vert="horz" wrap="square" lIns="0" tIns="99695" rIns="0" bIns="0" rtlCol="0">
            <a:spAutoFit/>
          </a:bodyPr>
          <a:lstStyle/>
          <a:p>
            <a:pPr marL="128270">
              <a:lnSpc>
                <a:spcPct val="100000"/>
              </a:lnSpc>
              <a:spcBef>
                <a:spcPts val="785"/>
              </a:spcBef>
            </a:pPr>
            <a:r>
              <a:rPr sz="900" b="1" dirty="0">
                <a:solidFill>
                  <a:srgbClr val="4A0D4E"/>
                </a:solidFill>
                <a:latin typeface="Arial"/>
                <a:cs typeface="Arial"/>
              </a:rPr>
              <a:t>3 · </a:t>
            </a:r>
            <a:r>
              <a:rPr sz="900" b="1" spc="-20" dirty="0">
                <a:solidFill>
                  <a:srgbClr val="4A0D4E"/>
                </a:solidFill>
                <a:latin typeface="Arial"/>
                <a:cs typeface="Arial"/>
              </a:rPr>
              <a:t>DEPARTMENT,</a:t>
            </a:r>
            <a:r>
              <a:rPr sz="900" b="1" dirty="0">
                <a:solidFill>
                  <a:srgbClr val="4A0D4E"/>
                </a:solidFill>
                <a:latin typeface="Arial"/>
                <a:cs typeface="Arial"/>
              </a:rPr>
              <a:t> ONE</a:t>
            </a:r>
            <a:r>
              <a:rPr sz="900" b="1" spc="-20" dirty="0">
                <a:solidFill>
                  <a:srgbClr val="4A0D4E"/>
                </a:solidFill>
                <a:latin typeface="Arial"/>
                <a:cs typeface="Arial"/>
              </a:rPr>
              <a:t> YEAR</a:t>
            </a:r>
            <a:endParaRPr sz="900" dirty="0">
              <a:latin typeface="Arial"/>
              <a:cs typeface="Arial"/>
            </a:endParaRPr>
          </a:p>
          <a:p>
            <a:pPr marL="128270">
              <a:lnSpc>
                <a:spcPct val="100000"/>
              </a:lnSpc>
              <a:spcBef>
                <a:spcPts val="620"/>
              </a:spcBef>
            </a:pPr>
            <a:r>
              <a:rPr sz="1850" b="1" dirty="0">
                <a:solidFill>
                  <a:srgbClr val="003399"/>
                </a:solidFill>
                <a:latin typeface="Arial"/>
                <a:cs typeface="Arial"/>
              </a:rPr>
              <a:t>6.170</a:t>
            </a:r>
            <a:r>
              <a:rPr sz="1850" b="1" spc="30" dirty="0">
                <a:solidFill>
                  <a:srgbClr val="003399"/>
                </a:solidFill>
                <a:latin typeface="Arial"/>
                <a:cs typeface="Arial"/>
              </a:rPr>
              <a:t> </a:t>
            </a:r>
            <a:r>
              <a:rPr sz="1850" b="1" dirty="0">
                <a:solidFill>
                  <a:srgbClr val="003399"/>
                </a:solidFill>
                <a:latin typeface="Arial"/>
                <a:cs typeface="Arial"/>
              </a:rPr>
              <a:t>×</a:t>
            </a:r>
            <a:r>
              <a:rPr sz="1850" b="1" spc="35" dirty="0">
                <a:solidFill>
                  <a:srgbClr val="003399"/>
                </a:solidFill>
                <a:latin typeface="Arial"/>
                <a:cs typeface="Arial"/>
              </a:rPr>
              <a:t> </a:t>
            </a:r>
            <a:r>
              <a:rPr sz="1850" b="1" spc="-20" dirty="0">
                <a:solidFill>
                  <a:srgbClr val="003399"/>
                </a:solidFill>
                <a:latin typeface="Arial"/>
                <a:cs typeface="Arial"/>
              </a:rPr>
              <a:t>10</a:t>
            </a:r>
            <a:r>
              <a:rPr sz="2325" b="1" spc="-30" baseline="25089" dirty="0">
                <a:solidFill>
                  <a:srgbClr val="003399"/>
                </a:solidFill>
                <a:latin typeface="Arial"/>
                <a:cs typeface="Arial"/>
              </a:rPr>
              <a:t>25</a:t>
            </a:r>
            <a:endParaRPr sz="2325" baseline="25089" dirty="0">
              <a:latin typeface="Arial"/>
              <a:cs typeface="Arial"/>
            </a:endParaRPr>
          </a:p>
          <a:p>
            <a:pPr marL="128270" marR="238125">
              <a:lnSpc>
                <a:spcPct val="125000"/>
              </a:lnSpc>
              <a:spcBef>
                <a:spcPts val="310"/>
              </a:spcBef>
            </a:pPr>
            <a:r>
              <a:rPr sz="900" dirty="0">
                <a:solidFill>
                  <a:srgbClr val="1B2433"/>
                </a:solidFill>
                <a:latin typeface="Arial"/>
                <a:cs typeface="Arial"/>
              </a:rPr>
              <a:t>formula units; 1.025 × 10</a:t>
            </a:r>
            <a:r>
              <a:rPr sz="1125" baseline="25925" dirty="0">
                <a:solidFill>
                  <a:srgbClr val="1B2433"/>
                </a:solidFill>
                <a:latin typeface="Arial"/>
                <a:cs typeface="Arial"/>
              </a:rPr>
              <a:t>2</a:t>
            </a:r>
            <a:r>
              <a:rPr sz="1125" spc="60" baseline="25925" dirty="0">
                <a:solidFill>
                  <a:srgbClr val="1B2433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1B2433"/>
                </a:solidFill>
                <a:latin typeface="Arial"/>
                <a:cs typeface="Arial"/>
              </a:rPr>
              <a:t>mol, about</a:t>
            </a:r>
            <a:r>
              <a:rPr sz="900" spc="5" dirty="0">
                <a:solidFill>
                  <a:srgbClr val="1B2433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1B2433"/>
                </a:solidFill>
                <a:latin typeface="Arial"/>
                <a:cs typeface="Arial"/>
              </a:rPr>
              <a:t>1.025 × 10</a:t>
            </a:r>
            <a:r>
              <a:rPr sz="1125" baseline="25925" dirty="0">
                <a:solidFill>
                  <a:srgbClr val="1B2433"/>
                </a:solidFill>
                <a:latin typeface="Arial"/>
                <a:cs typeface="Arial"/>
              </a:rPr>
              <a:t>4</a:t>
            </a:r>
            <a:r>
              <a:rPr sz="1125" spc="60" baseline="25925" dirty="0">
                <a:solidFill>
                  <a:srgbClr val="1B2433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1B2433"/>
                </a:solidFill>
                <a:latin typeface="Arial"/>
                <a:cs typeface="Arial"/>
              </a:rPr>
              <a:t>g.</a:t>
            </a:r>
            <a:r>
              <a:rPr sz="900" spc="-50" dirty="0">
                <a:solidFill>
                  <a:srgbClr val="1B2433"/>
                </a:solidFill>
                <a:latin typeface="Arial"/>
                <a:cs typeface="Arial"/>
              </a:rPr>
              <a:t> </a:t>
            </a:r>
            <a:r>
              <a:rPr sz="900" spc="-10" dirty="0">
                <a:solidFill>
                  <a:srgbClr val="1B2433"/>
                </a:solidFill>
                <a:latin typeface="Arial"/>
                <a:cs typeface="Arial"/>
              </a:rPr>
              <a:t>Assumes </a:t>
            </a:r>
            <a:r>
              <a:rPr sz="900" dirty="0">
                <a:solidFill>
                  <a:srgbClr val="1B2433"/>
                </a:solidFill>
                <a:latin typeface="Arial"/>
                <a:cs typeface="Arial"/>
              </a:rPr>
              <a:t>100 </a:t>
            </a:r>
            <a:r>
              <a:rPr lang="en-PH" sz="900" dirty="0">
                <a:solidFill>
                  <a:srgbClr val="1B2433"/>
                </a:solidFill>
                <a:latin typeface="Arial"/>
                <a:cs typeface="Arial"/>
              </a:rPr>
              <a:t>carton</a:t>
            </a:r>
            <a:r>
              <a:rPr sz="900" dirty="0">
                <a:solidFill>
                  <a:srgbClr val="1B2433"/>
                </a:solidFill>
                <a:latin typeface="Arial"/>
                <a:cs typeface="Arial"/>
              </a:rPr>
              <a:t>s/day × 365 days (counts </a:t>
            </a:r>
            <a:r>
              <a:rPr sz="900" spc="-10" dirty="0">
                <a:solidFill>
                  <a:srgbClr val="1B2433"/>
                </a:solidFill>
                <a:latin typeface="Arial"/>
                <a:cs typeface="Arial"/>
              </a:rPr>
              <a:t>exact).</a:t>
            </a:r>
            <a:endParaRPr sz="900" dirty="0">
              <a:latin typeface="Arial"/>
              <a:cs typeface="Arial"/>
            </a:endParaRPr>
          </a:p>
        </p:txBody>
      </p:sp>
      <p:grpSp>
        <p:nvGrpSpPr>
          <p:cNvPr id="112" name="object 112"/>
          <p:cNvGrpSpPr/>
          <p:nvPr/>
        </p:nvGrpSpPr>
        <p:grpSpPr>
          <a:xfrm>
            <a:off x="11325224" y="10915649"/>
            <a:ext cx="3524250" cy="1285875"/>
            <a:chOff x="11325224" y="10915649"/>
            <a:chExt cx="3524250" cy="1285875"/>
          </a:xfrm>
        </p:grpSpPr>
        <p:sp>
          <p:nvSpPr>
            <p:cNvPr id="113" name="object 113"/>
            <p:cNvSpPr/>
            <p:nvPr/>
          </p:nvSpPr>
          <p:spPr>
            <a:xfrm>
              <a:off x="11325224" y="10915649"/>
              <a:ext cx="3524250" cy="1285875"/>
            </a:xfrm>
            <a:custGeom>
              <a:avLst/>
              <a:gdLst/>
              <a:ahLst/>
              <a:cxnLst/>
              <a:rect l="l" t="t" r="r" b="b"/>
              <a:pathLst>
                <a:path w="3524250" h="1285875">
                  <a:moveTo>
                    <a:pt x="3524249" y="1285874"/>
                  </a:moveTo>
                  <a:lnTo>
                    <a:pt x="0" y="1285874"/>
                  </a:lnTo>
                  <a:lnTo>
                    <a:pt x="0" y="0"/>
                  </a:lnTo>
                  <a:lnTo>
                    <a:pt x="3524249" y="0"/>
                  </a:lnTo>
                  <a:lnTo>
                    <a:pt x="3524249" y="1285874"/>
                  </a:lnTo>
                  <a:close/>
                </a:path>
              </a:pathLst>
            </a:custGeom>
            <a:solidFill>
              <a:srgbClr val="FFF9DA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4" name="object 114"/>
            <p:cNvSpPr/>
            <p:nvPr/>
          </p:nvSpPr>
          <p:spPr>
            <a:xfrm>
              <a:off x="11339511" y="10929936"/>
              <a:ext cx="3495675" cy="1257300"/>
            </a:xfrm>
            <a:custGeom>
              <a:avLst/>
              <a:gdLst/>
              <a:ahLst/>
              <a:cxnLst/>
              <a:rect l="l" t="t" r="r" b="b"/>
              <a:pathLst>
                <a:path w="3495675" h="1257300">
                  <a:moveTo>
                    <a:pt x="0" y="0"/>
                  </a:moveTo>
                  <a:lnTo>
                    <a:pt x="3495674" y="0"/>
                  </a:lnTo>
                  <a:lnTo>
                    <a:pt x="3495674" y="1257299"/>
                  </a:lnTo>
                  <a:lnTo>
                    <a:pt x="0" y="1257299"/>
                  </a:lnTo>
                  <a:lnTo>
                    <a:pt x="0" y="0"/>
                  </a:lnTo>
                  <a:close/>
                </a:path>
              </a:pathLst>
            </a:custGeom>
            <a:ln w="28574">
              <a:solidFill>
                <a:srgbClr val="FFCC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15" name="object 115"/>
          <p:cNvSpPr txBox="1"/>
          <p:nvPr/>
        </p:nvSpPr>
        <p:spPr>
          <a:xfrm>
            <a:off x="11437936" y="10981002"/>
            <a:ext cx="2354264" cy="549509"/>
          </a:xfrm>
          <a:prstGeom prst="rect">
            <a:avLst/>
          </a:prstGeom>
        </p:spPr>
        <p:txBody>
          <a:bodyPr vert="horz" wrap="square" lIns="0" tIns="48895" rIns="0" bIns="0" rtlCol="0">
            <a:spAutoFit/>
          </a:bodyPr>
          <a:lstStyle/>
          <a:p>
            <a:pPr marL="25400">
              <a:lnSpc>
                <a:spcPct val="100000"/>
              </a:lnSpc>
              <a:spcBef>
                <a:spcPts val="385"/>
              </a:spcBef>
            </a:pPr>
            <a:r>
              <a:rPr sz="900" b="1" dirty="0">
                <a:solidFill>
                  <a:srgbClr val="4A0D4E"/>
                </a:solidFill>
                <a:latin typeface="Arial"/>
                <a:cs typeface="Arial"/>
              </a:rPr>
              <a:t>4</a:t>
            </a:r>
            <a:r>
              <a:rPr sz="900" b="1" spc="-5" dirty="0">
                <a:solidFill>
                  <a:srgbClr val="4A0D4E"/>
                </a:solidFill>
                <a:latin typeface="Arial"/>
                <a:cs typeface="Arial"/>
              </a:rPr>
              <a:t> </a:t>
            </a:r>
            <a:r>
              <a:rPr sz="900" b="1" dirty="0">
                <a:solidFill>
                  <a:srgbClr val="4A0D4E"/>
                </a:solidFill>
                <a:latin typeface="Arial"/>
                <a:cs typeface="Arial"/>
              </a:rPr>
              <a:t>· THE ONE-MOLE </a:t>
            </a:r>
            <a:r>
              <a:rPr sz="900" b="1" spc="-10" dirty="0">
                <a:solidFill>
                  <a:srgbClr val="4A0D4E"/>
                </a:solidFill>
                <a:latin typeface="Arial"/>
                <a:cs typeface="Arial"/>
              </a:rPr>
              <a:t>BOUNDARY</a:t>
            </a:r>
            <a:endParaRPr sz="900" dirty="0">
              <a:latin typeface="Arial"/>
              <a:cs typeface="Arial"/>
            </a:endParaRPr>
          </a:p>
          <a:p>
            <a:pPr marL="25400">
              <a:lnSpc>
                <a:spcPct val="100000"/>
              </a:lnSpc>
              <a:spcBef>
                <a:spcPts val="620"/>
              </a:spcBef>
            </a:pPr>
            <a:r>
              <a:rPr sz="1850" b="1" dirty="0">
                <a:solidFill>
                  <a:srgbClr val="1B2433"/>
                </a:solidFill>
                <a:latin typeface="Arial"/>
                <a:cs typeface="Arial"/>
              </a:rPr>
              <a:t>3.56</a:t>
            </a:r>
            <a:r>
              <a:rPr sz="1850" b="1" spc="25" dirty="0">
                <a:solidFill>
                  <a:srgbClr val="1B2433"/>
                </a:solidFill>
                <a:latin typeface="Arial"/>
                <a:cs typeface="Arial"/>
              </a:rPr>
              <a:t> </a:t>
            </a:r>
            <a:r>
              <a:rPr sz="1850" b="1" dirty="0">
                <a:solidFill>
                  <a:srgbClr val="1B2433"/>
                </a:solidFill>
                <a:latin typeface="Arial"/>
                <a:cs typeface="Arial"/>
              </a:rPr>
              <a:t>×</a:t>
            </a:r>
            <a:r>
              <a:rPr sz="1850" b="1" spc="25" dirty="0">
                <a:solidFill>
                  <a:srgbClr val="1B2433"/>
                </a:solidFill>
                <a:latin typeface="Arial"/>
                <a:cs typeface="Arial"/>
              </a:rPr>
              <a:t> </a:t>
            </a:r>
            <a:r>
              <a:rPr sz="1850" b="1" dirty="0">
                <a:solidFill>
                  <a:srgbClr val="1B2433"/>
                </a:solidFill>
                <a:latin typeface="Arial"/>
                <a:cs typeface="Arial"/>
              </a:rPr>
              <a:t>10</a:t>
            </a:r>
            <a:r>
              <a:rPr sz="2325" b="1" baseline="25089" dirty="0">
                <a:solidFill>
                  <a:srgbClr val="1B2433"/>
                </a:solidFill>
                <a:latin typeface="Arial"/>
                <a:cs typeface="Arial"/>
              </a:rPr>
              <a:t>2</a:t>
            </a:r>
            <a:r>
              <a:rPr sz="2325" b="1" spc="172" baseline="25089" dirty="0">
                <a:solidFill>
                  <a:srgbClr val="1B2433"/>
                </a:solidFill>
                <a:latin typeface="Arial"/>
                <a:cs typeface="Arial"/>
              </a:rPr>
              <a:t> </a:t>
            </a:r>
            <a:r>
              <a:rPr lang="en-PH" sz="1850" b="1" spc="-20" dirty="0">
                <a:solidFill>
                  <a:srgbClr val="1B2433"/>
                </a:solidFill>
                <a:latin typeface="Arial"/>
                <a:cs typeface="Arial"/>
              </a:rPr>
              <a:t>carton</a:t>
            </a:r>
            <a:r>
              <a:rPr sz="1850" b="1" spc="-20" dirty="0">
                <a:solidFill>
                  <a:srgbClr val="1B2433"/>
                </a:solidFill>
                <a:latin typeface="Arial"/>
                <a:cs typeface="Arial"/>
              </a:rPr>
              <a:t>s</a:t>
            </a:r>
            <a:endParaRPr sz="1850" dirty="0">
              <a:latin typeface="Arial"/>
              <a:cs typeface="Arial"/>
            </a:endParaRPr>
          </a:p>
        </p:txBody>
      </p:sp>
      <p:sp>
        <p:nvSpPr>
          <p:cNvPr id="116" name="object 116"/>
          <p:cNvSpPr txBox="1"/>
          <p:nvPr/>
        </p:nvSpPr>
        <p:spPr>
          <a:xfrm>
            <a:off x="11463336" y="11646495"/>
            <a:ext cx="549910" cy="1625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100"/>
              </a:spcBef>
            </a:pPr>
            <a:r>
              <a:rPr sz="900" dirty="0">
                <a:solidFill>
                  <a:srgbClr val="1B2433"/>
                </a:solidFill>
                <a:latin typeface="Arial"/>
                <a:cs typeface="Arial"/>
              </a:rPr>
              <a:t>1.00 mol </a:t>
            </a:r>
            <a:r>
              <a:rPr sz="900" spc="-50" dirty="0">
                <a:solidFill>
                  <a:srgbClr val="1B2433"/>
                </a:solidFill>
                <a:latin typeface="Arial"/>
                <a:cs typeface="Arial"/>
              </a:rPr>
              <a:t>×</a:t>
            </a:r>
            <a:endParaRPr sz="900">
              <a:latin typeface="Arial"/>
              <a:cs typeface="Arial"/>
            </a:endParaRPr>
          </a:p>
        </p:txBody>
      </p:sp>
      <p:sp>
        <p:nvSpPr>
          <p:cNvPr id="117" name="object 117"/>
          <p:cNvSpPr/>
          <p:nvPr/>
        </p:nvSpPr>
        <p:spPr>
          <a:xfrm>
            <a:off x="12049124" y="11744324"/>
            <a:ext cx="571500" cy="9525"/>
          </a:xfrm>
          <a:custGeom>
            <a:avLst/>
            <a:gdLst/>
            <a:ahLst/>
            <a:cxnLst/>
            <a:rect l="l" t="t" r="r" b="b"/>
            <a:pathLst>
              <a:path w="571500" h="9525">
                <a:moveTo>
                  <a:pt x="571499" y="9524"/>
                </a:moveTo>
                <a:lnTo>
                  <a:pt x="0" y="9524"/>
                </a:lnTo>
                <a:lnTo>
                  <a:pt x="0" y="0"/>
                </a:lnTo>
                <a:lnTo>
                  <a:pt x="571499" y="0"/>
                </a:lnTo>
                <a:lnTo>
                  <a:pt x="571499" y="9524"/>
                </a:lnTo>
                <a:close/>
              </a:path>
            </a:pathLst>
          </a:custGeom>
          <a:solidFill>
            <a:srgbClr val="1B24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18" name="object 118"/>
          <p:cNvSpPr txBox="1"/>
          <p:nvPr/>
        </p:nvSpPr>
        <p:spPr>
          <a:xfrm>
            <a:off x="12079633" y="11516359"/>
            <a:ext cx="521334" cy="387350"/>
          </a:xfrm>
          <a:prstGeom prst="rect">
            <a:avLst/>
          </a:prstGeom>
        </p:spPr>
        <p:txBody>
          <a:bodyPr vert="horz" wrap="square" lIns="0" tIns="56515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445"/>
              </a:spcBef>
            </a:pPr>
            <a:r>
              <a:rPr sz="900" dirty="0">
                <a:solidFill>
                  <a:srgbClr val="1B2433"/>
                </a:solidFill>
                <a:latin typeface="Arial"/>
                <a:cs typeface="Arial"/>
              </a:rPr>
              <a:t>100.086 </a:t>
            </a:r>
            <a:r>
              <a:rPr sz="900" spc="-50" dirty="0">
                <a:solidFill>
                  <a:srgbClr val="1B2433"/>
                </a:solidFill>
                <a:latin typeface="Arial"/>
                <a:cs typeface="Arial"/>
              </a:rPr>
              <a:t>g</a:t>
            </a:r>
            <a:endParaRPr sz="900">
              <a:latin typeface="Arial"/>
              <a:cs typeface="Arial"/>
            </a:endParaRPr>
          </a:p>
          <a:p>
            <a:pPr marL="114300">
              <a:lnSpc>
                <a:spcPct val="100000"/>
              </a:lnSpc>
              <a:spcBef>
                <a:spcPts val="345"/>
              </a:spcBef>
            </a:pPr>
            <a:r>
              <a:rPr sz="900" dirty="0">
                <a:solidFill>
                  <a:srgbClr val="1B2433"/>
                </a:solidFill>
                <a:latin typeface="Arial"/>
                <a:cs typeface="Arial"/>
              </a:rPr>
              <a:t>1 </a:t>
            </a:r>
            <a:r>
              <a:rPr sz="900" spc="-25" dirty="0">
                <a:solidFill>
                  <a:srgbClr val="1B2433"/>
                </a:solidFill>
                <a:latin typeface="Arial"/>
                <a:cs typeface="Arial"/>
              </a:rPr>
              <a:t>mol</a:t>
            </a:r>
            <a:endParaRPr sz="900">
              <a:latin typeface="Arial"/>
              <a:cs typeface="Arial"/>
            </a:endParaRPr>
          </a:p>
        </p:txBody>
      </p:sp>
      <p:sp>
        <p:nvSpPr>
          <p:cNvPr id="119" name="object 119"/>
          <p:cNvSpPr txBox="1"/>
          <p:nvPr/>
        </p:nvSpPr>
        <p:spPr>
          <a:xfrm>
            <a:off x="12667560" y="11646495"/>
            <a:ext cx="80010" cy="1625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100"/>
              </a:spcBef>
            </a:pPr>
            <a:r>
              <a:rPr sz="900" spc="-50" dirty="0">
                <a:solidFill>
                  <a:srgbClr val="1B2433"/>
                </a:solidFill>
                <a:latin typeface="Arial"/>
                <a:cs typeface="Arial"/>
              </a:rPr>
              <a:t>×</a:t>
            </a:r>
            <a:endParaRPr sz="900">
              <a:latin typeface="Arial"/>
              <a:cs typeface="Arial"/>
            </a:endParaRPr>
          </a:p>
        </p:txBody>
      </p:sp>
      <p:sp>
        <p:nvSpPr>
          <p:cNvPr id="120" name="object 120"/>
          <p:cNvSpPr/>
          <p:nvPr/>
        </p:nvSpPr>
        <p:spPr>
          <a:xfrm>
            <a:off x="12782549" y="11744324"/>
            <a:ext cx="600075" cy="9525"/>
          </a:xfrm>
          <a:custGeom>
            <a:avLst/>
            <a:gdLst/>
            <a:ahLst/>
            <a:cxnLst/>
            <a:rect l="l" t="t" r="r" b="b"/>
            <a:pathLst>
              <a:path w="600075" h="9525">
                <a:moveTo>
                  <a:pt x="600074" y="9524"/>
                </a:moveTo>
                <a:lnTo>
                  <a:pt x="0" y="9524"/>
                </a:lnTo>
                <a:lnTo>
                  <a:pt x="0" y="0"/>
                </a:lnTo>
                <a:lnTo>
                  <a:pt x="600074" y="0"/>
                </a:lnTo>
                <a:lnTo>
                  <a:pt x="600074" y="9524"/>
                </a:lnTo>
                <a:close/>
              </a:path>
            </a:pathLst>
          </a:custGeom>
          <a:solidFill>
            <a:srgbClr val="1B24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21" name="object 121"/>
          <p:cNvSpPr txBox="1"/>
          <p:nvPr/>
        </p:nvSpPr>
        <p:spPr>
          <a:xfrm>
            <a:off x="12813803" y="11516359"/>
            <a:ext cx="553085" cy="387350"/>
          </a:xfrm>
          <a:prstGeom prst="rect">
            <a:avLst/>
          </a:prstGeom>
        </p:spPr>
        <p:txBody>
          <a:bodyPr vert="horz" wrap="square" lIns="0" tIns="56515" rIns="0" bIns="0" rtlCol="0">
            <a:spAutoFit/>
          </a:bodyPr>
          <a:lstStyle/>
          <a:p>
            <a:pPr marL="130175">
              <a:lnSpc>
                <a:spcPct val="100000"/>
              </a:lnSpc>
              <a:spcBef>
                <a:spcPts val="445"/>
              </a:spcBef>
            </a:pPr>
            <a:r>
              <a:rPr sz="900" dirty="0">
                <a:solidFill>
                  <a:srgbClr val="1B2433"/>
                </a:solidFill>
                <a:latin typeface="Arial"/>
                <a:cs typeface="Arial"/>
              </a:rPr>
              <a:t>1 </a:t>
            </a:r>
            <a:r>
              <a:rPr lang="en-PH" sz="900" spc="-25" dirty="0">
                <a:solidFill>
                  <a:srgbClr val="1B2433"/>
                </a:solidFill>
                <a:latin typeface="Arial"/>
                <a:cs typeface="Arial"/>
              </a:rPr>
              <a:t>carton</a:t>
            </a:r>
            <a:endParaRPr sz="900" dirty="0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345"/>
              </a:spcBef>
            </a:pPr>
            <a:r>
              <a:rPr sz="900" dirty="0">
                <a:solidFill>
                  <a:srgbClr val="1B2433"/>
                </a:solidFill>
                <a:latin typeface="Arial"/>
                <a:cs typeface="Arial"/>
              </a:rPr>
              <a:t>0.280 94 </a:t>
            </a:r>
            <a:r>
              <a:rPr sz="900" spc="-50" dirty="0">
                <a:solidFill>
                  <a:srgbClr val="1B2433"/>
                </a:solidFill>
                <a:latin typeface="Arial"/>
                <a:cs typeface="Arial"/>
              </a:rPr>
              <a:t>g</a:t>
            </a:r>
            <a:endParaRPr sz="900" dirty="0">
              <a:latin typeface="Arial"/>
              <a:cs typeface="Arial"/>
            </a:endParaRPr>
          </a:p>
        </p:txBody>
      </p:sp>
      <p:sp>
        <p:nvSpPr>
          <p:cNvPr id="122" name="object 122"/>
          <p:cNvSpPr txBox="1"/>
          <p:nvPr/>
        </p:nvSpPr>
        <p:spPr>
          <a:xfrm>
            <a:off x="13433431" y="11646495"/>
            <a:ext cx="1268095" cy="289823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100"/>
              </a:spcBef>
            </a:pPr>
            <a:r>
              <a:rPr sz="900" dirty="0">
                <a:solidFill>
                  <a:srgbClr val="1B2433"/>
                </a:solidFill>
                <a:latin typeface="Arial"/>
                <a:cs typeface="Arial"/>
              </a:rPr>
              <a:t>= 356.25 </a:t>
            </a:r>
            <a:r>
              <a:rPr lang="en-PH" sz="900" dirty="0">
                <a:solidFill>
                  <a:srgbClr val="1B2433"/>
                </a:solidFill>
                <a:latin typeface="Arial"/>
                <a:cs typeface="Arial"/>
              </a:rPr>
              <a:t>carton</a:t>
            </a:r>
            <a:r>
              <a:rPr sz="900" dirty="0">
                <a:solidFill>
                  <a:srgbClr val="1B2433"/>
                </a:solidFill>
                <a:latin typeface="Arial"/>
                <a:cs typeface="Arial"/>
              </a:rPr>
              <a:t>s (3 s.f., </a:t>
            </a:r>
            <a:r>
              <a:rPr sz="900" spc="-25" dirty="0">
                <a:solidFill>
                  <a:srgbClr val="1B2433"/>
                </a:solidFill>
                <a:latin typeface="Arial"/>
                <a:cs typeface="Arial"/>
              </a:rPr>
              <a:t>set</a:t>
            </a:r>
            <a:endParaRPr sz="900" dirty="0">
              <a:latin typeface="Arial"/>
              <a:cs typeface="Arial"/>
            </a:endParaRPr>
          </a:p>
        </p:txBody>
      </p:sp>
      <p:sp>
        <p:nvSpPr>
          <p:cNvPr id="123" name="object 123"/>
          <p:cNvSpPr txBox="1"/>
          <p:nvPr/>
        </p:nvSpPr>
        <p:spPr>
          <a:xfrm>
            <a:off x="11463336" y="11903075"/>
            <a:ext cx="641985" cy="1625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100"/>
              </a:spcBef>
            </a:pPr>
            <a:r>
              <a:rPr sz="900" dirty="0">
                <a:solidFill>
                  <a:srgbClr val="1B2433"/>
                </a:solidFill>
                <a:latin typeface="Arial"/>
                <a:cs typeface="Arial"/>
              </a:rPr>
              <a:t>by 1.00 </a:t>
            </a:r>
            <a:r>
              <a:rPr sz="900" spc="-20" dirty="0">
                <a:solidFill>
                  <a:srgbClr val="1B2433"/>
                </a:solidFill>
                <a:latin typeface="Arial"/>
                <a:cs typeface="Arial"/>
              </a:rPr>
              <a:t>mol)</a:t>
            </a:r>
            <a:endParaRPr sz="900">
              <a:latin typeface="Arial"/>
              <a:cs typeface="Arial"/>
            </a:endParaRPr>
          </a:p>
        </p:txBody>
      </p:sp>
      <p:grpSp>
        <p:nvGrpSpPr>
          <p:cNvPr id="124" name="object 124"/>
          <p:cNvGrpSpPr/>
          <p:nvPr/>
        </p:nvGrpSpPr>
        <p:grpSpPr>
          <a:xfrm>
            <a:off x="228599" y="12477749"/>
            <a:ext cx="7324725" cy="1362075"/>
            <a:chOff x="228599" y="12477749"/>
            <a:chExt cx="7324725" cy="1362075"/>
          </a:xfrm>
        </p:grpSpPr>
        <p:sp>
          <p:nvSpPr>
            <p:cNvPr id="125" name="object 125"/>
            <p:cNvSpPr/>
            <p:nvPr/>
          </p:nvSpPr>
          <p:spPr>
            <a:xfrm>
              <a:off x="228599" y="12477749"/>
              <a:ext cx="7324725" cy="1362075"/>
            </a:xfrm>
            <a:custGeom>
              <a:avLst/>
              <a:gdLst/>
              <a:ahLst/>
              <a:cxnLst/>
              <a:rect l="l" t="t" r="r" b="b"/>
              <a:pathLst>
                <a:path w="7324725" h="1362075">
                  <a:moveTo>
                    <a:pt x="7324724" y="1362074"/>
                  </a:moveTo>
                  <a:lnTo>
                    <a:pt x="0" y="1362074"/>
                  </a:lnTo>
                  <a:lnTo>
                    <a:pt x="0" y="0"/>
                  </a:lnTo>
                  <a:lnTo>
                    <a:pt x="7324724" y="0"/>
                  </a:lnTo>
                  <a:lnTo>
                    <a:pt x="7324724" y="1362074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26" name="object 126"/>
            <p:cNvSpPr/>
            <p:nvPr/>
          </p:nvSpPr>
          <p:spPr>
            <a:xfrm>
              <a:off x="390524" y="13192124"/>
              <a:ext cx="47625" cy="504825"/>
            </a:xfrm>
            <a:custGeom>
              <a:avLst/>
              <a:gdLst/>
              <a:ahLst/>
              <a:cxnLst/>
              <a:rect l="l" t="t" r="r" b="b"/>
              <a:pathLst>
                <a:path w="47625" h="504825">
                  <a:moveTo>
                    <a:pt x="47624" y="504824"/>
                  </a:moveTo>
                  <a:lnTo>
                    <a:pt x="0" y="504824"/>
                  </a:lnTo>
                  <a:lnTo>
                    <a:pt x="0" y="0"/>
                  </a:lnTo>
                  <a:lnTo>
                    <a:pt x="47624" y="0"/>
                  </a:lnTo>
                  <a:lnTo>
                    <a:pt x="47624" y="504824"/>
                  </a:lnTo>
                  <a:close/>
                </a:path>
              </a:pathLst>
            </a:custGeom>
            <a:solidFill>
              <a:srgbClr val="D32E2E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27" name="object 127"/>
          <p:cNvSpPr txBox="1"/>
          <p:nvPr/>
        </p:nvSpPr>
        <p:spPr>
          <a:xfrm>
            <a:off x="242887" y="12492036"/>
            <a:ext cx="7296150" cy="1181349"/>
          </a:xfrm>
          <a:prstGeom prst="rect">
            <a:avLst/>
          </a:prstGeom>
          <a:ln w="28574">
            <a:solidFill>
              <a:srgbClr val="FFCC00"/>
            </a:solidFill>
          </a:ln>
        </p:spPr>
        <p:txBody>
          <a:bodyPr vert="horz" wrap="square" lIns="0" tIns="118745" rIns="0" bIns="0" rtlCol="0">
            <a:spAutoFit/>
          </a:bodyPr>
          <a:lstStyle/>
          <a:p>
            <a:pPr marL="147320">
              <a:lnSpc>
                <a:spcPct val="100000"/>
              </a:lnSpc>
              <a:spcBef>
                <a:spcPts val="935"/>
              </a:spcBef>
            </a:pPr>
            <a:r>
              <a:rPr sz="1050" b="1" spc="45" dirty="0">
                <a:solidFill>
                  <a:srgbClr val="4A0D4E"/>
                </a:solidFill>
                <a:latin typeface="Arial"/>
                <a:cs typeface="Arial"/>
              </a:rPr>
              <a:t>SECTION</a:t>
            </a:r>
            <a:r>
              <a:rPr sz="1050" b="1" spc="130" dirty="0">
                <a:solidFill>
                  <a:srgbClr val="4A0D4E"/>
                </a:solidFill>
                <a:latin typeface="Arial"/>
                <a:cs typeface="Arial"/>
              </a:rPr>
              <a:t> </a:t>
            </a:r>
            <a:r>
              <a:rPr sz="1050" b="1" dirty="0">
                <a:solidFill>
                  <a:srgbClr val="4A0D4E"/>
                </a:solidFill>
                <a:latin typeface="Arial"/>
                <a:cs typeface="Arial"/>
              </a:rPr>
              <a:t>G</a:t>
            </a:r>
            <a:r>
              <a:rPr sz="1050" b="1" spc="130" dirty="0">
                <a:solidFill>
                  <a:srgbClr val="4A0D4E"/>
                </a:solidFill>
                <a:latin typeface="Arial"/>
                <a:cs typeface="Arial"/>
              </a:rPr>
              <a:t> </a:t>
            </a:r>
            <a:r>
              <a:rPr sz="1050" b="1" dirty="0">
                <a:solidFill>
                  <a:srgbClr val="4A0D4E"/>
                </a:solidFill>
                <a:latin typeface="Arial"/>
                <a:cs typeface="Arial"/>
              </a:rPr>
              <a:t>·</a:t>
            </a:r>
            <a:r>
              <a:rPr sz="1050" b="1" spc="5" dirty="0">
                <a:solidFill>
                  <a:srgbClr val="4A0D4E"/>
                </a:solidFill>
                <a:latin typeface="Arial"/>
                <a:cs typeface="Arial"/>
              </a:rPr>
              <a:t> </a:t>
            </a:r>
            <a:r>
              <a:rPr sz="1050" b="1" dirty="0">
                <a:solidFill>
                  <a:srgbClr val="4A0D4E"/>
                </a:solidFill>
                <a:latin typeface="Arial"/>
                <a:cs typeface="Arial"/>
              </a:rPr>
              <a:t>SIGNIFI</a:t>
            </a:r>
            <a:r>
              <a:rPr lang="en-US" sz="1050" b="1" dirty="0">
                <a:solidFill>
                  <a:srgbClr val="4A0D4E"/>
                </a:solidFill>
                <a:latin typeface="Arial"/>
                <a:cs typeface="Arial"/>
              </a:rPr>
              <a:t>CAN</a:t>
            </a:r>
            <a:r>
              <a:rPr sz="1050" b="1" dirty="0">
                <a:solidFill>
                  <a:srgbClr val="4A0D4E"/>
                </a:solidFill>
                <a:latin typeface="Arial"/>
                <a:cs typeface="Arial"/>
              </a:rPr>
              <a:t>T</a:t>
            </a:r>
            <a:r>
              <a:rPr sz="1050" b="1" spc="5" dirty="0">
                <a:solidFill>
                  <a:srgbClr val="4A0D4E"/>
                </a:solidFill>
                <a:latin typeface="Arial"/>
                <a:cs typeface="Arial"/>
              </a:rPr>
              <a:t> </a:t>
            </a:r>
            <a:r>
              <a:rPr sz="1050" b="1" dirty="0">
                <a:solidFill>
                  <a:srgbClr val="4A0D4E"/>
                </a:solidFill>
                <a:latin typeface="Arial"/>
                <a:cs typeface="Arial"/>
              </a:rPr>
              <a:t>FIGURES</a:t>
            </a:r>
            <a:r>
              <a:rPr sz="1050" b="1" spc="-35" dirty="0">
                <a:solidFill>
                  <a:srgbClr val="4A0D4E"/>
                </a:solidFill>
                <a:latin typeface="Arial"/>
                <a:cs typeface="Arial"/>
              </a:rPr>
              <a:t> </a:t>
            </a:r>
            <a:r>
              <a:rPr sz="1050" b="1" spc="-10" dirty="0">
                <a:solidFill>
                  <a:srgbClr val="4A0D4E"/>
                </a:solidFill>
                <a:latin typeface="Arial"/>
                <a:cs typeface="Arial"/>
              </a:rPr>
              <a:t>AUDIT</a:t>
            </a:r>
            <a:endParaRPr sz="1050" dirty="0">
              <a:latin typeface="Arial"/>
              <a:cs typeface="Arial"/>
            </a:endParaRPr>
          </a:p>
          <a:p>
            <a:pPr marL="147320">
              <a:lnSpc>
                <a:spcPct val="100000"/>
              </a:lnSpc>
              <a:spcBef>
                <a:spcPts val="690"/>
              </a:spcBef>
              <a:tabLst>
                <a:tab pos="2254885" algn="l"/>
              </a:tabLst>
            </a:pPr>
            <a:r>
              <a:rPr sz="1575" baseline="2645" dirty="0">
                <a:solidFill>
                  <a:srgbClr val="1B2433"/>
                </a:solidFill>
                <a:latin typeface="Arial"/>
                <a:cs typeface="Arial"/>
              </a:rPr>
              <a:t>Calculator:</a:t>
            </a:r>
            <a:r>
              <a:rPr sz="1575" spc="-30" baseline="2645" dirty="0">
                <a:solidFill>
                  <a:srgbClr val="1B2433"/>
                </a:solidFill>
                <a:latin typeface="Arial"/>
                <a:cs typeface="Arial"/>
              </a:rPr>
              <a:t> </a:t>
            </a:r>
            <a:r>
              <a:rPr sz="1050" b="1" dirty="0">
                <a:solidFill>
                  <a:srgbClr val="596474"/>
                </a:solidFill>
                <a:latin typeface="Arial"/>
                <a:cs typeface="Arial"/>
              </a:rPr>
              <a:t>1.690</a:t>
            </a:r>
            <a:r>
              <a:rPr sz="1050" b="1" spc="-15" dirty="0">
                <a:solidFill>
                  <a:srgbClr val="596474"/>
                </a:solidFill>
                <a:latin typeface="Arial"/>
                <a:cs typeface="Arial"/>
              </a:rPr>
              <a:t> </a:t>
            </a:r>
            <a:r>
              <a:rPr sz="1050" b="1" dirty="0">
                <a:solidFill>
                  <a:srgbClr val="596474"/>
                </a:solidFill>
                <a:latin typeface="Arial"/>
                <a:cs typeface="Arial"/>
              </a:rPr>
              <a:t>43</a:t>
            </a:r>
            <a:r>
              <a:rPr sz="1050" b="1" spc="-20" dirty="0">
                <a:solidFill>
                  <a:srgbClr val="596474"/>
                </a:solidFill>
                <a:latin typeface="Arial"/>
                <a:cs typeface="Arial"/>
              </a:rPr>
              <a:t> </a:t>
            </a:r>
            <a:r>
              <a:rPr sz="1050" b="1" dirty="0">
                <a:solidFill>
                  <a:srgbClr val="596474"/>
                </a:solidFill>
                <a:latin typeface="Arial"/>
                <a:cs typeface="Arial"/>
              </a:rPr>
              <a:t>×</a:t>
            </a:r>
            <a:r>
              <a:rPr sz="1050" b="1" spc="-15" dirty="0">
                <a:solidFill>
                  <a:srgbClr val="596474"/>
                </a:solidFill>
                <a:latin typeface="Arial"/>
                <a:cs typeface="Arial"/>
              </a:rPr>
              <a:t> </a:t>
            </a:r>
            <a:r>
              <a:rPr sz="1050" b="1" dirty="0">
                <a:solidFill>
                  <a:srgbClr val="596474"/>
                </a:solidFill>
                <a:latin typeface="Arial"/>
                <a:cs typeface="Arial"/>
              </a:rPr>
              <a:t>10</a:t>
            </a:r>
            <a:r>
              <a:rPr sz="1275" b="1" baseline="26143" dirty="0">
                <a:solidFill>
                  <a:srgbClr val="596474"/>
                </a:solidFill>
                <a:latin typeface="Arial"/>
                <a:cs typeface="Arial"/>
              </a:rPr>
              <a:t>21</a:t>
            </a:r>
            <a:r>
              <a:rPr sz="1275" b="1" spc="52" baseline="26143" dirty="0">
                <a:solidFill>
                  <a:srgbClr val="596474"/>
                </a:solidFill>
                <a:latin typeface="Arial"/>
                <a:cs typeface="Arial"/>
              </a:rPr>
              <a:t> </a:t>
            </a:r>
            <a:r>
              <a:rPr sz="1575" spc="-15" baseline="2645" dirty="0">
                <a:solidFill>
                  <a:srgbClr val="1B2433"/>
                </a:solidFill>
                <a:latin typeface="Arial"/>
                <a:cs typeface="Arial"/>
              </a:rPr>
              <a:t>units</a:t>
            </a:r>
            <a:r>
              <a:rPr sz="1575" baseline="2645" dirty="0">
                <a:solidFill>
                  <a:srgbClr val="1B2433"/>
                </a:solidFill>
                <a:latin typeface="Arial"/>
                <a:cs typeface="Arial"/>
              </a:rPr>
              <a:t>	</a:t>
            </a:r>
            <a:r>
              <a:rPr sz="2250" b="1" baseline="-3703" dirty="0">
                <a:solidFill>
                  <a:srgbClr val="D32E2E"/>
                </a:solidFill>
                <a:latin typeface="Arial"/>
                <a:cs typeface="Arial"/>
              </a:rPr>
              <a:t>→</a:t>
            </a:r>
            <a:r>
              <a:rPr sz="2250" b="1" spc="-22" baseline="-3703" dirty="0">
                <a:solidFill>
                  <a:srgbClr val="D32E2E"/>
                </a:solidFill>
                <a:latin typeface="Arial"/>
                <a:cs typeface="Arial"/>
              </a:rPr>
              <a:t> </a:t>
            </a:r>
            <a:r>
              <a:rPr sz="2250" b="1" baseline="-3703" dirty="0">
                <a:solidFill>
                  <a:srgbClr val="D32E2E"/>
                </a:solidFill>
                <a:latin typeface="Arial"/>
                <a:cs typeface="Arial"/>
              </a:rPr>
              <a:t>1.690</a:t>
            </a:r>
            <a:r>
              <a:rPr sz="2250" b="1" spc="-22" baseline="-3703" dirty="0">
                <a:solidFill>
                  <a:srgbClr val="D32E2E"/>
                </a:solidFill>
                <a:latin typeface="Arial"/>
                <a:cs typeface="Arial"/>
              </a:rPr>
              <a:t> </a:t>
            </a:r>
            <a:r>
              <a:rPr sz="2250" b="1" baseline="-3703" dirty="0">
                <a:solidFill>
                  <a:srgbClr val="D32E2E"/>
                </a:solidFill>
                <a:latin typeface="Arial"/>
                <a:cs typeface="Arial"/>
              </a:rPr>
              <a:t>×</a:t>
            </a:r>
            <a:r>
              <a:rPr sz="2250" b="1" spc="-22" baseline="-3703" dirty="0">
                <a:solidFill>
                  <a:srgbClr val="D32E2E"/>
                </a:solidFill>
                <a:latin typeface="Arial"/>
                <a:cs typeface="Arial"/>
              </a:rPr>
              <a:t> </a:t>
            </a:r>
            <a:r>
              <a:rPr sz="2250" b="1" baseline="-3703" dirty="0">
                <a:solidFill>
                  <a:srgbClr val="D32E2E"/>
                </a:solidFill>
                <a:latin typeface="Arial"/>
                <a:cs typeface="Arial"/>
              </a:rPr>
              <a:t>10</a:t>
            </a:r>
            <a:r>
              <a:rPr sz="1875" b="1" baseline="20000" dirty="0">
                <a:solidFill>
                  <a:srgbClr val="D32E2E"/>
                </a:solidFill>
                <a:latin typeface="Arial"/>
                <a:cs typeface="Arial"/>
              </a:rPr>
              <a:t>21</a:t>
            </a:r>
            <a:r>
              <a:rPr sz="1875" b="1" spc="75" baseline="20000" dirty="0">
                <a:solidFill>
                  <a:srgbClr val="D32E2E"/>
                </a:solidFill>
                <a:latin typeface="Arial"/>
                <a:cs typeface="Arial"/>
              </a:rPr>
              <a:t> </a:t>
            </a:r>
            <a:r>
              <a:rPr sz="2250" b="1" baseline="-3703" dirty="0">
                <a:solidFill>
                  <a:srgbClr val="D32E2E"/>
                </a:solidFill>
                <a:latin typeface="Arial"/>
                <a:cs typeface="Arial"/>
              </a:rPr>
              <a:t>formula</a:t>
            </a:r>
            <a:r>
              <a:rPr sz="2250" b="1" spc="-22" baseline="-3703" dirty="0">
                <a:solidFill>
                  <a:srgbClr val="D32E2E"/>
                </a:solidFill>
                <a:latin typeface="Arial"/>
                <a:cs typeface="Arial"/>
              </a:rPr>
              <a:t> </a:t>
            </a:r>
            <a:r>
              <a:rPr sz="2250" b="1" spc="-15" baseline="-3703" dirty="0">
                <a:solidFill>
                  <a:srgbClr val="D32E2E"/>
                </a:solidFill>
                <a:latin typeface="Arial"/>
                <a:cs typeface="Arial"/>
              </a:rPr>
              <a:t>units</a:t>
            </a:r>
            <a:endParaRPr sz="2250" baseline="-3703" dirty="0">
              <a:latin typeface="Arial"/>
              <a:cs typeface="Arial"/>
            </a:endParaRPr>
          </a:p>
          <a:p>
            <a:pPr marL="271145" marR="337820">
              <a:lnSpc>
                <a:spcPct val="125000"/>
              </a:lnSpc>
              <a:spcBef>
                <a:spcPts val="555"/>
              </a:spcBef>
            </a:pPr>
            <a:r>
              <a:rPr sz="900" dirty="0">
                <a:solidFill>
                  <a:srgbClr val="3A4558"/>
                </a:solidFill>
                <a:latin typeface="Arial"/>
                <a:cs typeface="Arial"/>
              </a:rPr>
              <a:t>Final</a:t>
            </a:r>
            <a:r>
              <a:rPr sz="900" spc="-5" dirty="0">
                <a:solidFill>
                  <a:srgbClr val="3A4558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3A4558"/>
                </a:solidFill>
                <a:latin typeface="Arial"/>
                <a:cs typeface="Arial"/>
              </a:rPr>
              <a:t>precision is constrained to 4 </a:t>
            </a:r>
            <a:r>
              <a:rPr sz="900" dirty="0" err="1">
                <a:solidFill>
                  <a:srgbClr val="3A4558"/>
                </a:solidFill>
                <a:latin typeface="Arial"/>
                <a:cs typeface="Arial"/>
              </a:rPr>
              <a:t>signifi</a:t>
            </a:r>
            <a:r>
              <a:rPr lang="en-PH" sz="900" dirty="0">
                <a:solidFill>
                  <a:srgbClr val="3A4558"/>
                </a:solidFill>
                <a:latin typeface="Arial"/>
                <a:cs typeface="Arial"/>
              </a:rPr>
              <a:t>can</a:t>
            </a:r>
            <a:r>
              <a:rPr sz="900" dirty="0">
                <a:solidFill>
                  <a:srgbClr val="3A4558"/>
                </a:solidFill>
                <a:latin typeface="Arial"/>
                <a:cs typeface="Arial"/>
              </a:rPr>
              <a:t>t figures due</a:t>
            </a:r>
            <a:r>
              <a:rPr sz="900" spc="-5" dirty="0">
                <a:solidFill>
                  <a:srgbClr val="3A4558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3A4558"/>
                </a:solidFill>
                <a:latin typeface="Arial"/>
                <a:cs typeface="Arial"/>
              </a:rPr>
              <a:t>to the </a:t>
            </a:r>
            <a:r>
              <a:rPr sz="900" spc="-10" dirty="0">
                <a:solidFill>
                  <a:srgbClr val="3A4558"/>
                </a:solidFill>
                <a:latin typeface="Arial"/>
                <a:cs typeface="Arial"/>
              </a:rPr>
              <a:t>112.5</a:t>
            </a:r>
            <a:r>
              <a:rPr sz="900" dirty="0">
                <a:solidFill>
                  <a:srgbClr val="3A4558"/>
                </a:solidFill>
                <a:latin typeface="Arial"/>
                <a:cs typeface="Arial"/>
              </a:rPr>
              <a:t> mg calcium limitation printed on</a:t>
            </a:r>
            <a:r>
              <a:rPr sz="900" spc="-5" dirty="0">
                <a:solidFill>
                  <a:srgbClr val="3A4558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3A4558"/>
                </a:solidFill>
                <a:latin typeface="Arial"/>
                <a:cs typeface="Arial"/>
              </a:rPr>
              <a:t>the manufacturer’s 200 </a:t>
            </a:r>
            <a:r>
              <a:rPr sz="900" spc="-25" dirty="0">
                <a:solidFill>
                  <a:srgbClr val="3A4558"/>
                </a:solidFill>
                <a:latin typeface="Arial"/>
                <a:cs typeface="Arial"/>
              </a:rPr>
              <a:t>mL </a:t>
            </a:r>
            <a:r>
              <a:rPr sz="900" dirty="0">
                <a:solidFill>
                  <a:srgbClr val="3A4558"/>
                </a:solidFill>
                <a:latin typeface="Arial"/>
                <a:cs typeface="Arial"/>
              </a:rPr>
              <a:t>nutritional panel. Exact: N</a:t>
            </a:r>
            <a:r>
              <a:rPr sz="1125" baseline="-18518" dirty="0">
                <a:solidFill>
                  <a:srgbClr val="3A4558"/>
                </a:solidFill>
                <a:latin typeface="Arial"/>
                <a:cs typeface="Arial"/>
              </a:rPr>
              <a:t>A</a:t>
            </a:r>
            <a:r>
              <a:rPr sz="900" dirty="0">
                <a:solidFill>
                  <a:srgbClr val="3A4558"/>
                </a:solidFill>
                <a:latin typeface="Arial"/>
                <a:cs typeface="Arial"/>
              </a:rPr>
              <a:t>, subscripts, </a:t>
            </a:r>
            <a:r>
              <a:rPr lang="en-PH" sz="900" dirty="0">
                <a:solidFill>
                  <a:srgbClr val="3A4558"/>
                </a:solidFill>
                <a:latin typeface="Arial"/>
                <a:cs typeface="Arial"/>
              </a:rPr>
              <a:t>carton</a:t>
            </a:r>
            <a:r>
              <a:rPr sz="900" dirty="0">
                <a:solidFill>
                  <a:srgbClr val="3A4558"/>
                </a:solidFill>
                <a:latin typeface="Arial"/>
                <a:cs typeface="Arial"/>
              </a:rPr>
              <a:t> counts, 1 g = 1000 mg.</a:t>
            </a:r>
            <a:r>
              <a:rPr sz="900" spc="-20" dirty="0">
                <a:solidFill>
                  <a:srgbClr val="3A4558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3A4558"/>
                </a:solidFill>
                <a:latin typeface="Arial"/>
                <a:cs typeface="Arial"/>
              </a:rPr>
              <a:t>The one-mole result keeps 3 s.f. because 1.00 mol has 3. </a:t>
            </a:r>
            <a:r>
              <a:rPr sz="900" spc="-10" dirty="0">
                <a:solidFill>
                  <a:srgbClr val="3A4558"/>
                </a:solidFill>
                <a:latin typeface="Arial"/>
                <a:cs typeface="Arial"/>
              </a:rPr>
              <a:t>Guard </a:t>
            </a:r>
            <a:r>
              <a:rPr sz="900" dirty="0">
                <a:solidFill>
                  <a:srgbClr val="3A4558"/>
                </a:solidFill>
                <a:latin typeface="Arial"/>
                <a:cs typeface="Arial"/>
              </a:rPr>
              <a:t>digits were kept until the last </a:t>
            </a:r>
            <a:r>
              <a:rPr sz="900" spc="-10" dirty="0">
                <a:solidFill>
                  <a:srgbClr val="3A4558"/>
                </a:solidFill>
                <a:latin typeface="Arial"/>
                <a:cs typeface="Arial"/>
              </a:rPr>
              <a:t>step.</a:t>
            </a:r>
            <a:endParaRPr sz="900" dirty="0">
              <a:latin typeface="Arial"/>
              <a:cs typeface="Arial"/>
            </a:endParaRPr>
          </a:p>
        </p:txBody>
      </p:sp>
      <p:sp>
        <p:nvSpPr>
          <p:cNvPr id="128" name="object 128"/>
          <p:cNvSpPr txBox="1"/>
          <p:nvPr/>
        </p:nvSpPr>
        <p:spPr>
          <a:xfrm>
            <a:off x="7700961" y="12492036"/>
            <a:ext cx="7296150" cy="1060931"/>
          </a:xfrm>
          <a:prstGeom prst="rect">
            <a:avLst/>
          </a:prstGeom>
          <a:solidFill>
            <a:srgbClr val="FFF9DA"/>
          </a:solidFill>
          <a:ln w="28574">
            <a:solidFill>
              <a:srgbClr val="FFCC00"/>
            </a:solidFill>
          </a:ln>
        </p:spPr>
        <p:txBody>
          <a:bodyPr vert="horz" wrap="square" lIns="0" tIns="118745" rIns="0" bIns="0" rtlCol="0">
            <a:spAutoFit/>
          </a:bodyPr>
          <a:lstStyle/>
          <a:p>
            <a:pPr marL="147320">
              <a:lnSpc>
                <a:spcPct val="100000"/>
              </a:lnSpc>
              <a:spcBef>
                <a:spcPts val="935"/>
              </a:spcBef>
            </a:pPr>
            <a:r>
              <a:rPr sz="1050" b="1" spc="55" dirty="0">
                <a:solidFill>
                  <a:srgbClr val="4A0D4E"/>
                </a:solidFill>
                <a:latin typeface="Arial"/>
                <a:cs typeface="Arial"/>
              </a:rPr>
              <a:t>ONE-</a:t>
            </a:r>
            <a:r>
              <a:rPr sz="1050" b="1" dirty="0">
                <a:solidFill>
                  <a:srgbClr val="4A0D4E"/>
                </a:solidFill>
                <a:latin typeface="Arial"/>
                <a:cs typeface="Arial"/>
              </a:rPr>
              <a:t>NUMBER</a:t>
            </a:r>
            <a:r>
              <a:rPr sz="1050" b="1" spc="390" dirty="0">
                <a:solidFill>
                  <a:srgbClr val="4A0D4E"/>
                </a:solidFill>
                <a:latin typeface="Arial"/>
                <a:cs typeface="Arial"/>
              </a:rPr>
              <a:t> </a:t>
            </a:r>
            <a:r>
              <a:rPr sz="1050" b="1" spc="-10" dirty="0">
                <a:solidFill>
                  <a:srgbClr val="4A0D4E"/>
                </a:solidFill>
                <a:latin typeface="Arial"/>
                <a:cs typeface="Arial"/>
              </a:rPr>
              <a:t>TAKEAWAY</a:t>
            </a:r>
            <a:endParaRPr sz="1050" dirty="0">
              <a:latin typeface="Arial"/>
              <a:cs typeface="Arial"/>
            </a:endParaRPr>
          </a:p>
          <a:p>
            <a:pPr marL="147320" marR="440690">
              <a:lnSpc>
                <a:spcPct val="138900"/>
              </a:lnSpc>
              <a:spcBef>
                <a:spcPts val="305"/>
              </a:spcBef>
            </a:pPr>
            <a:r>
              <a:rPr sz="1200" b="1" dirty="0">
                <a:solidFill>
                  <a:srgbClr val="1B2433"/>
                </a:solidFill>
                <a:latin typeface="Arial"/>
                <a:cs typeface="Arial"/>
              </a:rPr>
              <a:t>One</a:t>
            </a:r>
            <a:r>
              <a:rPr sz="1200" b="1" spc="-10" dirty="0">
                <a:solidFill>
                  <a:srgbClr val="1B2433"/>
                </a:solidFill>
                <a:latin typeface="Arial"/>
                <a:cs typeface="Arial"/>
              </a:rPr>
              <a:t> </a:t>
            </a:r>
            <a:r>
              <a:rPr sz="1200" b="1" dirty="0">
                <a:solidFill>
                  <a:srgbClr val="1B2433"/>
                </a:solidFill>
                <a:latin typeface="Arial"/>
                <a:cs typeface="Arial"/>
              </a:rPr>
              <a:t>200</a:t>
            </a:r>
            <a:r>
              <a:rPr sz="1200" b="1" spc="-10" dirty="0">
                <a:solidFill>
                  <a:srgbClr val="1B2433"/>
                </a:solidFill>
                <a:latin typeface="Arial"/>
                <a:cs typeface="Arial"/>
              </a:rPr>
              <a:t> </a:t>
            </a:r>
            <a:r>
              <a:rPr sz="1200" b="1" dirty="0">
                <a:solidFill>
                  <a:srgbClr val="1B2433"/>
                </a:solidFill>
                <a:latin typeface="Arial"/>
                <a:cs typeface="Arial"/>
              </a:rPr>
              <a:t>mL</a:t>
            </a:r>
            <a:r>
              <a:rPr sz="1200" b="1" spc="-30" dirty="0">
                <a:solidFill>
                  <a:srgbClr val="1B2433"/>
                </a:solidFill>
                <a:latin typeface="Arial"/>
                <a:cs typeface="Arial"/>
              </a:rPr>
              <a:t> </a:t>
            </a:r>
            <a:r>
              <a:rPr lang="en-PH" sz="1200" b="1" dirty="0">
                <a:solidFill>
                  <a:srgbClr val="1B2433"/>
                </a:solidFill>
                <a:latin typeface="Arial"/>
                <a:cs typeface="Arial"/>
              </a:rPr>
              <a:t>carton</a:t>
            </a:r>
            <a:r>
              <a:rPr sz="1200" b="1" spc="-5" dirty="0">
                <a:solidFill>
                  <a:srgbClr val="1B2433"/>
                </a:solidFill>
                <a:latin typeface="Arial"/>
                <a:cs typeface="Arial"/>
              </a:rPr>
              <a:t> </a:t>
            </a:r>
            <a:r>
              <a:rPr sz="1200" b="1" dirty="0">
                <a:solidFill>
                  <a:srgbClr val="1B2433"/>
                </a:solidFill>
                <a:latin typeface="Arial"/>
                <a:cs typeface="Arial"/>
              </a:rPr>
              <a:t>holds</a:t>
            </a:r>
            <a:r>
              <a:rPr sz="1200" b="1" spc="-10" dirty="0">
                <a:solidFill>
                  <a:srgbClr val="1B2433"/>
                </a:solidFill>
                <a:latin typeface="Arial"/>
                <a:cs typeface="Arial"/>
              </a:rPr>
              <a:t> </a:t>
            </a:r>
            <a:r>
              <a:rPr sz="1200" b="1" dirty="0">
                <a:solidFill>
                  <a:srgbClr val="1B2433"/>
                </a:solidFill>
                <a:latin typeface="Arial"/>
                <a:cs typeface="Arial"/>
              </a:rPr>
              <a:t>about</a:t>
            </a:r>
            <a:r>
              <a:rPr sz="1200" b="1" spc="-10" dirty="0">
                <a:solidFill>
                  <a:srgbClr val="1B2433"/>
                </a:solidFill>
                <a:latin typeface="Arial"/>
                <a:cs typeface="Arial"/>
              </a:rPr>
              <a:t> </a:t>
            </a:r>
            <a:r>
              <a:rPr sz="1200" b="1" dirty="0">
                <a:solidFill>
                  <a:srgbClr val="1B2433"/>
                </a:solidFill>
                <a:latin typeface="Arial"/>
                <a:cs typeface="Arial"/>
              </a:rPr>
              <a:t>1.690</a:t>
            </a:r>
            <a:r>
              <a:rPr sz="1200" b="1" spc="-5" dirty="0">
                <a:solidFill>
                  <a:srgbClr val="1B2433"/>
                </a:solidFill>
                <a:latin typeface="Arial"/>
                <a:cs typeface="Arial"/>
              </a:rPr>
              <a:t> </a:t>
            </a:r>
            <a:r>
              <a:rPr sz="1200" b="1" dirty="0">
                <a:solidFill>
                  <a:srgbClr val="1B2433"/>
                </a:solidFill>
                <a:latin typeface="Arial"/>
                <a:cs typeface="Arial"/>
              </a:rPr>
              <a:t>×</a:t>
            </a:r>
            <a:r>
              <a:rPr sz="1200" b="1" spc="-10" dirty="0">
                <a:solidFill>
                  <a:srgbClr val="1B2433"/>
                </a:solidFill>
                <a:latin typeface="Arial"/>
                <a:cs typeface="Arial"/>
              </a:rPr>
              <a:t> </a:t>
            </a:r>
            <a:r>
              <a:rPr sz="1200" b="1" dirty="0">
                <a:solidFill>
                  <a:srgbClr val="1B2433"/>
                </a:solidFill>
                <a:latin typeface="Arial"/>
                <a:cs typeface="Arial"/>
              </a:rPr>
              <a:t>10</a:t>
            </a:r>
            <a:r>
              <a:rPr sz="1500" b="1" baseline="25000" dirty="0">
                <a:solidFill>
                  <a:srgbClr val="1B2433"/>
                </a:solidFill>
                <a:latin typeface="Arial"/>
                <a:cs typeface="Arial"/>
              </a:rPr>
              <a:t>21</a:t>
            </a:r>
            <a:r>
              <a:rPr sz="1500" b="1" spc="75" baseline="25000" dirty="0">
                <a:solidFill>
                  <a:srgbClr val="1B2433"/>
                </a:solidFill>
                <a:latin typeface="Arial"/>
                <a:cs typeface="Arial"/>
              </a:rPr>
              <a:t> </a:t>
            </a:r>
            <a:r>
              <a:rPr sz="1200" b="1" dirty="0">
                <a:solidFill>
                  <a:srgbClr val="1B2433"/>
                </a:solidFill>
                <a:latin typeface="Arial"/>
                <a:cs typeface="Arial"/>
              </a:rPr>
              <a:t>CaCO</a:t>
            </a:r>
            <a:r>
              <a:rPr sz="1500" b="1" baseline="-16666" dirty="0">
                <a:solidFill>
                  <a:srgbClr val="1B2433"/>
                </a:solidFill>
                <a:latin typeface="Arial"/>
                <a:cs typeface="Arial"/>
              </a:rPr>
              <a:t>3</a:t>
            </a:r>
            <a:r>
              <a:rPr sz="1500" b="1" spc="67" baseline="-16666" dirty="0">
                <a:solidFill>
                  <a:srgbClr val="1B2433"/>
                </a:solidFill>
                <a:latin typeface="Arial"/>
                <a:cs typeface="Arial"/>
              </a:rPr>
              <a:t> </a:t>
            </a:r>
            <a:r>
              <a:rPr sz="1200" b="1" dirty="0">
                <a:solidFill>
                  <a:srgbClr val="1B2433"/>
                </a:solidFill>
                <a:latin typeface="Arial"/>
                <a:cs typeface="Arial"/>
              </a:rPr>
              <a:t>formula</a:t>
            </a:r>
            <a:r>
              <a:rPr sz="1200" b="1" spc="-5" dirty="0">
                <a:solidFill>
                  <a:srgbClr val="1B2433"/>
                </a:solidFill>
                <a:latin typeface="Arial"/>
                <a:cs typeface="Arial"/>
              </a:rPr>
              <a:t> </a:t>
            </a:r>
            <a:r>
              <a:rPr sz="1200" b="1" dirty="0">
                <a:solidFill>
                  <a:srgbClr val="1B2433"/>
                </a:solidFill>
                <a:latin typeface="Arial"/>
                <a:cs typeface="Arial"/>
              </a:rPr>
              <a:t>units,</a:t>
            </a:r>
            <a:r>
              <a:rPr sz="1200" b="1" spc="-10" dirty="0">
                <a:solidFill>
                  <a:srgbClr val="1B2433"/>
                </a:solidFill>
                <a:latin typeface="Arial"/>
                <a:cs typeface="Arial"/>
              </a:rPr>
              <a:t> </a:t>
            </a:r>
            <a:r>
              <a:rPr sz="1200" b="1" dirty="0">
                <a:solidFill>
                  <a:srgbClr val="1B2433"/>
                </a:solidFill>
                <a:latin typeface="Arial"/>
                <a:cs typeface="Arial"/>
              </a:rPr>
              <a:t>yet</a:t>
            </a:r>
            <a:r>
              <a:rPr sz="1200" b="1" spc="-5" dirty="0">
                <a:solidFill>
                  <a:srgbClr val="1B2433"/>
                </a:solidFill>
                <a:latin typeface="Arial"/>
                <a:cs typeface="Arial"/>
              </a:rPr>
              <a:t> </a:t>
            </a:r>
            <a:r>
              <a:rPr sz="1200" b="1" dirty="0">
                <a:solidFill>
                  <a:srgbClr val="1B2433"/>
                </a:solidFill>
                <a:latin typeface="Arial"/>
                <a:cs typeface="Arial"/>
              </a:rPr>
              <a:t>about</a:t>
            </a:r>
            <a:r>
              <a:rPr sz="1200" b="1" spc="-10" dirty="0">
                <a:solidFill>
                  <a:srgbClr val="1B2433"/>
                </a:solidFill>
                <a:latin typeface="Arial"/>
                <a:cs typeface="Arial"/>
              </a:rPr>
              <a:t> </a:t>
            </a:r>
            <a:r>
              <a:rPr sz="1200" b="1" dirty="0">
                <a:solidFill>
                  <a:srgbClr val="1B2433"/>
                </a:solidFill>
                <a:latin typeface="Arial"/>
                <a:cs typeface="Arial"/>
              </a:rPr>
              <a:t>3.56</a:t>
            </a:r>
            <a:r>
              <a:rPr sz="1200" b="1" spc="-5" dirty="0">
                <a:solidFill>
                  <a:srgbClr val="1B2433"/>
                </a:solidFill>
                <a:latin typeface="Arial"/>
                <a:cs typeface="Arial"/>
              </a:rPr>
              <a:t> </a:t>
            </a:r>
            <a:r>
              <a:rPr sz="1200" b="1" dirty="0">
                <a:solidFill>
                  <a:srgbClr val="1B2433"/>
                </a:solidFill>
                <a:latin typeface="Arial"/>
                <a:cs typeface="Arial"/>
              </a:rPr>
              <a:t>×</a:t>
            </a:r>
            <a:r>
              <a:rPr sz="1200" b="1" spc="-10" dirty="0">
                <a:solidFill>
                  <a:srgbClr val="1B2433"/>
                </a:solidFill>
                <a:latin typeface="Arial"/>
                <a:cs typeface="Arial"/>
              </a:rPr>
              <a:t> </a:t>
            </a:r>
            <a:r>
              <a:rPr sz="1200" b="1" dirty="0">
                <a:solidFill>
                  <a:srgbClr val="1B2433"/>
                </a:solidFill>
                <a:latin typeface="Arial"/>
                <a:cs typeface="Arial"/>
              </a:rPr>
              <a:t>10</a:t>
            </a:r>
            <a:r>
              <a:rPr sz="1500" b="1" baseline="25000" dirty="0">
                <a:solidFill>
                  <a:srgbClr val="1B2433"/>
                </a:solidFill>
                <a:latin typeface="Arial"/>
                <a:cs typeface="Arial"/>
              </a:rPr>
              <a:t>2</a:t>
            </a:r>
            <a:r>
              <a:rPr sz="1500" b="1" spc="75" baseline="25000" dirty="0">
                <a:solidFill>
                  <a:srgbClr val="1B2433"/>
                </a:solidFill>
                <a:latin typeface="Arial"/>
                <a:cs typeface="Arial"/>
              </a:rPr>
              <a:t> </a:t>
            </a:r>
            <a:r>
              <a:rPr lang="en-PH" sz="1200" b="1" dirty="0">
                <a:solidFill>
                  <a:srgbClr val="1B2433"/>
                </a:solidFill>
                <a:latin typeface="Arial"/>
                <a:cs typeface="Arial"/>
              </a:rPr>
              <a:t>carton</a:t>
            </a:r>
            <a:r>
              <a:rPr sz="1200" b="1" dirty="0">
                <a:solidFill>
                  <a:srgbClr val="1B2433"/>
                </a:solidFill>
                <a:latin typeface="Arial"/>
                <a:cs typeface="Arial"/>
              </a:rPr>
              <a:t>s</a:t>
            </a:r>
            <a:r>
              <a:rPr sz="1200" b="1" spc="-10" dirty="0">
                <a:solidFill>
                  <a:srgbClr val="1B2433"/>
                </a:solidFill>
                <a:latin typeface="Arial"/>
                <a:cs typeface="Arial"/>
              </a:rPr>
              <a:t> </a:t>
            </a:r>
            <a:r>
              <a:rPr sz="1200" b="1" spc="-25" dirty="0">
                <a:solidFill>
                  <a:srgbClr val="1B2433"/>
                </a:solidFill>
                <a:latin typeface="Arial"/>
                <a:cs typeface="Arial"/>
              </a:rPr>
              <a:t>are </a:t>
            </a:r>
            <a:r>
              <a:rPr sz="1200" b="1" dirty="0">
                <a:solidFill>
                  <a:srgbClr val="1B2433"/>
                </a:solidFill>
                <a:latin typeface="Arial"/>
                <a:cs typeface="Arial"/>
              </a:rPr>
              <a:t>needed</a:t>
            </a:r>
            <a:r>
              <a:rPr sz="1200" b="1" spc="-10" dirty="0">
                <a:solidFill>
                  <a:srgbClr val="1B2433"/>
                </a:solidFill>
                <a:latin typeface="Arial"/>
                <a:cs typeface="Arial"/>
              </a:rPr>
              <a:t> </a:t>
            </a:r>
            <a:r>
              <a:rPr sz="1200" b="1" dirty="0">
                <a:solidFill>
                  <a:srgbClr val="1B2433"/>
                </a:solidFill>
                <a:latin typeface="Arial"/>
                <a:cs typeface="Arial"/>
              </a:rPr>
              <a:t>to</a:t>
            </a:r>
            <a:r>
              <a:rPr sz="1200" b="1" spc="-10" dirty="0">
                <a:solidFill>
                  <a:srgbClr val="1B2433"/>
                </a:solidFill>
                <a:latin typeface="Arial"/>
                <a:cs typeface="Arial"/>
              </a:rPr>
              <a:t> </a:t>
            </a:r>
            <a:r>
              <a:rPr sz="1200" b="1" dirty="0">
                <a:solidFill>
                  <a:srgbClr val="1B2433"/>
                </a:solidFill>
                <a:latin typeface="Arial"/>
                <a:cs typeface="Arial"/>
              </a:rPr>
              <a:t>collect</a:t>
            </a:r>
            <a:r>
              <a:rPr sz="1200" b="1" spc="-10" dirty="0">
                <a:solidFill>
                  <a:srgbClr val="1B2433"/>
                </a:solidFill>
                <a:latin typeface="Arial"/>
                <a:cs typeface="Arial"/>
              </a:rPr>
              <a:t> </a:t>
            </a:r>
            <a:r>
              <a:rPr sz="1200" b="1" dirty="0">
                <a:solidFill>
                  <a:srgbClr val="1B2433"/>
                </a:solidFill>
                <a:latin typeface="Arial"/>
                <a:cs typeface="Arial"/>
              </a:rPr>
              <a:t>a</a:t>
            </a:r>
            <a:r>
              <a:rPr sz="1200" b="1" spc="-5" dirty="0">
                <a:solidFill>
                  <a:srgbClr val="1B2433"/>
                </a:solidFill>
                <a:latin typeface="Arial"/>
                <a:cs typeface="Arial"/>
              </a:rPr>
              <a:t> </a:t>
            </a:r>
            <a:r>
              <a:rPr sz="1200" b="1" dirty="0">
                <a:solidFill>
                  <a:srgbClr val="1B2433"/>
                </a:solidFill>
                <a:latin typeface="Arial"/>
                <a:cs typeface="Arial"/>
              </a:rPr>
              <a:t>single</a:t>
            </a:r>
            <a:r>
              <a:rPr sz="1200" b="1" spc="-10" dirty="0">
                <a:solidFill>
                  <a:srgbClr val="1B2433"/>
                </a:solidFill>
                <a:latin typeface="Arial"/>
                <a:cs typeface="Arial"/>
              </a:rPr>
              <a:t> </a:t>
            </a:r>
            <a:r>
              <a:rPr sz="1200" b="1" dirty="0">
                <a:solidFill>
                  <a:srgbClr val="1B2433"/>
                </a:solidFill>
                <a:latin typeface="Arial"/>
                <a:cs typeface="Arial"/>
              </a:rPr>
              <a:t>mole:</a:t>
            </a:r>
            <a:r>
              <a:rPr sz="1200" b="1" spc="-10" dirty="0">
                <a:solidFill>
                  <a:srgbClr val="1B2433"/>
                </a:solidFill>
                <a:latin typeface="Arial"/>
                <a:cs typeface="Arial"/>
              </a:rPr>
              <a:t> </a:t>
            </a:r>
            <a:r>
              <a:rPr sz="1200" b="1" dirty="0">
                <a:solidFill>
                  <a:srgbClr val="1B2433"/>
                </a:solidFill>
                <a:latin typeface="Arial"/>
                <a:cs typeface="Arial"/>
              </a:rPr>
              <a:t>a</a:t>
            </a:r>
            <a:r>
              <a:rPr sz="1200" b="1" spc="-5" dirty="0">
                <a:solidFill>
                  <a:srgbClr val="1B2433"/>
                </a:solidFill>
                <a:latin typeface="Arial"/>
                <a:cs typeface="Arial"/>
              </a:rPr>
              <a:t> </a:t>
            </a:r>
            <a:r>
              <a:rPr sz="1200" b="1" dirty="0">
                <a:solidFill>
                  <a:srgbClr val="1B2433"/>
                </a:solidFill>
                <a:latin typeface="Arial"/>
                <a:cs typeface="Arial"/>
              </a:rPr>
              <a:t>mole</a:t>
            </a:r>
            <a:r>
              <a:rPr sz="1200" b="1" spc="-10" dirty="0">
                <a:solidFill>
                  <a:srgbClr val="1B2433"/>
                </a:solidFill>
                <a:latin typeface="Arial"/>
                <a:cs typeface="Arial"/>
              </a:rPr>
              <a:t> </a:t>
            </a:r>
            <a:r>
              <a:rPr sz="1200" b="1" dirty="0">
                <a:solidFill>
                  <a:srgbClr val="1B2433"/>
                </a:solidFill>
                <a:latin typeface="Arial"/>
                <a:cs typeface="Arial"/>
              </a:rPr>
              <a:t>is</a:t>
            </a:r>
            <a:r>
              <a:rPr sz="1200" b="1" spc="-10" dirty="0">
                <a:solidFill>
                  <a:srgbClr val="1B2433"/>
                </a:solidFill>
                <a:latin typeface="Arial"/>
                <a:cs typeface="Arial"/>
              </a:rPr>
              <a:t> </a:t>
            </a:r>
            <a:r>
              <a:rPr sz="1200" b="1" dirty="0">
                <a:solidFill>
                  <a:srgbClr val="1B2433"/>
                </a:solidFill>
                <a:latin typeface="Arial"/>
                <a:cs typeface="Arial"/>
              </a:rPr>
              <a:t>an</a:t>
            </a:r>
            <a:r>
              <a:rPr sz="1200" b="1" spc="-5" dirty="0">
                <a:solidFill>
                  <a:srgbClr val="1B2433"/>
                </a:solidFill>
                <a:latin typeface="Arial"/>
                <a:cs typeface="Arial"/>
              </a:rPr>
              <a:t> </a:t>
            </a:r>
            <a:r>
              <a:rPr sz="1200" b="1" dirty="0">
                <a:solidFill>
                  <a:srgbClr val="1B2433"/>
                </a:solidFill>
                <a:latin typeface="Arial"/>
                <a:cs typeface="Arial"/>
              </a:rPr>
              <a:t>enormous</a:t>
            </a:r>
            <a:r>
              <a:rPr sz="1200" b="1" spc="-10" dirty="0">
                <a:solidFill>
                  <a:srgbClr val="1B2433"/>
                </a:solidFill>
                <a:latin typeface="Arial"/>
                <a:cs typeface="Arial"/>
              </a:rPr>
              <a:t> </a:t>
            </a:r>
            <a:r>
              <a:rPr sz="1200" b="1" dirty="0">
                <a:solidFill>
                  <a:srgbClr val="1B2433"/>
                </a:solidFill>
                <a:latin typeface="Arial"/>
                <a:cs typeface="Arial"/>
              </a:rPr>
              <a:t>count,</a:t>
            </a:r>
            <a:r>
              <a:rPr sz="1200" b="1" spc="-10" dirty="0">
                <a:solidFill>
                  <a:srgbClr val="1B2433"/>
                </a:solidFill>
                <a:latin typeface="Arial"/>
                <a:cs typeface="Arial"/>
              </a:rPr>
              <a:t> </a:t>
            </a:r>
            <a:r>
              <a:rPr sz="1200" b="1" dirty="0">
                <a:solidFill>
                  <a:srgbClr val="1B2433"/>
                </a:solidFill>
                <a:latin typeface="Arial"/>
                <a:cs typeface="Arial"/>
              </a:rPr>
              <a:t>but</a:t>
            </a:r>
            <a:r>
              <a:rPr sz="1200" b="1" spc="-10" dirty="0">
                <a:solidFill>
                  <a:srgbClr val="1B2433"/>
                </a:solidFill>
                <a:latin typeface="Arial"/>
                <a:cs typeface="Arial"/>
              </a:rPr>
              <a:t> </a:t>
            </a:r>
            <a:r>
              <a:rPr sz="1200" b="1" dirty="0">
                <a:solidFill>
                  <a:srgbClr val="1B2433"/>
                </a:solidFill>
                <a:latin typeface="Arial"/>
                <a:cs typeface="Arial"/>
              </a:rPr>
              <a:t>only</a:t>
            </a:r>
            <a:r>
              <a:rPr sz="1200" b="1" spc="-5" dirty="0">
                <a:solidFill>
                  <a:srgbClr val="1B2433"/>
                </a:solidFill>
                <a:latin typeface="Arial"/>
                <a:cs typeface="Arial"/>
              </a:rPr>
              <a:t> </a:t>
            </a:r>
            <a:r>
              <a:rPr sz="1200" b="1" dirty="0">
                <a:solidFill>
                  <a:srgbClr val="1B2433"/>
                </a:solidFill>
                <a:latin typeface="Arial"/>
                <a:cs typeface="Arial"/>
              </a:rPr>
              <a:t>100.086</a:t>
            </a:r>
            <a:r>
              <a:rPr sz="1200" b="1" spc="-10" dirty="0">
                <a:solidFill>
                  <a:srgbClr val="1B2433"/>
                </a:solidFill>
                <a:latin typeface="Arial"/>
                <a:cs typeface="Arial"/>
              </a:rPr>
              <a:t> </a:t>
            </a:r>
            <a:r>
              <a:rPr sz="1200" b="1" dirty="0">
                <a:solidFill>
                  <a:srgbClr val="1B2433"/>
                </a:solidFill>
                <a:latin typeface="Arial"/>
                <a:cs typeface="Arial"/>
              </a:rPr>
              <a:t>g</a:t>
            </a:r>
            <a:r>
              <a:rPr sz="1200" b="1" spc="-10" dirty="0">
                <a:solidFill>
                  <a:srgbClr val="1B2433"/>
                </a:solidFill>
                <a:latin typeface="Arial"/>
                <a:cs typeface="Arial"/>
              </a:rPr>
              <a:t> </a:t>
            </a:r>
            <a:r>
              <a:rPr sz="1200" b="1" dirty="0">
                <a:solidFill>
                  <a:srgbClr val="1B2433"/>
                </a:solidFill>
                <a:latin typeface="Arial"/>
                <a:cs typeface="Arial"/>
              </a:rPr>
              <a:t>of</a:t>
            </a:r>
            <a:r>
              <a:rPr sz="1200" b="1" spc="-5" dirty="0">
                <a:solidFill>
                  <a:srgbClr val="1B2433"/>
                </a:solidFill>
                <a:latin typeface="Arial"/>
                <a:cs typeface="Arial"/>
              </a:rPr>
              <a:t> </a:t>
            </a:r>
            <a:r>
              <a:rPr sz="1200" b="1" spc="-10" dirty="0">
                <a:solidFill>
                  <a:srgbClr val="1B2433"/>
                </a:solidFill>
                <a:latin typeface="Arial"/>
                <a:cs typeface="Arial"/>
              </a:rPr>
              <a:t>matter.</a:t>
            </a:r>
            <a:endParaRPr lang="en-US" sz="1200" b="1" spc="-10" dirty="0">
              <a:solidFill>
                <a:srgbClr val="1B2433"/>
              </a:solidFill>
              <a:latin typeface="Arial"/>
              <a:cs typeface="Arial"/>
            </a:endParaRPr>
          </a:p>
        </p:txBody>
      </p:sp>
      <p:sp>
        <p:nvSpPr>
          <p:cNvPr id="129" name="object 129"/>
          <p:cNvSpPr txBox="1"/>
          <p:nvPr/>
        </p:nvSpPr>
        <p:spPr>
          <a:xfrm>
            <a:off x="242887" y="13987460"/>
            <a:ext cx="14754225" cy="958596"/>
          </a:xfrm>
          <a:prstGeom prst="rect">
            <a:avLst/>
          </a:prstGeom>
          <a:solidFill>
            <a:srgbClr val="FFFFFF"/>
          </a:solidFill>
          <a:ln w="28574">
            <a:solidFill>
              <a:srgbClr val="003399"/>
            </a:solidFill>
          </a:ln>
        </p:spPr>
        <p:txBody>
          <a:bodyPr vert="horz" wrap="square" lIns="0" tIns="80645" rIns="0" bIns="0" rtlCol="0">
            <a:spAutoFit/>
          </a:bodyPr>
          <a:lstStyle/>
          <a:p>
            <a:pPr marL="147320">
              <a:lnSpc>
                <a:spcPct val="100000"/>
              </a:lnSpc>
              <a:spcBef>
                <a:spcPts val="635"/>
              </a:spcBef>
            </a:pPr>
            <a:r>
              <a:rPr sz="900" b="1" dirty="0">
                <a:solidFill>
                  <a:srgbClr val="4A0D4E"/>
                </a:solidFill>
                <a:latin typeface="Arial"/>
                <a:cs typeface="Arial"/>
              </a:rPr>
              <a:t>SECTION</a:t>
            </a:r>
            <a:r>
              <a:rPr sz="900" b="1" spc="135" dirty="0">
                <a:solidFill>
                  <a:srgbClr val="4A0D4E"/>
                </a:solidFill>
                <a:latin typeface="Arial"/>
                <a:cs typeface="Arial"/>
              </a:rPr>
              <a:t> </a:t>
            </a:r>
            <a:r>
              <a:rPr sz="900" b="1" dirty="0">
                <a:solidFill>
                  <a:srgbClr val="4A0D4E"/>
                </a:solidFill>
                <a:latin typeface="Arial"/>
                <a:cs typeface="Arial"/>
              </a:rPr>
              <a:t>H</a:t>
            </a:r>
            <a:r>
              <a:rPr sz="900" b="1" spc="140" dirty="0">
                <a:solidFill>
                  <a:srgbClr val="4A0D4E"/>
                </a:solidFill>
                <a:latin typeface="Arial"/>
                <a:cs typeface="Arial"/>
              </a:rPr>
              <a:t> </a:t>
            </a:r>
            <a:r>
              <a:rPr sz="900" b="1" dirty="0">
                <a:solidFill>
                  <a:srgbClr val="003399"/>
                </a:solidFill>
                <a:latin typeface="Arial"/>
                <a:cs typeface="Arial"/>
              </a:rPr>
              <a:t>·</a:t>
            </a:r>
            <a:r>
              <a:rPr sz="900" b="1" spc="25" dirty="0">
                <a:solidFill>
                  <a:srgbClr val="003399"/>
                </a:solidFill>
                <a:latin typeface="Arial"/>
                <a:cs typeface="Arial"/>
              </a:rPr>
              <a:t> </a:t>
            </a:r>
            <a:r>
              <a:rPr sz="900" b="1" dirty="0">
                <a:solidFill>
                  <a:srgbClr val="003399"/>
                </a:solidFill>
                <a:latin typeface="Arial"/>
                <a:cs typeface="Arial"/>
              </a:rPr>
              <a:t>REFERENCES</a:t>
            </a:r>
            <a:r>
              <a:rPr sz="900" b="1" spc="30" dirty="0">
                <a:solidFill>
                  <a:srgbClr val="003399"/>
                </a:solidFill>
                <a:latin typeface="Arial"/>
                <a:cs typeface="Arial"/>
              </a:rPr>
              <a:t> </a:t>
            </a:r>
            <a:r>
              <a:rPr sz="900" b="1" spc="-20" dirty="0">
                <a:solidFill>
                  <a:srgbClr val="003399"/>
                </a:solidFill>
                <a:latin typeface="Arial"/>
                <a:cs typeface="Arial"/>
              </a:rPr>
              <a:t>(APA</a:t>
            </a:r>
            <a:r>
              <a:rPr sz="900" b="1" spc="-15" dirty="0">
                <a:solidFill>
                  <a:srgbClr val="003399"/>
                </a:solidFill>
                <a:latin typeface="Arial"/>
                <a:cs typeface="Arial"/>
              </a:rPr>
              <a:t> </a:t>
            </a:r>
            <a:r>
              <a:rPr sz="900" b="1" dirty="0">
                <a:solidFill>
                  <a:srgbClr val="003399"/>
                </a:solidFill>
                <a:latin typeface="Arial"/>
                <a:cs typeface="Arial"/>
              </a:rPr>
              <a:t>7TH</a:t>
            </a:r>
            <a:r>
              <a:rPr sz="900" b="1" spc="30" dirty="0">
                <a:solidFill>
                  <a:srgbClr val="003399"/>
                </a:solidFill>
                <a:latin typeface="Arial"/>
                <a:cs typeface="Arial"/>
              </a:rPr>
              <a:t> </a:t>
            </a:r>
            <a:r>
              <a:rPr sz="900" b="1" dirty="0">
                <a:solidFill>
                  <a:srgbClr val="003399"/>
                </a:solidFill>
                <a:latin typeface="Arial"/>
                <a:cs typeface="Arial"/>
              </a:rPr>
              <a:t>EDITION)</a:t>
            </a:r>
            <a:r>
              <a:rPr sz="900" b="1" spc="25" dirty="0">
                <a:solidFill>
                  <a:srgbClr val="003399"/>
                </a:solidFill>
                <a:latin typeface="Arial"/>
                <a:cs typeface="Arial"/>
              </a:rPr>
              <a:t> </a:t>
            </a:r>
            <a:r>
              <a:rPr sz="900" b="1" dirty="0">
                <a:solidFill>
                  <a:srgbClr val="003399"/>
                </a:solidFill>
                <a:latin typeface="Arial"/>
                <a:cs typeface="Arial"/>
              </a:rPr>
              <a:t>&amp;</a:t>
            </a:r>
            <a:r>
              <a:rPr sz="900" b="1" spc="-10" dirty="0">
                <a:solidFill>
                  <a:srgbClr val="003399"/>
                </a:solidFill>
                <a:latin typeface="Arial"/>
                <a:cs typeface="Arial"/>
              </a:rPr>
              <a:t> </a:t>
            </a:r>
            <a:r>
              <a:rPr sz="900" b="1" dirty="0">
                <a:solidFill>
                  <a:srgbClr val="003399"/>
                </a:solidFill>
                <a:latin typeface="Arial"/>
                <a:cs typeface="Arial"/>
              </a:rPr>
              <a:t>AI</a:t>
            </a:r>
            <a:r>
              <a:rPr sz="900" b="1" spc="25" dirty="0">
                <a:solidFill>
                  <a:srgbClr val="003399"/>
                </a:solidFill>
                <a:latin typeface="Arial"/>
                <a:cs typeface="Arial"/>
              </a:rPr>
              <a:t> </a:t>
            </a:r>
            <a:r>
              <a:rPr sz="900" b="1" dirty="0">
                <a:solidFill>
                  <a:srgbClr val="003399"/>
                </a:solidFill>
                <a:latin typeface="Arial"/>
                <a:cs typeface="Arial"/>
              </a:rPr>
              <a:t>USE</a:t>
            </a:r>
            <a:r>
              <a:rPr sz="900" b="1" spc="30" dirty="0">
                <a:solidFill>
                  <a:srgbClr val="003399"/>
                </a:solidFill>
                <a:latin typeface="Arial"/>
                <a:cs typeface="Arial"/>
              </a:rPr>
              <a:t> </a:t>
            </a:r>
            <a:r>
              <a:rPr sz="900" b="1" spc="-10" dirty="0">
                <a:solidFill>
                  <a:srgbClr val="003399"/>
                </a:solidFill>
                <a:latin typeface="Arial"/>
                <a:cs typeface="Arial"/>
              </a:rPr>
              <a:t>DISCLOSURE</a:t>
            </a:r>
            <a:endParaRPr sz="900" dirty="0">
              <a:latin typeface="Arial"/>
              <a:cs typeface="Arial"/>
            </a:endParaRPr>
          </a:p>
          <a:p>
            <a:pPr marL="147320">
              <a:lnSpc>
                <a:spcPct val="100000"/>
              </a:lnSpc>
              <a:spcBef>
                <a:spcPts val="420"/>
              </a:spcBef>
            </a:pPr>
            <a:r>
              <a:rPr sz="750" dirty="0">
                <a:solidFill>
                  <a:srgbClr val="1B2433"/>
                </a:solidFill>
                <a:latin typeface="Arial"/>
                <a:cs typeface="Arial"/>
              </a:rPr>
              <a:t>Bureau</a:t>
            </a:r>
            <a:r>
              <a:rPr sz="750" spc="145" dirty="0">
                <a:solidFill>
                  <a:srgbClr val="1B2433"/>
                </a:solidFill>
                <a:latin typeface="Arial"/>
                <a:cs typeface="Arial"/>
              </a:rPr>
              <a:t> </a:t>
            </a:r>
            <a:r>
              <a:rPr sz="750" dirty="0">
                <a:solidFill>
                  <a:srgbClr val="1B2433"/>
                </a:solidFill>
                <a:latin typeface="Arial"/>
                <a:cs typeface="Arial"/>
              </a:rPr>
              <a:t>International</a:t>
            </a:r>
            <a:r>
              <a:rPr sz="750" spc="150" dirty="0">
                <a:solidFill>
                  <a:srgbClr val="1B2433"/>
                </a:solidFill>
                <a:latin typeface="Arial"/>
                <a:cs typeface="Arial"/>
              </a:rPr>
              <a:t> </a:t>
            </a:r>
            <a:r>
              <a:rPr sz="750" dirty="0">
                <a:solidFill>
                  <a:srgbClr val="1B2433"/>
                </a:solidFill>
                <a:latin typeface="Arial"/>
                <a:cs typeface="Arial"/>
              </a:rPr>
              <a:t>des</a:t>
            </a:r>
            <a:r>
              <a:rPr sz="750" spc="150" dirty="0">
                <a:solidFill>
                  <a:srgbClr val="1B2433"/>
                </a:solidFill>
                <a:latin typeface="Arial"/>
                <a:cs typeface="Arial"/>
              </a:rPr>
              <a:t> </a:t>
            </a:r>
            <a:r>
              <a:rPr sz="750" dirty="0">
                <a:solidFill>
                  <a:srgbClr val="1B2433"/>
                </a:solidFill>
                <a:latin typeface="Arial"/>
                <a:cs typeface="Arial"/>
              </a:rPr>
              <a:t>Poids</a:t>
            </a:r>
            <a:r>
              <a:rPr sz="750" spc="150" dirty="0">
                <a:solidFill>
                  <a:srgbClr val="1B2433"/>
                </a:solidFill>
                <a:latin typeface="Arial"/>
                <a:cs typeface="Arial"/>
              </a:rPr>
              <a:t> </a:t>
            </a:r>
            <a:r>
              <a:rPr sz="750" dirty="0">
                <a:solidFill>
                  <a:srgbClr val="1B2433"/>
                </a:solidFill>
                <a:latin typeface="Arial"/>
                <a:cs typeface="Arial"/>
              </a:rPr>
              <a:t>et</a:t>
            </a:r>
            <a:r>
              <a:rPr sz="750" spc="150" dirty="0">
                <a:solidFill>
                  <a:srgbClr val="1B2433"/>
                </a:solidFill>
                <a:latin typeface="Arial"/>
                <a:cs typeface="Arial"/>
              </a:rPr>
              <a:t> </a:t>
            </a:r>
            <a:r>
              <a:rPr sz="750" dirty="0">
                <a:solidFill>
                  <a:srgbClr val="1B2433"/>
                </a:solidFill>
                <a:latin typeface="Arial"/>
                <a:cs typeface="Arial"/>
              </a:rPr>
              <a:t>Mesures.</a:t>
            </a:r>
            <a:r>
              <a:rPr sz="750" spc="150" dirty="0">
                <a:solidFill>
                  <a:srgbClr val="1B2433"/>
                </a:solidFill>
                <a:latin typeface="Arial"/>
                <a:cs typeface="Arial"/>
              </a:rPr>
              <a:t> </a:t>
            </a:r>
            <a:r>
              <a:rPr sz="750" dirty="0">
                <a:solidFill>
                  <a:srgbClr val="1B2433"/>
                </a:solidFill>
                <a:latin typeface="Arial"/>
                <a:cs typeface="Arial"/>
              </a:rPr>
              <a:t>(2019).</a:t>
            </a:r>
            <a:r>
              <a:rPr sz="750" spc="150" dirty="0">
                <a:solidFill>
                  <a:srgbClr val="1B2433"/>
                </a:solidFill>
                <a:latin typeface="Arial"/>
                <a:cs typeface="Arial"/>
              </a:rPr>
              <a:t> </a:t>
            </a:r>
            <a:r>
              <a:rPr sz="750" i="1" dirty="0">
                <a:solidFill>
                  <a:srgbClr val="1B2433"/>
                </a:solidFill>
                <a:latin typeface="Arial"/>
                <a:cs typeface="Arial"/>
              </a:rPr>
              <a:t>The</a:t>
            </a:r>
            <a:r>
              <a:rPr sz="750" i="1" spc="150" dirty="0">
                <a:solidFill>
                  <a:srgbClr val="1B2433"/>
                </a:solidFill>
                <a:latin typeface="Arial"/>
                <a:cs typeface="Arial"/>
              </a:rPr>
              <a:t> </a:t>
            </a:r>
            <a:r>
              <a:rPr sz="750" i="1" dirty="0">
                <a:solidFill>
                  <a:srgbClr val="1B2433"/>
                </a:solidFill>
                <a:latin typeface="Arial"/>
                <a:cs typeface="Arial"/>
              </a:rPr>
              <a:t>International</a:t>
            </a:r>
            <a:r>
              <a:rPr sz="750" i="1" spc="150" dirty="0">
                <a:solidFill>
                  <a:srgbClr val="1B2433"/>
                </a:solidFill>
                <a:latin typeface="Arial"/>
                <a:cs typeface="Arial"/>
              </a:rPr>
              <a:t> </a:t>
            </a:r>
            <a:r>
              <a:rPr sz="750" i="1" dirty="0">
                <a:solidFill>
                  <a:srgbClr val="1B2433"/>
                </a:solidFill>
                <a:latin typeface="Arial"/>
                <a:cs typeface="Arial"/>
              </a:rPr>
              <a:t>System</a:t>
            </a:r>
            <a:r>
              <a:rPr sz="750" i="1" spc="150" dirty="0">
                <a:solidFill>
                  <a:srgbClr val="1B2433"/>
                </a:solidFill>
                <a:latin typeface="Arial"/>
                <a:cs typeface="Arial"/>
              </a:rPr>
              <a:t> </a:t>
            </a:r>
            <a:r>
              <a:rPr sz="750" i="1" dirty="0">
                <a:solidFill>
                  <a:srgbClr val="1B2433"/>
                </a:solidFill>
                <a:latin typeface="Arial"/>
                <a:cs typeface="Arial"/>
              </a:rPr>
              <a:t>of</a:t>
            </a:r>
            <a:r>
              <a:rPr sz="750" i="1" spc="145" dirty="0">
                <a:solidFill>
                  <a:srgbClr val="1B2433"/>
                </a:solidFill>
                <a:latin typeface="Arial"/>
                <a:cs typeface="Arial"/>
              </a:rPr>
              <a:t> </a:t>
            </a:r>
            <a:r>
              <a:rPr sz="750" i="1" dirty="0">
                <a:solidFill>
                  <a:srgbClr val="1B2433"/>
                </a:solidFill>
                <a:latin typeface="Arial"/>
                <a:cs typeface="Arial"/>
              </a:rPr>
              <a:t>Units</a:t>
            </a:r>
            <a:r>
              <a:rPr sz="750" i="1" spc="150" dirty="0">
                <a:solidFill>
                  <a:srgbClr val="1B2433"/>
                </a:solidFill>
                <a:latin typeface="Arial"/>
                <a:cs typeface="Arial"/>
              </a:rPr>
              <a:t> </a:t>
            </a:r>
            <a:r>
              <a:rPr sz="750" i="1" dirty="0">
                <a:solidFill>
                  <a:srgbClr val="1B2433"/>
                </a:solidFill>
                <a:latin typeface="Arial"/>
                <a:cs typeface="Arial"/>
              </a:rPr>
              <a:t>(SI)</a:t>
            </a:r>
            <a:r>
              <a:rPr sz="750" i="1" spc="150" dirty="0">
                <a:solidFill>
                  <a:srgbClr val="1B2433"/>
                </a:solidFill>
                <a:latin typeface="Arial"/>
                <a:cs typeface="Arial"/>
              </a:rPr>
              <a:t> </a:t>
            </a:r>
            <a:r>
              <a:rPr sz="750" dirty="0">
                <a:solidFill>
                  <a:srgbClr val="1B2433"/>
                </a:solidFill>
                <a:latin typeface="Arial"/>
                <a:cs typeface="Arial"/>
              </a:rPr>
              <a:t>(9th</a:t>
            </a:r>
            <a:r>
              <a:rPr sz="750" spc="150" dirty="0">
                <a:solidFill>
                  <a:srgbClr val="1B2433"/>
                </a:solidFill>
                <a:latin typeface="Arial"/>
                <a:cs typeface="Arial"/>
              </a:rPr>
              <a:t> </a:t>
            </a:r>
            <a:r>
              <a:rPr sz="750" dirty="0">
                <a:solidFill>
                  <a:srgbClr val="1B2433"/>
                </a:solidFill>
                <a:latin typeface="Arial"/>
                <a:cs typeface="Arial"/>
              </a:rPr>
              <a:t>ed.).</a:t>
            </a:r>
            <a:r>
              <a:rPr sz="750" spc="150" dirty="0">
                <a:solidFill>
                  <a:srgbClr val="1B2433"/>
                </a:solidFill>
                <a:latin typeface="Arial"/>
                <a:cs typeface="Arial"/>
              </a:rPr>
              <a:t> </a:t>
            </a:r>
            <a:r>
              <a:rPr sz="750" dirty="0">
                <a:solidFill>
                  <a:srgbClr val="1B2433"/>
                </a:solidFill>
                <a:latin typeface="Arial"/>
                <a:cs typeface="Arial"/>
                <a:hlinkClick r:id="rId4"/>
              </a:rPr>
              <a:t>https://www.bipm.org/en/publications/si-</a:t>
            </a:r>
            <a:r>
              <a:rPr sz="750" spc="-10" dirty="0">
                <a:solidFill>
                  <a:srgbClr val="1B2433"/>
                </a:solidFill>
                <a:latin typeface="Arial"/>
                <a:cs typeface="Arial"/>
                <a:hlinkClick r:id="rId4"/>
              </a:rPr>
              <a:t>brochure</a:t>
            </a:r>
            <a:endParaRPr sz="750" dirty="0">
              <a:latin typeface="Arial"/>
              <a:cs typeface="Arial"/>
            </a:endParaRPr>
          </a:p>
          <a:p>
            <a:pPr marL="147320">
              <a:lnSpc>
                <a:spcPct val="100000"/>
              </a:lnSpc>
              <a:spcBef>
                <a:spcPts val="225"/>
              </a:spcBef>
            </a:pPr>
            <a:r>
              <a:rPr sz="750" dirty="0">
                <a:solidFill>
                  <a:srgbClr val="1B2433"/>
                </a:solidFill>
                <a:latin typeface="Arial"/>
                <a:cs typeface="Arial"/>
              </a:rPr>
              <a:t>Commission</a:t>
            </a:r>
            <a:r>
              <a:rPr sz="750" spc="165" dirty="0">
                <a:solidFill>
                  <a:srgbClr val="1B2433"/>
                </a:solidFill>
                <a:latin typeface="Arial"/>
                <a:cs typeface="Arial"/>
              </a:rPr>
              <a:t> </a:t>
            </a:r>
            <a:r>
              <a:rPr sz="750" dirty="0">
                <a:solidFill>
                  <a:srgbClr val="1B2433"/>
                </a:solidFill>
                <a:latin typeface="Arial"/>
                <a:cs typeface="Arial"/>
              </a:rPr>
              <a:t>on</a:t>
            </a:r>
            <a:r>
              <a:rPr sz="750" spc="165" dirty="0">
                <a:solidFill>
                  <a:srgbClr val="1B2433"/>
                </a:solidFill>
                <a:latin typeface="Arial"/>
                <a:cs typeface="Arial"/>
              </a:rPr>
              <a:t> </a:t>
            </a:r>
            <a:r>
              <a:rPr sz="750" dirty="0">
                <a:solidFill>
                  <a:srgbClr val="1B2433"/>
                </a:solidFill>
                <a:latin typeface="Arial"/>
                <a:cs typeface="Arial"/>
              </a:rPr>
              <a:t>Isotopic</a:t>
            </a:r>
            <a:r>
              <a:rPr sz="750" spc="90" dirty="0">
                <a:solidFill>
                  <a:srgbClr val="1B2433"/>
                </a:solidFill>
                <a:latin typeface="Arial"/>
                <a:cs typeface="Arial"/>
              </a:rPr>
              <a:t> </a:t>
            </a:r>
            <a:r>
              <a:rPr sz="750" dirty="0">
                <a:solidFill>
                  <a:srgbClr val="1B2433"/>
                </a:solidFill>
                <a:latin typeface="Arial"/>
                <a:cs typeface="Arial"/>
              </a:rPr>
              <a:t>Abundances</a:t>
            </a:r>
            <a:r>
              <a:rPr sz="750" spc="170" dirty="0">
                <a:solidFill>
                  <a:srgbClr val="1B2433"/>
                </a:solidFill>
                <a:latin typeface="Arial"/>
                <a:cs typeface="Arial"/>
              </a:rPr>
              <a:t> </a:t>
            </a:r>
            <a:r>
              <a:rPr sz="750" dirty="0">
                <a:solidFill>
                  <a:srgbClr val="1B2433"/>
                </a:solidFill>
                <a:latin typeface="Arial"/>
                <a:cs typeface="Arial"/>
              </a:rPr>
              <a:t>and</a:t>
            </a:r>
            <a:r>
              <a:rPr sz="750" spc="90" dirty="0">
                <a:solidFill>
                  <a:srgbClr val="1B2433"/>
                </a:solidFill>
                <a:latin typeface="Arial"/>
                <a:cs typeface="Arial"/>
              </a:rPr>
              <a:t> </a:t>
            </a:r>
            <a:r>
              <a:rPr sz="750" dirty="0">
                <a:solidFill>
                  <a:srgbClr val="1B2433"/>
                </a:solidFill>
                <a:latin typeface="Arial"/>
                <a:cs typeface="Arial"/>
              </a:rPr>
              <a:t>Atomic</a:t>
            </a:r>
            <a:r>
              <a:rPr sz="750" spc="165" dirty="0">
                <a:solidFill>
                  <a:srgbClr val="1B2433"/>
                </a:solidFill>
                <a:latin typeface="Arial"/>
                <a:cs typeface="Arial"/>
              </a:rPr>
              <a:t> </a:t>
            </a:r>
            <a:r>
              <a:rPr sz="750" dirty="0">
                <a:solidFill>
                  <a:srgbClr val="1B2433"/>
                </a:solidFill>
                <a:latin typeface="Arial"/>
                <a:cs typeface="Arial"/>
              </a:rPr>
              <a:t>Weights.</a:t>
            </a:r>
            <a:r>
              <a:rPr sz="750" spc="165" dirty="0">
                <a:solidFill>
                  <a:srgbClr val="1B2433"/>
                </a:solidFill>
                <a:latin typeface="Arial"/>
                <a:cs typeface="Arial"/>
              </a:rPr>
              <a:t> </a:t>
            </a:r>
            <a:r>
              <a:rPr sz="750" dirty="0">
                <a:solidFill>
                  <a:srgbClr val="1B2433"/>
                </a:solidFill>
                <a:latin typeface="Arial"/>
                <a:cs typeface="Arial"/>
              </a:rPr>
              <a:t>(2024).</a:t>
            </a:r>
            <a:r>
              <a:rPr sz="750" spc="170" dirty="0">
                <a:solidFill>
                  <a:srgbClr val="1B2433"/>
                </a:solidFill>
                <a:latin typeface="Arial"/>
                <a:cs typeface="Arial"/>
              </a:rPr>
              <a:t> </a:t>
            </a:r>
            <a:r>
              <a:rPr sz="750" i="1" dirty="0">
                <a:solidFill>
                  <a:srgbClr val="1B2433"/>
                </a:solidFill>
                <a:latin typeface="Arial"/>
                <a:cs typeface="Arial"/>
              </a:rPr>
              <a:t>Abridged</a:t>
            </a:r>
            <a:r>
              <a:rPr sz="750" i="1" spc="165" dirty="0">
                <a:solidFill>
                  <a:srgbClr val="1B2433"/>
                </a:solidFill>
                <a:latin typeface="Arial"/>
                <a:cs typeface="Arial"/>
              </a:rPr>
              <a:t> </a:t>
            </a:r>
            <a:r>
              <a:rPr sz="750" i="1" dirty="0">
                <a:solidFill>
                  <a:srgbClr val="1B2433"/>
                </a:solidFill>
                <a:latin typeface="Arial"/>
                <a:cs typeface="Arial"/>
              </a:rPr>
              <a:t>standard</a:t>
            </a:r>
            <a:r>
              <a:rPr sz="750" i="1" spc="165" dirty="0">
                <a:solidFill>
                  <a:srgbClr val="1B2433"/>
                </a:solidFill>
                <a:latin typeface="Arial"/>
                <a:cs typeface="Arial"/>
              </a:rPr>
              <a:t> </a:t>
            </a:r>
            <a:r>
              <a:rPr sz="750" i="1" dirty="0">
                <a:solidFill>
                  <a:srgbClr val="1B2433"/>
                </a:solidFill>
                <a:latin typeface="Arial"/>
                <a:cs typeface="Arial"/>
              </a:rPr>
              <a:t>atomic</a:t>
            </a:r>
            <a:r>
              <a:rPr sz="750" i="1" spc="170" dirty="0">
                <a:solidFill>
                  <a:srgbClr val="1B2433"/>
                </a:solidFill>
                <a:latin typeface="Arial"/>
                <a:cs typeface="Arial"/>
              </a:rPr>
              <a:t> </a:t>
            </a:r>
            <a:r>
              <a:rPr sz="750" i="1" dirty="0">
                <a:solidFill>
                  <a:srgbClr val="1B2433"/>
                </a:solidFill>
                <a:latin typeface="Arial"/>
                <a:cs typeface="Arial"/>
              </a:rPr>
              <a:t>weights</a:t>
            </a:r>
            <a:r>
              <a:rPr sz="750" dirty="0">
                <a:solidFill>
                  <a:srgbClr val="1B2433"/>
                </a:solidFill>
                <a:latin typeface="Arial"/>
                <a:cs typeface="Arial"/>
              </a:rPr>
              <a:t>.</a:t>
            </a:r>
            <a:r>
              <a:rPr sz="750" spc="165" dirty="0">
                <a:solidFill>
                  <a:srgbClr val="1B2433"/>
                </a:solidFill>
                <a:latin typeface="Arial"/>
                <a:cs typeface="Arial"/>
              </a:rPr>
              <a:t> </a:t>
            </a:r>
            <a:r>
              <a:rPr sz="750" dirty="0">
                <a:solidFill>
                  <a:srgbClr val="1B2433"/>
                </a:solidFill>
                <a:latin typeface="Arial"/>
                <a:cs typeface="Arial"/>
              </a:rPr>
              <a:t>International</a:t>
            </a:r>
            <a:r>
              <a:rPr sz="750" spc="170" dirty="0">
                <a:solidFill>
                  <a:srgbClr val="1B2433"/>
                </a:solidFill>
                <a:latin typeface="Arial"/>
                <a:cs typeface="Arial"/>
              </a:rPr>
              <a:t> </a:t>
            </a:r>
            <a:r>
              <a:rPr sz="750" dirty="0">
                <a:solidFill>
                  <a:srgbClr val="1B2433"/>
                </a:solidFill>
                <a:latin typeface="Arial"/>
                <a:cs typeface="Arial"/>
              </a:rPr>
              <a:t>Union</a:t>
            </a:r>
            <a:r>
              <a:rPr sz="750" spc="165" dirty="0">
                <a:solidFill>
                  <a:srgbClr val="1B2433"/>
                </a:solidFill>
                <a:latin typeface="Arial"/>
                <a:cs typeface="Arial"/>
              </a:rPr>
              <a:t> </a:t>
            </a:r>
            <a:r>
              <a:rPr sz="750" dirty="0">
                <a:solidFill>
                  <a:srgbClr val="1B2433"/>
                </a:solidFill>
                <a:latin typeface="Arial"/>
                <a:cs typeface="Arial"/>
              </a:rPr>
              <a:t>of</a:t>
            </a:r>
            <a:r>
              <a:rPr sz="750" spc="165" dirty="0">
                <a:solidFill>
                  <a:srgbClr val="1B2433"/>
                </a:solidFill>
                <a:latin typeface="Arial"/>
                <a:cs typeface="Arial"/>
              </a:rPr>
              <a:t> </a:t>
            </a:r>
            <a:r>
              <a:rPr sz="750" dirty="0">
                <a:solidFill>
                  <a:srgbClr val="1B2433"/>
                </a:solidFill>
                <a:latin typeface="Arial"/>
                <a:cs typeface="Arial"/>
              </a:rPr>
              <a:t>Pure</a:t>
            </a:r>
            <a:r>
              <a:rPr sz="750" spc="170" dirty="0">
                <a:solidFill>
                  <a:srgbClr val="1B2433"/>
                </a:solidFill>
                <a:latin typeface="Arial"/>
                <a:cs typeface="Arial"/>
              </a:rPr>
              <a:t> </a:t>
            </a:r>
            <a:r>
              <a:rPr sz="750" dirty="0">
                <a:solidFill>
                  <a:srgbClr val="1B2433"/>
                </a:solidFill>
                <a:latin typeface="Arial"/>
                <a:cs typeface="Arial"/>
              </a:rPr>
              <a:t>and</a:t>
            </a:r>
            <a:r>
              <a:rPr sz="750" spc="90" dirty="0">
                <a:solidFill>
                  <a:srgbClr val="1B2433"/>
                </a:solidFill>
                <a:latin typeface="Arial"/>
                <a:cs typeface="Arial"/>
              </a:rPr>
              <a:t> </a:t>
            </a:r>
            <a:r>
              <a:rPr sz="750" dirty="0">
                <a:solidFill>
                  <a:srgbClr val="1B2433"/>
                </a:solidFill>
                <a:latin typeface="Arial"/>
                <a:cs typeface="Arial"/>
              </a:rPr>
              <a:t>Applied</a:t>
            </a:r>
            <a:r>
              <a:rPr sz="750" spc="165" dirty="0">
                <a:solidFill>
                  <a:srgbClr val="1B2433"/>
                </a:solidFill>
                <a:latin typeface="Arial"/>
                <a:cs typeface="Arial"/>
              </a:rPr>
              <a:t> </a:t>
            </a:r>
            <a:r>
              <a:rPr sz="750" dirty="0">
                <a:solidFill>
                  <a:srgbClr val="1B2433"/>
                </a:solidFill>
                <a:latin typeface="Arial"/>
                <a:cs typeface="Arial"/>
              </a:rPr>
              <a:t>Chemistry.</a:t>
            </a:r>
            <a:r>
              <a:rPr sz="750" spc="165" dirty="0">
                <a:solidFill>
                  <a:srgbClr val="1B2433"/>
                </a:solidFill>
                <a:latin typeface="Arial"/>
                <a:cs typeface="Arial"/>
              </a:rPr>
              <a:t> </a:t>
            </a:r>
            <a:r>
              <a:rPr sz="750" dirty="0">
                <a:solidFill>
                  <a:srgbClr val="1B2433"/>
                </a:solidFill>
                <a:latin typeface="Arial"/>
                <a:cs typeface="Arial"/>
                <a:hlinkClick r:id="rId5"/>
              </a:rPr>
              <a:t>https://www.ciaaw.org/abridged-atomic-</a:t>
            </a:r>
            <a:r>
              <a:rPr sz="750" spc="-10" dirty="0">
                <a:solidFill>
                  <a:srgbClr val="1B2433"/>
                </a:solidFill>
                <a:latin typeface="Arial"/>
                <a:cs typeface="Arial"/>
                <a:hlinkClick r:id="rId5"/>
              </a:rPr>
              <a:t>weights.htm</a:t>
            </a:r>
            <a:endParaRPr sz="750" dirty="0">
              <a:latin typeface="Arial"/>
              <a:cs typeface="Arial"/>
            </a:endParaRPr>
          </a:p>
          <a:p>
            <a:pPr marL="147320">
              <a:lnSpc>
                <a:spcPct val="100000"/>
              </a:lnSpc>
              <a:spcBef>
                <a:spcPts val="150"/>
              </a:spcBef>
            </a:pPr>
            <a:r>
              <a:rPr sz="750" spc="10" dirty="0">
                <a:solidFill>
                  <a:srgbClr val="1B2433"/>
                </a:solidFill>
                <a:latin typeface="Arial"/>
                <a:cs typeface="Arial"/>
              </a:rPr>
              <a:t>National</a:t>
            </a:r>
            <a:r>
              <a:rPr sz="750" spc="85" dirty="0">
                <a:solidFill>
                  <a:srgbClr val="1B2433"/>
                </a:solidFill>
                <a:latin typeface="Arial"/>
                <a:cs typeface="Arial"/>
              </a:rPr>
              <a:t> </a:t>
            </a:r>
            <a:r>
              <a:rPr sz="750" spc="10" dirty="0">
                <a:solidFill>
                  <a:srgbClr val="1B2433"/>
                </a:solidFill>
                <a:latin typeface="Arial"/>
                <a:cs typeface="Arial"/>
              </a:rPr>
              <a:t>Center</a:t>
            </a:r>
            <a:r>
              <a:rPr sz="750" spc="90" dirty="0">
                <a:solidFill>
                  <a:srgbClr val="1B2433"/>
                </a:solidFill>
                <a:latin typeface="Arial"/>
                <a:cs typeface="Arial"/>
              </a:rPr>
              <a:t> </a:t>
            </a:r>
            <a:r>
              <a:rPr sz="750" spc="10" dirty="0">
                <a:solidFill>
                  <a:srgbClr val="1B2433"/>
                </a:solidFill>
                <a:latin typeface="Arial"/>
                <a:cs typeface="Arial"/>
              </a:rPr>
              <a:t>for</a:t>
            </a:r>
            <a:r>
              <a:rPr sz="750" spc="85" dirty="0">
                <a:solidFill>
                  <a:srgbClr val="1B2433"/>
                </a:solidFill>
                <a:latin typeface="Arial"/>
                <a:cs typeface="Arial"/>
              </a:rPr>
              <a:t> </a:t>
            </a:r>
            <a:r>
              <a:rPr sz="750" spc="10" dirty="0">
                <a:solidFill>
                  <a:srgbClr val="1B2433"/>
                </a:solidFill>
                <a:latin typeface="Arial"/>
                <a:cs typeface="Arial"/>
              </a:rPr>
              <a:t>Biotechnology</a:t>
            </a:r>
            <a:r>
              <a:rPr sz="750" spc="90" dirty="0">
                <a:solidFill>
                  <a:srgbClr val="1B2433"/>
                </a:solidFill>
                <a:latin typeface="Arial"/>
                <a:cs typeface="Arial"/>
              </a:rPr>
              <a:t> </a:t>
            </a:r>
            <a:r>
              <a:rPr sz="750" spc="10" dirty="0">
                <a:solidFill>
                  <a:srgbClr val="1B2433"/>
                </a:solidFill>
                <a:latin typeface="Arial"/>
                <a:cs typeface="Arial"/>
              </a:rPr>
              <a:t>Information.</a:t>
            </a:r>
            <a:r>
              <a:rPr sz="750" spc="85" dirty="0">
                <a:solidFill>
                  <a:srgbClr val="1B2433"/>
                </a:solidFill>
                <a:latin typeface="Arial"/>
                <a:cs typeface="Arial"/>
              </a:rPr>
              <a:t> </a:t>
            </a:r>
            <a:r>
              <a:rPr sz="750" spc="10" dirty="0">
                <a:solidFill>
                  <a:srgbClr val="1B2433"/>
                </a:solidFill>
                <a:latin typeface="Arial"/>
                <a:cs typeface="Arial"/>
              </a:rPr>
              <a:t>(n.d.).</a:t>
            </a:r>
            <a:r>
              <a:rPr sz="750" spc="90" dirty="0">
                <a:solidFill>
                  <a:srgbClr val="1B2433"/>
                </a:solidFill>
                <a:latin typeface="Arial"/>
                <a:cs typeface="Arial"/>
              </a:rPr>
              <a:t> </a:t>
            </a:r>
            <a:r>
              <a:rPr sz="750" i="1" spc="10" dirty="0">
                <a:solidFill>
                  <a:srgbClr val="1B2433"/>
                </a:solidFill>
                <a:latin typeface="Arial"/>
                <a:cs typeface="Arial"/>
              </a:rPr>
              <a:t>PubChem</a:t>
            </a:r>
            <a:r>
              <a:rPr sz="750" i="1" spc="85" dirty="0">
                <a:solidFill>
                  <a:srgbClr val="1B2433"/>
                </a:solidFill>
                <a:latin typeface="Arial"/>
                <a:cs typeface="Arial"/>
              </a:rPr>
              <a:t> </a:t>
            </a:r>
            <a:r>
              <a:rPr sz="750" i="1" spc="10" dirty="0">
                <a:solidFill>
                  <a:srgbClr val="1B2433"/>
                </a:solidFill>
                <a:latin typeface="Arial"/>
                <a:cs typeface="Arial"/>
              </a:rPr>
              <a:t>compound</a:t>
            </a:r>
            <a:r>
              <a:rPr sz="750" i="1" spc="90" dirty="0">
                <a:solidFill>
                  <a:srgbClr val="1B2433"/>
                </a:solidFill>
                <a:latin typeface="Arial"/>
                <a:cs typeface="Arial"/>
              </a:rPr>
              <a:t> </a:t>
            </a:r>
            <a:r>
              <a:rPr sz="750" i="1" spc="10" dirty="0">
                <a:solidFill>
                  <a:srgbClr val="1B2433"/>
                </a:solidFill>
                <a:latin typeface="Arial"/>
                <a:cs typeface="Arial"/>
              </a:rPr>
              <a:t>summary</a:t>
            </a:r>
            <a:r>
              <a:rPr sz="750" i="1" spc="85" dirty="0">
                <a:solidFill>
                  <a:srgbClr val="1B2433"/>
                </a:solidFill>
                <a:latin typeface="Arial"/>
                <a:cs typeface="Arial"/>
              </a:rPr>
              <a:t> </a:t>
            </a:r>
            <a:r>
              <a:rPr sz="750" i="1" spc="10" dirty="0">
                <a:solidFill>
                  <a:srgbClr val="1B2433"/>
                </a:solidFill>
                <a:latin typeface="Arial"/>
                <a:cs typeface="Arial"/>
              </a:rPr>
              <a:t>for</a:t>
            </a:r>
            <a:r>
              <a:rPr sz="750" i="1" spc="90" dirty="0">
                <a:solidFill>
                  <a:srgbClr val="1B2433"/>
                </a:solidFill>
                <a:latin typeface="Arial"/>
                <a:cs typeface="Arial"/>
              </a:rPr>
              <a:t> </a:t>
            </a:r>
            <a:r>
              <a:rPr sz="750" i="1" spc="10" dirty="0">
                <a:solidFill>
                  <a:srgbClr val="1B2433"/>
                </a:solidFill>
                <a:latin typeface="Arial"/>
                <a:cs typeface="Arial"/>
              </a:rPr>
              <a:t>CID</a:t>
            </a:r>
            <a:r>
              <a:rPr sz="750" i="1" spc="85" dirty="0">
                <a:solidFill>
                  <a:srgbClr val="1B2433"/>
                </a:solidFill>
                <a:latin typeface="Arial"/>
                <a:cs typeface="Arial"/>
              </a:rPr>
              <a:t> </a:t>
            </a:r>
            <a:r>
              <a:rPr sz="750" i="1" spc="10" dirty="0">
                <a:solidFill>
                  <a:srgbClr val="1B2433"/>
                </a:solidFill>
                <a:latin typeface="Arial"/>
                <a:cs typeface="Arial"/>
              </a:rPr>
              <a:t>10112,</a:t>
            </a:r>
            <a:r>
              <a:rPr sz="750" i="1" spc="90" dirty="0">
                <a:solidFill>
                  <a:srgbClr val="1B2433"/>
                </a:solidFill>
                <a:latin typeface="Arial"/>
                <a:cs typeface="Arial"/>
              </a:rPr>
              <a:t> </a:t>
            </a:r>
            <a:r>
              <a:rPr sz="750" i="1" spc="10" dirty="0">
                <a:solidFill>
                  <a:srgbClr val="1B2433"/>
                </a:solidFill>
                <a:latin typeface="Arial"/>
                <a:cs typeface="Arial"/>
              </a:rPr>
              <a:t>calcium</a:t>
            </a:r>
            <a:r>
              <a:rPr sz="750" i="1" spc="85" dirty="0">
                <a:solidFill>
                  <a:srgbClr val="1B2433"/>
                </a:solidFill>
                <a:latin typeface="Arial"/>
                <a:cs typeface="Arial"/>
              </a:rPr>
              <a:t> </a:t>
            </a:r>
            <a:r>
              <a:rPr sz="750" i="1" spc="10" dirty="0">
                <a:solidFill>
                  <a:srgbClr val="1B2433"/>
                </a:solidFill>
                <a:latin typeface="Arial"/>
                <a:cs typeface="Arial"/>
              </a:rPr>
              <a:t>carbonate</a:t>
            </a:r>
            <a:r>
              <a:rPr sz="750" spc="10" dirty="0">
                <a:solidFill>
                  <a:srgbClr val="1B2433"/>
                </a:solidFill>
                <a:latin typeface="Arial"/>
                <a:cs typeface="Arial"/>
              </a:rPr>
              <a:t>.</a:t>
            </a:r>
            <a:r>
              <a:rPr sz="750" spc="90" dirty="0">
                <a:solidFill>
                  <a:srgbClr val="1B2433"/>
                </a:solidFill>
                <a:latin typeface="Arial"/>
                <a:cs typeface="Arial"/>
              </a:rPr>
              <a:t> </a:t>
            </a:r>
            <a:r>
              <a:rPr sz="750" spc="10" dirty="0">
                <a:solidFill>
                  <a:srgbClr val="1B2433"/>
                </a:solidFill>
                <a:latin typeface="Arial"/>
                <a:cs typeface="Arial"/>
              </a:rPr>
              <a:t>Retrieved</a:t>
            </a:r>
            <a:r>
              <a:rPr sz="750" spc="85" dirty="0">
                <a:solidFill>
                  <a:srgbClr val="1B2433"/>
                </a:solidFill>
                <a:latin typeface="Arial"/>
                <a:cs typeface="Arial"/>
              </a:rPr>
              <a:t> </a:t>
            </a:r>
            <a:r>
              <a:rPr lang="en-US" sz="750" spc="10" dirty="0">
                <a:solidFill>
                  <a:srgbClr val="1B2433"/>
                </a:solidFill>
                <a:latin typeface="Arial"/>
                <a:cs typeface="Arial"/>
              </a:rPr>
              <a:t>October 27, 2026</a:t>
            </a:r>
            <a:r>
              <a:rPr sz="750" spc="10" dirty="0">
                <a:solidFill>
                  <a:srgbClr val="1B2433"/>
                </a:solidFill>
                <a:latin typeface="Arial"/>
                <a:cs typeface="Arial"/>
              </a:rPr>
              <a:t>,</a:t>
            </a:r>
            <a:r>
              <a:rPr sz="750" spc="85" dirty="0">
                <a:solidFill>
                  <a:srgbClr val="1B2433"/>
                </a:solidFill>
                <a:latin typeface="Arial"/>
                <a:cs typeface="Arial"/>
              </a:rPr>
              <a:t> </a:t>
            </a:r>
            <a:r>
              <a:rPr sz="750" spc="10" dirty="0">
                <a:solidFill>
                  <a:srgbClr val="1B2433"/>
                </a:solidFill>
                <a:latin typeface="Arial"/>
                <a:cs typeface="Arial"/>
              </a:rPr>
              <a:t>from</a:t>
            </a:r>
            <a:r>
              <a:rPr sz="750" spc="90" dirty="0">
                <a:solidFill>
                  <a:srgbClr val="1B2433"/>
                </a:solidFill>
                <a:latin typeface="Arial"/>
                <a:cs typeface="Arial"/>
              </a:rPr>
              <a:t> </a:t>
            </a:r>
            <a:r>
              <a:rPr sz="750" spc="10" dirty="0">
                <a:solidFill>
                  <a:srgbClr val="1B2433"/>
                </a:solidFill>
                <a:latin typeface="Arial"/>
                <a:cs typeface="Arial"/>
                <a:hlinkClick r:id="rId6"/>
              </a:rPr>
              <a:t>https://pubchem.ncbi.nlm.nih.gov/compound/Calcium-</a:t>
            </a:r>
            <a:r>
              <a:rPr sz="750" spc="-10" dirty="0">
                <a:solidFill>
                  <a:srgbClr val="1B2433"/>
                </a:solidFill>
                <a:latin typeface="Arial"/>
                <a:cs typeface="Arial"/>
                <a:hlinkClick r:id="rId6"/>
              </a:rPr>
              <a:t>carbonate</a:t>
            </a:r>
            <a:endParaRPr sz="750" dirty="0">
              <a:latin typeface="Arial"/>
              <a:cs typeface="Arial"/>
            </a:endParaRPr>
          </a:p>
          <a:p>
            <a:pPr marL="147320">
              <a:lnSpc>
                <a:spcPct val="100000"/>
              </a:lnSpc>
              <a:spcBef>
                <a:spcPts val="225"/>
              </a:spcBef>
            </a:pPr>
            <a:r>
              <a:rPr lang="en-PH" sz="800" dirty="0"/>
              <a:t>Nestlé Philippines, Inc. (n.d.). </a:t>
            </a:r>
            <a:r>
              <a:rPr sz="750" i="1" dirty="0">
                <a:solidFill>
                  <a:srgbClr val="1B2433"/>
                </a:solidFill>
                <a:latin typeface="Arial"/>
                <a:cs typeface="Arial"/>
              </a:rPr>
              <a:t>Bear</a:t>
            </a:r>
            <a:r>
              <a:rPr sz="750" i="1" spc="95" dirty="0">
                <a:solidFill>
                  <a:srgbClr val="1B2433"/>
                </a:solidFill>
                <a:latin typeface="Arial"/>
                <a:cs typeface="Arial"/>
              </a:rPr>
              <a:t> </a:t>
            </a:r>
            <a:r>
              <a:rPr sz="750" i="1" dirty="0">
                <a:solidFill>
                  <a:srgbClr val="1B2433"/>
                </a:solidFill>
                <a:latin typeface="Arial"/>
                <a:cs typeface="Arial"/>
              </a:rPr>
              <a:t>Brand</a:t>
            </a:r>
            <a:r>
              <a:rPr sz="750" i="1" spc="95" dirty="0">
                <a:solidFill>
                  <a:srgbClr val="1B2433"/>
                </a:solidFill>
                <a:latin typeface="Arial"/>
                <a:cs typeface="Arial"/>
              </a:rPr>
              <a:t> </a:t>
            </a:r>
            <a:r>
              <a:rPr sz="750" i="1" dirty="0">
                <a:solidFill>
                  <a:srgbClr val="1B2433"/>
                </a:solidFill>
                <a:latin typeface="Arial"/>
                <a:cs typeface="Arial"/>
              </a:rPr>
              <a:t>Sterilized</a:t>
            </a:r>
            <a:r>
              <a:rPr sz="750" i="1" spc="100" dirty="0">
                <a:solidFill>
                  <a:srgbClr val="1B2433"/>
                </a:solidFill>
                <a:latin typeface="Arial"/>
                <a:cs typeface="Arial"/>
              </a:rPr>
              <a:t> </a:t>
            </a:r>
            <a:r>
              <a:rPr sz="750" i="1" dirty="0">
                <a:solidFill>
                  <a:srgbClr val="1B2433"/>
                </a:solidFill>
                <a:latin typeface="Arial"/>
                <a:cs typeface="Arial"/>
              </a:rPr>
              <a:t>Milk,</a:t>
            </a:r>
            <a:r>
              <a:rPr sz="750" i="1" spc="95" dirty="0">
                <a:solidFill>
                  <a:srgbClr val="1B2433"/>
                </a:solidFill>
                <a:latin typeface="Arial"/>
                <a:cs typeface="Arial"/>
              </a:rPr>
              <a:t> </a:t>
            </a:r>
            <a:r>
              <a:rPr sz="750" i="1" dirty="0">
                <a:solidFill>
                  <a:srgbClr val="1B2433"/>
                </a:solidFill>
                <a:latin typeface="Arial"/>
                <a:cs typeface="Arial"/>
              </a:rPr>
              <a:t>200</a:t>
            </a:r>
            <a:r>
              <a:rPr sz="750" i="1" spc="95" dirty="0">
                <a:solidFill>
                  <a:srgbClr val="1B2433"/>
                </a:solidFill>
                <a:latin typeface="Arial"/>
                <a:cs typeface="Arial"/>
              </a:rPr>
              <a:t> </a:t>
            </a:r>
            <a:r>
              <a:rPr sz="750" i="1" dirty="0" err="1">
                <a:solidFill>
                  <a:srgbClr val="1B2433"/>
                </a:solidFill>
                <a:latin typeface="Arial"/>
                <a:cs typeface="Arial"/>
              </a:rPr>
              <a:t>mL</a:t>
            </a:r>
            <a:r>
              <a:rPr sz="750" dirty="0" err="1">
                <a:solidFill>
                  <a:srgbClr val="1B2433"/>
                </a:solidFill>
                <a:latin typeface="Arial"/>
                <a:cs typeface="Arial"/>
              </a:rPr>
              <a:t>.</a:t>
            </a:r>
            <a:r>
              <a:rPr sz="750" spc="100" dirty="0">
                <a:solidFill>
                  <a:srgbClr val="1B2433"/>
                </a:solidFill>
                <a:latin typeface="Arial"/>
                <a:cs typeface="Arial"/>
              </a:rPr>
              <a:t> </a:t>
            </a:r>
            <a:r>
              <a:rPr sz="750" dirty="0">
                <a:solidFill>
                  <a:srgbClr val="1B2433"/>
                </a:solidFill>
                <a:latin typeface="Arial"/>
                <a:cs typeface="Arial"/>
              </a:rPr>
              <a:t>Photograph</a:t>
            </a:r>
            <a:r>
              <a:rPr sz="750" spc="95" dirty="0">
                <a:solidFill>
                  <a:srgbClr val="1B2433"/>
                </a:solidFill>
                <a:latin typeface="Arial"/>
                <a:cs typeface="Arial"/>
              </a:rPr>
              <a:t> </a:t>
            </a:r>
            <a:r>
              <a:rPr sz="750" dirty="0">
                <a:solidFill>
                  <a:srgbClr val="1B2433"/>
                </a:solidFill>
                <a:latin typeface="Arial"/>
                <a:cs typeface="Arial"/>
              </a:rPr>
              <a:t>by</a:t>
            </a:r>
            <a:r>
              <a:rPr sz="750" spc="95" dirty="0">
                <a:solidFill>
                  <a:srgbClr val="1B2433"/>
                </a:solidFill>
                <a:latin typeface="Arial"/>
                <a:cs typeface="Arial"/>
              </a:rPr>
              <a:t> </a:t>
            </a:r>
            <a:r>
              <a:rPr sz="750" dirty="0">
                <a:solidFill>
                  <a:srgbClr val="1B2433"/>
                </a:solidFill>
                <a:latin typeface="Arial"/>
                <a:cs typeface="Arial"/>
              </a:rPr>
              <a:t>D.</a:t>
            </a:r>
            <a:r>
              <a:rPr sz="750" spc="100" dirty="0">
                <a:solidFill>
                  <a:srgbClr val="1B2433"/>
                </a:solidFill>
                <a:latin typeface="Arial"/>
                <a:cs typeface="Arial"/>
              </a:rPr>
              <a:t> </a:t>
            </a:r>
            <a:r>
              <a:rPr sz="750" dirty="0">
                <a:solidFill>
                  <a:srgbClr val="1B2433"/>
                </a:solidFill>
                <a:latin typeface="Arial"/>
                <a:cs typeface="Arial"/>
              </a:rPr>
              <a:t>B.</a:t>
            </a:r>
            <a:r>
              <a:rPr sz="750" spc="95" dirty="0">
                <a:solidFill>
                  <a:srgbClr val="1B2433"/>
                </a:solidFill>
                <a:latin typeface="Arial"/>
                <a:cs typeface="Arial"/>
              </a:rPr>
              <a:t> </a:t>
            </a:r>
            <a:r>
              <a:rPr sz="750" spc="-20" dirty="0">
                <a:solidFill>
                  <a:srgbClr val="1B2433"/>
                </a:solidFill>
                <a:latin typeface="Arial"/>
                <a:cs typeface="Arial"/>
              </a:rPr>
              <a:t>P.</a:t>
            </a:r>
            <a:r>
              <a:rPr sz="750" spc="95" dirty="0">
                <a:solidFill>
                  <a:srgbClr val="1B2433"/>
                </a:solidFill>
                <a:latin typeface="Arial"/>
                <a:cs typeface="Arial"/>
              </a:rPr>
              <a:t> </a:t>
            </a:r>
            <a:r>
              <a:rPr sz="750" dirty="0">
                <a:solidFill>
                  <a:srgbClr val="1B2433"/>
                </a:solidFill>
                <a:latin typeface="Arial"/>
                <a:cs typeface="Arial"/>
              </a:rPr>
              <a:t>Gacer</a:t>
            </a:r>
            <a:r>
              <a:rPr lang="en-PH" sz="750" dirty="0">
                <a:solidFill>
                  <a:srgbClr val="1B2433"/>
                </a:solidFill>
                <a:latin typeface="Arial"/>
                <a:cs typeface="Arial"/>
              </a:rPr>
              <a:t>,</a:t>
            </a:r>
            <a:r>
              <a:rPr lang="en-PH" sz="750" spc="100" dirty="0">
                <a:solidFill>
                  <a:srgbClr val="1B2433"/>
                </a:solidFill>
                <a:latin typeface="Arial"/>
                <a:cs typeface="Arial"/>
              </a:rPr>
              <a:t> October 27, 2026</a:t>
            </a:r>
            <a:r>
              <a:rPr sz="750" spc="-10" dirty="0">
                <a:solidFill>
                  <a:srgbClr val="1B2433"/>
                </a:solidFill>
                <a:latin typeface="Arial"/>
                <a:cs typeface="Arial"/>
              </a:rPr>
              <a:t>.</a:t>
            </a:r>
            <a:endParaRPr sz="750" dirty="0">
              <a:latin typeface="Arial"/>
              <a:cs typeface="Arial"/>
            </a:endParaRPr>
          </a:p>
          <a:p>
            <a:pPr marL="147320">
              <a:lnSpc>
                <a:spcPct val="100000"/>
              </a:lnSpc>
              <a:spcBef>
                <a:spcPts val="225"/>
              </a:spcBef>
            </a:pPr>
            <a:r>
              <a:rPr sz="750" b="1" spc="10" dirty="0">
                <a:solidFill>
                  <a:srgbClr val="1B2433"/>
                </a:solidFill>
                <a:latin typeface="Arial"/>
                <a:cs typeface="Arial"/>
              </a:rPr>
              <a:t>AI</a:t>
            </a:r>
            <a:r>
              <a:rPr sz="750" b="1" spc="50" dirty="0">
                <a:solidFill>
                  <a:srgbClr val="1B2433"/>
                </a:solidFill>
                <a:latin typeface="Arial"/>
                <a:cs typeface="Arial"/>
              </a:rPr>
              <a:t> </a:t>
            </a:r>
            <a:r>
              <a:rPr sz="750" b="1" spc="10" dirty="0">
                <a:solidFill>
                  <a:srgbClr val="1B2433"/>
                </a:solidFill>
                <a:latin typeface="Arial"/>
                <a:cs typeface="Arial"/>
              </a:rPr>
              <a:t>use</a:t>
            </a:r>
            <a:r>
              <a:rPr sz="750" b="1" spc="55" dirty="0">
                <a:solidFill>
                  <a:srgbClr val="1B2433"/>
                </a:solidFill>
                <a:latin typeface="Arial"/>
                <a:cs typeface="Arial"/>
              </a:rPr>
              <a:t> </a:t>
            </a:r>
            <a:r>
              <a:rPr sz="750" b="1" spc="10" dirty="0">
                <a:solidFill>
                  <a:srgbClr val="1B2433"/>
                </a:solidFill>
                <a:latin typeface="Arial"/>
                <a:cs typeface="Arial"/>
              </a:rPr>
              <a:t>disclosure:</a:t>
            </a:r>
            <a:r>
              <a:rPr sz="750" b="1" dirty="0">
                <a:solidFill>
                  <a:srgbClr val="1B2433"/>
                </a:solidFill>
                <a:latin typeface="Arial"/>
                <a:cs typeface="Arial"/>
              </a:rPr>
              <a:t> </a:t>
            </a:r>
            <a:r>
              <a:rPr sz="750" spc="10" dirty="0">
                <a:solidFill>
                  <a:srgbClr val="1B2433"/>
                </a:solidFill>
                <a:latin typeface="Arial"/>
                <a:cs typeface="Arial"/>
              </a:rPr>
              <a:t>AI</a:t>
            </a:r>
            <a:r>
              <a:rPr sz="750" spc="55" dirty="0">
                <a:solidFill>
                  <a:srgbClr val="1B2433"/>
                </a:solidFill>
                <a:latin typeface="Arial"/>
                <a:cs typeface="Arial"/>
              </a:rPr>
              <a:t> </a:t>
            </a:r>
            <a:r>
              <a:rPr sz="750" spc="10" dirty="0">
                <a:solidFill>
                  <a:srgbClr val="1B2433"/>
                </a:solidFill>
                <a:latin typeface="Arial"/>
                <a:cs typeface="Arial"/>
              </a:rPr>
              <a:t>was</a:t>
            </a:r>
            <a:r>
              <a:rPr sz="750" spc="55" dirty="0">
                <a:solidFill>
                  <a:srgbClr val="1B2433"/>
                </a:solidFill>
                <a:latin typeface="Arial"/>
                <a:cs typeface="Arial"/>
              </a:rPr>
              <a:t> </a:t>
            </a:r>
            <a:r>
              <a:rPr sz="750" spc="10" dirty="0">
                <a:solidFill>
                  <a:srgbClr val="1B2433"/>
                </a:solidFill>
                <a:latin typeface="Arial"/>
                <a:cs typeface="Arial"/>
              </a:rPr>
              <a:t>used</a:t>
            </a:r>
            <a:r>
              <a:rPr sz="750" spc="55" dirty="0">
                <a:solidFill>
                  <a:srgbClr val="1B2433"/>
                </a:solidFill>
                <a:latin typeface="Arial"/>
                <a:cs typeface="Arial"/>
              </a:rPr>
              <a:t> </a:t>
            </a:r>
            <a:r>
              <a:rPr sz="750" spc="10" dirty="0">
                <a:solidFill>
                  <a:srgbClr val="1B2433"/>
                </a:solidFill>
                <a:latin typeface="Arial"/>
                <a:cs typeface="Arial"/>
              </a:rPr>
              <a:t>to</a:t>
            </a:r>
            <a:r>
              <a:rPr sz="750" spc="55" dirty="0">
                <a:solidFill>
                  <a:srgbClr val="1B2433"/>
                </a:solidFill>
                <a:latin typeface="Arial"/>
                <a:cs typeface="Arial"/>
              </a:rPr>
              <a:t> </a:t>
            </a:r>
            <a:r>
              <a:rPr sz="750" spc="10" dirty="0">
                <a:solidFill>
                  <a:srgbClr val="1B2433"/>
                </a:solidFill>
                <a:latin typeface="Arial"/>
                <a:cs typeface="Arial"/>
              </a:rPr>
              <a:t>enhance</a:t>
            </a:r>
            <a:r>
              <a:rPr sz="750" spc="55" dirty="0">
                <a:solidFill>
                  <a:srgbClr val="1B2433"/>
                </a:solidFill>
                <a:latin typeface="Arial"/>
                <a:cs typeface="Arial"/>
              </a:rPr>
              <a:t> </a:t>
            </a:r>
            <a:r>
              <a:rPr sz="750" spc="10" dirty="0">
                <a:solidFill>
                  <a:srgbClr val="1B2433"/>
                </a:solidFill>
                <a:latin typeface="Arial"/>
                <a:cs typeface="Arial"/>
              </a:rPr>
              <a:t>the</a:t>
            </a:r>
            <a:r>
              <a:rPr sz="750" spc="55" dirty="0">
                <a:solidFill>
                  <a:srgbClr val="1B2433"/>
                </a:solidFill>
                <a:latin typeface="Arial"/>
                <a:cs typeface="Arial"/>
              </a:rPr>
              <a:t> </a:t>
            </a:r>
            <a:r>
              <a:rPr sz="750" spc="10" dirty="0">
                <a:solidFill>
                  <a:srgbClr val="1B2433"/>
                </a:solidFill>
                <a:latin typeface="Arial"/>
                <a:cs typeface="Arial"/>
              </a:rPr>
              <a:t>product</a:t>
            </a:r>
            <a:r>
              <a:rPr sz="750" spc="55" dirty="0">
                <a:solidFill>
                  <a:srgbClr val="1B2433"/>
                </a:solidFill>
                <a:latin typeface="Arial"/>
                <a:cs typeface="Arial"/>
              </a:rPr>
              <a:t> </a:t>
            </a:r>
            <a:r>
              <a:rPr sz="750" spc="10" dirty="0">
                <a:solidFill>
                  <a:srgbClr val="1B2433"/>
                </a:solidFill>
                <a:latin typeface="Arial"/>
                <a:cs typeface="Arial"/>
              </a:rPr>
              <a:t>image</a:t>
            </a:r>
            <a:r>
              <a:rPr sz="750" spc="55" dirty="0">
                <a:solidFill>
                  <a:srgbClr val="1B2433"/>
                </a:solidFill>
                <a:latin typeface="Arial"/>
                <a:cs typeface="Arial"/>
              </a:rPr>
              <a:t> </a:t>
            </a:r>
            <a:r>
              <a:rPr sz="750" spc="10" dirty="0">
                <a:solidFill>
                  <a:srgbClr val="1B2433"/>
                </a:solidFill>
                <a:latin typeface="Arial"/>
                <a:cs typeface="Arial"/>
              </a:rPr>
              <a:t>and</a:t>
            </a:r>
            <a:r>
              <a:rPr sz="750" spc="50" dirty="0">
                <a:solidFill>
                  <a:srgbClr val="1B2433"/>
                </a:solidFill>
                <a:latin typeface="Arial"/>
                <a:cs typeface="Arial"/>
              </a:rPr>
              <a:t> </a:t>
            </a:r>
            <a:r>
              <a:rPr sz="750" spc="10" dirty="0">
                <a:solidFill>
                  <a:srgbClr val="1B2433"/>
                </a:solidFill>
                <a:latin typeface="Arial"/>
                <a:cs typeface="Arial"/>
              </a:rPr>
              <a:t>give</a:t>
            </a:r>
            <a:r>
              <a:rPr sz="750" spc="55" dirty="0">
                <a:solidFill>
                  <a:srgbClr val="1B2433"/>
                </a:solidFill>
                <a:latin typeface="Arial"/>
                <a:cs typeface="Arial"/>
              </a:rPr>
              <a:t> </a:t>
            </a:r>
            <a:r>
              <a:rPr sz="750" spc="10" dirty="0">
                <a:solidFill>
                  <a:srgbClr val="1B2433"/>
                </a:solidFill>
                <a:latin typeface="Arial"/>
                <a:cs typeface="Arial"/>
              </a:rPr>
              <a:t>it</a:t>
            </a:r>
            <a:r>
              <a:rPr sz="750" spc="55" dirty="0">
                <a:solidFill>
                  <a:srgbClr val="1B2433"/>
                </a:solidFill>
                <a:latin typeface="Arial"/>
                <a:cs typeface="Arial"/>
              </a:rPr>
              <a:t> </a:t>
            </a:r>
            <a:r>
              <a:rPr sz="750" spc="10" dirty="0">
                <a:solidFill>
                  <a:srgbClr val="1B2433"/>
                </a:solidFill>
                <a:latin typeface="Arial"/>
                <a:cs typeface="Arial"/>
              </a:rPr>
              <a:t>a</a:t>
            </a:r>
            <a:r>
              <a:rPr sz="750" spc="55" dirty="0">
                <a:solidFill>
                  <a:srgbClr val="1B2433"/>
                </a:solidFill>
                <a:latin typeface="Arial"/>
                <a:cs typeface="Arial"/>
              </a:rPr>
              <a:t> </a:t>
            </a:r>
            <a:r>
              <a:rPr sz="750" spc="10" dirty="0">
                <a:solidFill>
                  <a:srgbClr val="1B2433"/>
                </a:solidFill>
                <a:latin typeface="Arial"/>
                <a:cs typeface="Arial"/>
              </a:rPr>
              <a:t>blue</a:t>
            </a:r>
            <a:r>
              <a:rPr sz="750" spc="55" dirty="0">
                <a:solidFill>
                  <a:srgbClr val="1B2433"/>
                </a:solidFill>
                <a:latin typeface="Arial"/>
                <a:cs typeface="Arial"/>
              </a:rPr>
              <a:t> </a:t>
            </a:r>
            <a:r>
              <a:rPr sz="750" spc="10" dirty="0">
                <a:solidFill>
                  <a:srgbClr val="1B2433"/>
                </a:solidFill>
                <a:latin typeface="Arial"/>
                <a:cs typeface="Arial"/>
              </a:rPr>
              <a:t>background,</a:t>
            </a:r>
            <a:r>
              <a:rPr sz="750" spc="55" dirty="0">
                <a:solidFill>
                  <a:srgbClr val="1B2433"/>
                </a:solidFill>
                <a:latin typeface="Arial"/>
                <a:cs typeface="Arial"/>
              </a:rPr>
              <a:t> </a:t>
            </a:r>
            <a:r>
              <a:rPr sz="750" spc="10" dirty="0">
                <a:solidFill>
                  <a:srgbClr val="1B2433"/>
                </a:solidFill>
                <a:latin typeface="Arial"/>
                <a:cs typeface="Arial"/>
              </a:rPr>
              <a:t>to</a:t>
            </a:r>
            <a:r>
              <a:rPr sz="750" spc="55" dirty="0">
                <a:solidFill>
                  <a:srgbClr val="1B2433"/>
                </a:solidFill>
                <a:latin typeface="Arial"/>
                <a:cs typeface="Arial"/>
              </a:rPr>
              <a:t> </a:t>
            </a:r>
            <a:r>
              <a:rPr sz="750" spc="10" dirty="0">
                <a:solidFill>
                  <a:srgbClr val="1B2433"/>
                </a:solidFill>
                <a:latin typeface="Arial"/>
                <a:cs typeface="Arial"/>
              </a:rPr>
              <a:t>arrange</a:t>
            </a:r>
            <a:r>
              <a:rPr sz="750" spc="55" dirty="0">
                <a:solidFill>
                  <a:srgbClr val="1B2433"/>
                </a:solidFill>
                <a:latin typeface="Arial"/>
                <a:cs typeface="Arial"/>
              </a:rPr>
              <a:t> </a:t>
            </a:r>
            <a:r>
              <a:rPr sz="750" spc="10" dirty="0">
                <a:solidFill>
                  <a:srgbClr val="1B2433"/>
                </a:solidFill>
                <a:latin typeface="Arial"/>
                <a:cs typeface="Arial"/>
              </a:rPr>
              <a:t>this</a:t>
            </a:r>
            <a:r>
              <a:rPr sz="750" spc="55" dirty="0">
                <a:solidFill>
                  <a:srgbClr val="1B2433"/>
                </a:solidFill>
                <a:latin typeface="Arial"/>
                <a:cs typeface="Arial"/>
              </a:rPr>
              <a:t> </a:t>
            </a:r>
            <a:r>
              <a:rPr sz="750" spc="10" dirty="0">
                <a:solidFill>
                  <a:srgbClr val="1B2433"/>
                </a:solidFill>
                <a:latin typeface="Arial"/>
                <a:cs typeface="Arial"/>
              </a:rPr>
              <a:t>card’s</a:t>
            </a:r>
            <a:r>
              <a:rPr sz="750" spc="55" dirty="0">
                <a:solidFill>
                  <a:srgbClr val="1B2433"/>
                </a:solidFill>
                <a:latin typeface="Arial"/>
                <a:cs typeface="Arial"/>
              </a:rPr>
              <a:t> </a:t>
            </a:r>
            <a:r>
              <a:rPr sz="750" spc="10" dirty="0">
                <a:solidFill>
                  <a:srgbClr val="1B2433"/>
                </a:solidFill>
                <a:latin typeface="Arial"/>
                <a:cs typeface="Arial"/>
              </a:rPr>
              <a:t>layout,</a:t>
            </a:r>
            <a:r>
              <a:rPr sz="750" spc="50" dirty="0">
                <a:solidFill>
                  <a:srgbClr val="1B2433"/>
                </a:solidFill>
                <a:latin typeface="Arial"/>
                <a:cs typeface="Arial"/>
              </a:rPr>
              <a:t> </a:t>
            </a:r>
            <a:r>
              <a:rPr sz="750" spc="10" dirty="0">
                <a:solidFill>
                  <a:srgbClr val="1B2433"/>
                </a:solidFill>
                <a:latin typeface="Arial"/>
                <a:cs typeface="Arial"/>
              </a:rPr>
              <a:t>and</a:t>
            </a:r>
            <a:r>
              <a:rPr sz="750" spc="55" dirty="0">
                <a:solidFill>
                  <a:srgbClr val="1B2433"/>
                </a:solidFill>
                <a:latin typeface="Arial"/>
                <a:cs typeface="Arial"/>
              </a:rPr>
              <a:t> </a:t>
            </a:r>
            <a:r>
              <a:rPr sz="750" spc="10" dirty="0">
                <a:solidFill>
                  <a:srgbClr val="1B2433"/>
                </a:solidFill>
                <a:latin typeface="Arial"/>
                <a:cs typeface="Arial"/>
              </a:rPr>
              <a:t>to</a:t>
            </a:r>
            <a:r>
              <a:rPr sz="750" spc="55" dirty="0">
                <a:solidFill>
                  <a:srgbClr val="1B2433"/>
                </a:solidFill>
                <a:latin typeface="Arial"/>
                <a:cs typeface="Arial"/>
              </a:rPr>
              <a:t> </a:t>
            </a:r>
            <a:r>
              <a:rPr sz="750" spc="10" dirty="0">
                <a:solidFill>
                  <a:srgbClr val="1B2433"/>
                </a:solidFill>
                <a:latin typeface="Arial"/>
                <a:cs typeface="Arial"/>
              </a:rPr>
              <a:t>double-check</a:t>
            </a:r>
            <a:r>
              <a:rPr sz="750" spc="55" dirty="0">
                <a:solidFill>
                  <a:srgbClr val="1B2433"/>
                </a:solidFill>
                <a:latin typeface="Arial"/>
                <a:cs typeface="Arial"/>
              </a:rPr>
              <a:t> </a:t>
            </a:r>
            <a:r>
              <a:rPr sz="750" spc="10" dirty="0">
                <a:solidFill>
                  <a:srgbClr val="1B2433"/>
                </a:solidFill>
                <a:latin typeface="Arial"/>
                <a:cs typeface="Arial"/>
              </a:rPr>
              <a:t>the</a:t>
            </a:r>
            <a:r>
              <a:rPr sz="750" spc="55" dirty="0">
                <a:solidFill>
                  <a:srgbClr val="1B2433"/>
                </a:solidFill>
                <a:latin typeface="Arial"/>
                <a:cs typeface="Arial"/>
              </a:rPr>
              <a:t> </a:t>
            </a:r>
            <a:r>
              <a:rPr sz="750" spc="10" dirty="0">
                <a:solidFill>
                  <a:srgbClr val="1B2433"/>
                </a:solidFill>
                <a:latin typeface="Arial"/>
                <a:cs typeface="Arial"/>
              </a:rPr>
              <a:t>calculation</a:t>
            </a:r>
            <a:r>
              <a:rPr sz="750" spc="55" dirty="0">
                <a:solidFill>
                  <a:srgbClr val="1B2433"/>
                </a:solidFill>
                <a:latin typeface="Arial"/>
                <a:cs typeface="Arial"/>
              </a:rPr>
              <a:t> </a:t>
            </a:r>
            <a:r>
              <a:rPr sz="750" spc="10" dirty="0">
                <a:solidFill>
                  <a:srgbClr val="1B2433"/>
                </a:solidFill>
                <a:latin typeface="Arial"/>
                <a:cs typeface="Arial"/>
              </a:rPr>
              <a:t>setup;</a:t>
            </a:r>
            <a:r>
              <a:rPr sz="750" spc="55" dirty="0">
                <a:solidFill>
                  <a:srgbClr val="1B2433"/>
                </a:solidFill>
                <a:latin typeface="Arial"/>
                <a:cs typeface="Arial"/>
              </a:rPr>
              <a:t> </a:t>
            </a:r>
            <a:r>
              <a:rPr sz="750" spc="10" dirty="0">
                <a:solidFill>
                  <a:srgbClr val="1B2433"/>
                </a:solidFill>
                <a:latin typeface="Arial"/>
                <a:cs typeface="Arial"/>
              </a:rPr>
              <a:t>all</a:t>
            </a:r>
            <a:r>
              <a:rPr sz="750" spc="55" dirty="0">
                <a:solidFill>
                  <a:srgbClr val="1B2433"/>
                </a:solidFill>
                <a:latin typeface="Arial"/>
                <a:cs typeface="Arial"/>
              </a:rPr>
              <a:t> </a:t>
            </a:r>
            <a:r>
              <a:rPr sz="750" spc="10" dirty="0">
                <a:solidFill>
                  <a:srgbClr val="1B2433"/>
                </a:solidFill>
                <a:latin typeface="Arial"/>
                <a:cs typeface="Arial"/>
              </a:rPr>
              <a:t>label</a:t>
            </a:r>
            <a:r>
              <a:rPr sz="750" spc="55" dirty="0">
                <a:solidFill>
                  <a:srgbClr val="1B2433"/>
                </a:solidFill>
                <a:latin typeface="Arial"/>
                <a:cs typeface="Arial"/>
              </a:rPr>
              <a:t> </a:t>
            </a:r>
            <a:r>
              <a:rPr sz="750" spc="10" dirty="0">
                <a:solidFill>
                  <a:srgbClr val="1B2433"/>
                </a:solidFill>
                <a:latin typeface="Arial"/>
                <a:cs typeface="Arial"/>
              </a:rPr>
              <a:t>values,</a:t>
            </a:r>
            <a:r>
              <a:rPr sz="750" spc="55" dirty="0">
                <a:solidFill>
                  <a:srgbClr val="1B2433"/>
                </a:solidFill>
                <a:latin typeface="Arial"/>
                <a:cs typeface="Arial"/>
              </a:rPr>
              <a:t> </a:t>
            </a:r>
            <a:r>
              <a:rPr sz="750" spc="10" dirty="0">
                <a:solidFill>
                  <a:srgbClr val="1B2433"/>
                </a:solidFill>
                <a:latin typeface="Arial"/>
                <a:cs typeface="Arial"/>
              </a:rPr>
              <a:t>calculations,</a:t>
            </a:r>
            <a:r>
              <a:rPr sz="750" spc="50" dirty="0">
                <a:solidFill>
                  <a:srgbClr val="1B2433"/>
                </a:solidFill>
                <a:latin typeface="Arial"/>
                <a:cs typeface="Arial"/>
              </a:rPr>
              <a:t> </a:t>
            </a:r>
            <a:r>
              <a:rPr sz="750" spc="10" dirty="0">
                <a:solidFill>
                  <a:srgbClr val="1B2433"/>
                </a:solidFill>
                <a:latin typeface="Arial"/>
                <a:cs typeface="Arial"/>
              </a:rPr>
              <a:t>references</a:t>
            </a:r>
            <a:r>
              <a:rPr sz="750" spc="55" dirty="0">
                <a:solidFill>
                  <a:srgbClr val="1B2433"/>
                </a:solidFill>
                <a:latin typeface="Arial"/>
                <a:cs typeface="Arial"/>
              </a:rPr>
              <a:t> </a:t>
            </a:r>
            <a:r>
              <a:rPr sz="750" spc="10" dirty="0">
                <a:solidFill>
                  <a:srgbClr val="1B2433"/>
                </a:solidFill>
                <a:latin typeface="Arial"/>
                <a:cs typeface="Arial"/>
              </a:rPr>
              <a:t>and</a:t>
            </a:r>
            <a:r>
              <a:rPr sz="750" spc="55" dirty="0">
                <a:solidFill>
                  <a:srgbClr val="1B2433"/>
                </a:solidFill>
                <a:latin typeface="Arial"/>
                <a:cs typeface="Arial"/>
              </a:rPr>
              <a:t> </a:t>
            </a:r>
            <a:r>
              <a:rPr sz="750" spc="10" dirty="0">
                <a:solidFill>
                  <a:srgbClr val="1B2433"/>
                </a:solidFill>
                <a:latin typeface="Arial"/>
                <a:cs typeface="Arial"/>
              </a:rPr>
              <a:t>final</a:t>
            </a:r>
            <a:r>
              <a:rPr sz="750" spc="55" dirty="0">
                <a:solidFill>
                  <a:srgbClr val="1B2433"/>
                </a:solidFill>
                <a:latin typeface="Arial"/>
                <a:cs typeface="Arial"/>
              </a:rPr>
              <a:t> </a:t>
            </a:r>
            <a:r>
              <a:rPr sz="750" spc="10" dirty="0">
                <a:solidFill>
                  <a:srgbClr val="1B2433"/>
                </a:solidFill>
                <a:latin typeface="Arial"/>
                <a:cs typeface="Arial"/>
              </a:rPr>
              <a:t>answers</a:t>
            </a:r>
            <a:r>
              <a:rPr sz="750" spc="55" dirty="0">
                <a:solidFill>
                  <a:srgbClr val="1B2433"/>
                </a:solidFill>
                <a:latin typeface="Arial"/>
                <a:cs typeface="Arial"/>
              </a:rPr>
              <a:t> </a:t>
            </a:r>
            <a:r>
              <a:rPr sz="750" spc="10" dirty="0">
                <a:solidFill>
                  <a:srgbClr val="1B2433"/>
                </a:solidFill>
                <a:latin typeface="Arial"/>
                <a:cs typeface="Arial"/>
              </a:rPr>
              <a:t>were</a:t>
            </a:r>
            <a:r>
              <a:rPr sz="750" spc="55" dirty="0">
                <a:solidFill>
                  <a:srgbClr val="1B2433"/>
                </a:solidFill>
                <a:latin typeface="Arial"/>
                <a:cs typeface="Arial"/>
              </a:rPr>
              <a:t> </a:t>
            </a:r>
            <a:r>
              <a:rPr sz="750" spc="10" dirty="0">
                <a:solidFill>
                  <a:srgbClr val="1B2433"/>
                </a:solidFill>
                <a:latin typeface="Arial"/>
                <a:cs typeface="Arial"/>
              </a:rPr>
              <a:t>independently</a:t>
            </a:r>
            <a:r>
              <a:rPr sz="750" spc="55" dirty="0">
                <a:solidFill>
                  <a:srgbClr val="1B2433"/>
                </a:solidFill>
                <a:latin typeface="Arial"/>
                <a:cs typeface="Arial"/>
              </a:rPr>
              <a:t> </a:t>
            </a:r>
            <a:r>
              <a:rPr sz="750" spc="10" dirty="0">
                <a:solidFill>
                  <a:srgbClr val="1B2433"/>
                </a:solidFill>
                <a:latin typeface="Arial"/>
                <a:cs typeface="Arial"/>
              </a:rPr>
              <a:t>verified</a:t>
            </a:r>
            <a:r>
              <a:rPr sz="750" spc="55" dirty="0">
                <a:solidFill>
                  <a:srgbClr val="1B2433"/>
                </a:solidFill>
                <a:latin typeface="Arial"/>
                <a:cs typeface="Arial"/>
              </a:rPr>
              <a:t> </a:t>
            </a:r>
            <a:r>
              <a:rPr sz="750" spc="10" dirty="0">
                <a:solidFill>
                  <a:srgbClr val="1B2433"/>
                </a:solidFill>
                <a:latin typeface="Arial"/>
                <a:cs typeface="Arial"/>
              </a:rPr>
              <a:t>by</a:t>
            </a:r>
            <a:r>
              <a:rPr sz="750" spc="55" dirty="0">
                <a:solidFill>
                  <a:srgbClr val="1B2433"/>
                </a:solidFill>
                <a:latin typeface="Arial"/>
                <a:cs typeface="Arial"/>
              </a:rPr>
              <a:t> </a:t>
            </a:r>
            <a:r>
              <a:rPr sz="750" spc="10" dirty="0">
                <a:solidFill>
                  <a:srgbClr val="1B2433"/>
                </a:solidFill>
                <a:latin typeface="Arial"/>
                <a:cs typeface="Arial"/>
              </a:rPr>
              <a:t>the</a:t>
            </a:r>
            <a:r>
              <a:rPr sz="750" spc="55" dirty="0">
                <a:solidFill>
                  <a:srgbClr val="1B2433"/>
                </a:solidFill>
                <a:latin typeface="Arial"/>
                <a:cs typeface="Arial"/>
              </a:rPr>
              <a:t> </a:t>
            </a:r>
            <a:r>
              <a:rPr sz="750" spc="-10" dirty="0">
                <a:solidFill>
                  <a:srgbClr val="1B2433"/>
                </a:solidFill>
                <a:latin typeface="Arial"/>
                <a:cs typeface="Arial"/>
              </a:rPr>
              <a:t>student.</a:t>
            </a:r>
            <a:endParaRPr sz="750" dirty="0">
              <a:latin typeface="Arial"/>
              <a:cs typeface="Arial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1B2433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9</TotalTime>
  <Words>1241</Words>
  <Application>Microsoft Office PowerPoint</Application>
  <PresentationFormat>Custom</PresentationFormat>
  <Paragraphs>166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Arial</vt:lpstr>
      <vt:lpstr>Calibri</vt:lpstr>
      <vt:lpstr>Segoe UI Symbol</vt:lpstr>
      <vt:lpstr>Times New Roman</vt:lpstr>
      <vt:lpstr>Office Theme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002_atom_count_card</dc:title>
  <cp:lastModifiedBy>Derrek Baldwin Gacer</cp:lastModifiedBy>
  <cp:revision>1</cp:revision>
  <dcterms:created xsi:type="dcterms:W3CDTF">2026-10-27T15:38:34Z</dcterms:created>
  <dcterms:modified xsi:type="dcterms:W3CDTF">2026-10-30T16:35:01Z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verter">
    <vt:lpwstr>SolidFramework v10.0.20290.1</vt:lpwstr>
  </property>
  <property fmtid="{D5CDD505-2E9C-101B-9397-08002B2CF9AE}" pid="3" name="Created">
    <vt:filetime>2026-10-27T00:00:00Z</vt:filetime>
  </property>
  <property fmtid="{D5CDD505-2E9C-101B-9397-08002B2CF9AE}" pid="4" name="Creator">
    <vt:lpwstr>Chromium</vt:lpwstr>
  </property>
  <property fmtid="{D5CDD505-2E9C-101B-9397-08002B2CF9AE}" pid="5" name="LastSaved">
    <vt:filetime>2026-10-27T00:00:00Z</vt:filetime>
  </property>
  <property fmtid="{D5CDD505-2E9C-101B-9397-08002B2CF9AE}" pid="6" name="Producer">
    <vt:lpwstr>Skia/PDF m141</vt:lpwstr>
  </property>
</Properties>
</file>